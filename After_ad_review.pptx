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2857500"/>
          </a:xfrm>
          <a:prstGeom prst="rect">
            <a:avLst/>
          </a:prstGeom>
          <a:solidFill>
            <a:srgbClr val="002F5D"/>
          </a:solidFill>
          <a:ln/>
        </p:spPr>
      </p:sp>
      <p:sp>
        <p:nvSpPr>
          <p:cNvPr id="4" name="Text 1"/>
          <p:cNvSpPr/>
          <p:nvPr/>
        </p:nvSpPr>
        <p:spPr>
          <a:xfrm>
            <a:off x="2561927" y="982991"/>
            <a:ext cx="4020145" cy="8915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3500"/>
              </a:lnSpc>
              <a:buNone/>
            </a:pPr>
            <a:r>
              <a:rPr lang="en-US" sz="2649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Couchbase Architecture</a:t>
            </a:r>
            <a:pPr algn="ctr" indent="0" marL="0">
              <a:lnSpc>
                <a:spcPts val="3500"/>
              </a:lnSpc>
              <a:buNone/>
            </a:pPr>
            <a:r>
              <a:rPr lang="en-US" sz="2649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
</a:t>
            </a:r>
            <a:pPr algn="ctr" indent="0" marL="0">
              <a:lnSpc>
                <a:spcPts val="3500"/>
              </a:lnSpc>
              <a:buNone/>
            </a:pPr>
            <a:r>
              <a:rPr lang="en-US" sz="2649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Current &amp; Future State</a:t>
            </a:r>
            <a:endParaRPr lang="en-US" sz="2649" dirty="0"/>
          </a:p>
        </p:txBody>
      </p:sp>
      <p:sp>
        <p:nvSpPr>
          <p:cNvPr id="5" name="Shape 2"/>
          <p:cNvSpPr/>
          <p:nvPr/>
        </p:nvSpPr>
        <p:spPr>
          <a:xfrm>
            <a:off x="0" y="2500313"/>
            <a:ext cx="9144000" cy="714375"/>
          </a:xfrm>
          <a:prstGeom prst="rect">
            <a:avLst/>
          </a:prstGeom>
          <a:solidFill>
            <a:srgbClr val="002F5D"/>
          </a:solidFill>
          <a:ln/>
        </p:spPr>
      </p:sp>
      <p:sp>
        <p:nvSpPr>
          <p:cNvPr id="6" name="Text 3"/>
          <p:cNvSpPr/>
          <p:nvPr/>
        </p:nvSpPr>
        <p:spPr>
          <a:xfrm>
            <a:off x="1790402" y="3600450"/>
            <a:ext cx="5563195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77" dirty="0">
                <a:solidFill>
                  <a:srgbClr val="0072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Bucket, Scope &amp; Collection Strategy with Downstream Consumption</a:t>
            </a:r>
            <a:endParaRPr lang="en-US" sz="1377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1155" y="4038005"/>
            <a:ext cx="125016" cy="1428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333327" y="4033540"/>
            <a:ext cx="1010841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 Buckets (Today)</a:t>
            </a:r>
            <a:endParaRPr lang="en-US" sz="942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1324" y="4030861"/>
            <a:ext cx="157163" cy="157163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5643" y="4038005"/>
            <a:ext cx="125016" cy="14287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947815" y="4033540"/>
            <a:ext cx="1030486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 Buckets (Future)</a:t>
            </a:r>
            <a:endParaRPr lang="en-US" sz="942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5457" y="4030861"/>
            <a:ext cx="157163" cy="157163"/>
          </a:xfrm>
          <a:prstGeom prst="rect">
            <a:avLst/>
          </a:prstGeom>
        </p:spPr>
      </p:pic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9776" y="4038005"/>
            <a:ext cx="178594" cy="142875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5635526" y="4033540"/>
            <a:ext cx="1407319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Downstream Consumers</a:t>
            </a:r>
            <a:endParaRPr lang="en-US" sz="94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142875"/>
            <a:ext cx="8572500" cy="33218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460772"/>
            <a:ext cx="8572500" cy="14288"/>
          </a:xfrm>
          <a:prstGeom prst="rect">
            <a:avLst/>
          </a:prstGeom>
          <a:solidFill>
            <a:srgbClr val="002F5D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142875"/>
            <a:ext cx="4186238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2F5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Couchbase – Current Data Flow (Overall)</a:t>
            </a:r>
            <a:endParaRPr lang="en-US" sz="1602" dirty="0"/>
          </a:p>
        </p:txBody>
      </p:sp>
      <p:sp>
        <p:nvSpPr>
          <p:cNvPr id="6" name="Shape 3"/>
          <p:cNvSpPr/>
          <p:nvPr/>
        </p:nvSpPr>
        <p:spPr>
          <a:xfrm>
            <a:off x="8099227" y="266105"/>
            <a:ext cx="759023" cy="15894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7" name="Text 4"/>
          <p:cNvSpPr/>
          <p:nvPr/>
        </p:nvSpPr>
        <p:spPr>
          <a:xfrm>
            <a:off x="8099227" y="266105"/>
            <a:ext cx="759023" cy="158948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5555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STATUS: AS-IS</a:t>
            </a:r>
            <a:endParaRPr lang="en-US" sz="584" dirty="0"/>
          </a:p>
        </p:txBody>
      </p:sp>
      <p:sp>
        <p:nvSpPr>
          <p:cNvPr id="8" name="Shape 5"/>
          <p:cNvSpPr/>
          <p:nvPr/>
        </p:nvSpPr>
        <p:spPr>
          <a:xfrm>
            <a:off x="285750" y="567928"/>
            <a:ext cx="4686300" cy="4286250"/>
          </a:xfrm>
          <a:prstGeom prst="rect">
            <a:avLst/>
          </a:prstGeom>
          <a:solidFill>
            <a:srgbClr val="FFEBEE"/>
          </a:solidFill>
          <a:ln w="18288">
            <a:solidFill>
              <a:srgbClr val="D32F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28625" y="482203"/>
            <a:ext cx="1030486" cy="144661"/>
          </a:xfrm>
          <a:prstGeom prst="roundRect">
            <a:avLst/>
          </a:prstGeom>
          <a:solidFill>
            <a:srgbClr val="D32F2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" y="511671"/>
            <a:ext cx="85725" cy="857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2938" y="503634"/>
            <a:ext cx="730448" cy="1017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Couchbase Cluster</a:t>
            </a:r>
            <a:endParaRPr lang="en-US" sz="584" dirty="0"/>
          </a:p>
        </p:txBody>
      </p:sp>
      <p:sp>
        <p:nvSpPr>
          <p:cNvPr id="12" name="Shape 8"/>
          <p:cNvSpPr/>
          <p:nvPr/>
        </p:nvSpPr>
        <p:spPr>
          <a:xfrm>
            <a:off x="357188" y="746522"/>
            <a:ext cx="2597534" cy="4036219"/>
          </a:xfrm>
          <a:prstGeom prst="rect">
            <a:avLst/>
          </a:prstGeom>
          <a:solidFill>
            <a:srgbClr val="E3F2FD"/>
          </a:solidFill>
          <a:ln w="18288">
            <a:solidFill>
              <a:srgbClr val="1976D2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14338" y="682228"/>
            <a:ext cx="755452" cy="98227"/>
          </a:xfrm>
          <a:prstGeom prst="rect">
            <a:avLst/>
          </a:prstGeom>
          <a:solidFill>
            <a:srgbClr val="1976D2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88" y="692944"/>
            <a:ext cx="62508" cy="7143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33995" y="689372"/>
            <a:ext cx="578644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BUCKET: NGRAW</a:t>
            </a:r>
            <a:endParaRPr lang="en-US" sz="485" dirty="0"/>
          </a:p>
        </p:txBody>
      </p:sp>
      <p:sp>
        <p:nvSpPr>
          <p:cNvPr id="16" name="Shape 11"/>
          <p:cNvSpPr/>
          <p:nvPr/>
        </p:nvSpPr>
        <p:spPr>
          <a:xfrm>
            <a:off x="414338" y="889397"/>
            <a:ext cx="2483234" cy="280392"/>
          </a:xfrm>
          <a:prstGeom prst="rect">
            <a:avLst/>
          </a:prstGeom>
          <a:solidFill>
            <a:srgbClr val="FFF3E0"/>
          </a:solidFill>
          <a:ln w="9144">
            <a:solidFill>
              <a:srgbClr val="F57C00"/>
            </a:solidFill>
            <a:prstDash val="dash"/>
          </a:ln>
        </p:spPr>
      </p:sp>
      <p:sp>
        <p:nvSpPr>
          <p:cNvPr id="17" name="Shape 12"/>
          <p:cNvSpPr/>
          <p:nvPr/>
        </p:nvSpPr>
        <p:spPr>
          <a:xfrm>
            <a:off x="457200" y="832247"/>
            <a:ext cx="650081" cy="94655"/>
          </a:xfrm>
          <a:prstGeom prst="rect">
            <a:avLst/>
          </a:prstGeom>
          <a:solidFill>
            <a:srgbClr val="FFFFFF"/>
          </a:solidFill>
          <a:ln w="9144">
            <a:solidFill>
              <a:srgbClr val="F57C0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457200" y="832247"/>
            <a:ext cx="650081" cy="94655"/>
          </a:xfrm>
          <a:prstGeom prst="rect">
            <a:avLst/>
          </a:prstGeom>
          <a:noFill/>
          <a:ln/>
        </p:spPr>
        <p:txBody>
          <a:bodyPr wrap="none" lIns="51054" tIns="0" rIns="51054" bIns="0" rtlCol="0" anchor="t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35" b="1" dirty="0">
                <a:solidFill>
                  <a:srgbClr val="E651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SCOPE: CD FACT</a:t>
            </a:r>
            <a:endParaRPr lang="en-US" sz="435" dirty="0"/>
          </a:p>
        </p:txBody>
      </p:sp>
      <p:sp>
        <p:nvSpPr>
          <p:cNvPr id="19" name="Shape 14"/>
          <p:cNvSpPr/>
          <p:nvPr/>
        </p:nvSpPr>
        <p:spPr>
          <a:xfrm>
            <a:off x="442913" y="1003697"/>
            <a:ext cx="1218400" cy="123230"/>
          </a:xfrm>
          <a:prstGeom prst="rect">
            <a:avLst/>
          </a:prstGeom>
          <a:solidFill>
            <a:srgbClr val="FFFFFF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442913" y="1003697"/>
            <a:ext cx="1218400" cy="123230"/>
          </a:xfrm>
          <a:prstGeom prst="rect">
            <a:avLst/>
          </a:prstGeom>
          <a:noFill/>
          <a:ln/>
        </p:spPr>
        <p:txBody>
          <a:bodyPr wrap="square" lIns="34036" tIns="17018" rIns="34036" bIns="17018" rtlCol="0" anchor="t">
            <a:spAutoFit/>
          </a:bodyPr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463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PTPN</a:t>
            </a:r>
            <a:endParaRPr lang="en-US" sz="463" dirty="0"/>
          </a:p>
        </p:txBody>
      </p:sp>
      <p:sp>
        <p:nvSpPr>
          <p:cNvPr id="21" name="Shape 16"/>
          <p:cNvSpPr/>
          <p:nvPr/>
        </p:nvSpPr>
        <p:spPr>
          <a:xfrm>
            <a:off x="1682744" y="1003697"/>
            <a:ext cx="1186253" cy="123230"/>
          </a:xfrm>
          <a:prstGeom prst="rect">
            <a:avLst/>
          </a:prstGeom>
          <a:solidFill>
            <a:srgbClr val="FFFFFF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1682744" y="1003697"/>
            <a:ext cx="1186253" cy="123230"/>
          </a:xfrm>
          <a:prstGeom prst="rect">
            <a:avLst/>
          </a:prstGeom>
          <a:noFill/>
          <a:ln/>
        </p:spPr>
        <p:txBody>
          <a:bodyPr wrap="square" lIns="34036" tIns="17018" rIns="34036" bIns="17018" rtlCol="0" anchor="t">
            <a:spAutoFit/>
          </a:bodyPr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463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FIF</a:t>
            </a:r>
            <a:endParaRPr lang="en-US" sz="463" dirty="0"/>
          </a:p>
        </p:txBody>
      </p:sp>
      <p:sp>
        <p:nvSpPr>
          <p:cNvPr id="23" name="Shape 18"/>
          <p:cNvSpPr/>
          <p:nvPr/>
        </p:nvSpPr>
        <p:spPr>
          <a:xfrm>
            <a:off x="414338" y="1184077"/>
            <a:ext cx="2483234" cy="280392"/>
          </a:xfrm>
          <a:prstGeom prst="rect">
            <a:avLst/>
          </a:prstGeom>
          <a:solidFill>
            <a:srgbClr val="FFF3E0"/>
          </a:solidFill>
          <a:ln w="9144">
            <a:solidFill>
              <a:srgbClr val="F57C00"/>
            </a:solidFill>
            <a:prstDash val="dash"/>
          </a:ln>
        </p:spPr>
      </p:sp>
      <p:sp>
        <p:nvSpPr>
          <p:cNvPr id="24" name="Shape 19"/>
          <p:cNvSpPr/>
          <p:nvPr/>
        </p:nvSpPr>
        <p:spPr>
          <a:xfrm>
            <a:off x="457200" y="1126927"/>
            <a:ext cx="610791" cy="94655"/>
          </a:xfrm>
          <a:prstGeom prst="rect">
            <a:avLst/>
          </a:prstGeom>
          <a:solidFill>
            <a:srgbClr val="FFFFFF"/>
          </a:solidFill>
          <a:ln w="9144">
            <a:solidFill>
              <a:srgbClr val="F57C00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457200" y="1126927"/>
            <a:ext cx="610791" cy="94655"/>
          </a:xfrm>
          <a:prstGeom prst="rect">
            <a:avLst/>
          </a:prstGeom>
          <a:noFill/>
          <a:ln/>
        </p:spPr>
        <p:txBody>
          <a:bodyPr wrap="none" lIns="51054" tIns="0" rIns="51054" bIns="0" rtlCol="0" anchor="t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35" b="1" dirty="0">
                <a:solidFill>
                  <a:srgbClr val="E651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SCOPE: CD DIM</a:t>
            </a:r>
            <a:endParaRPr lang="en-US" sz="435" dirty="0"/>
          </a:p>
        </p:txBody>
      </p:sp>
      <p:sp>
        <p:nvSpPr>
          <p:cNvPr id="26" name="Shape 21"/>
          <p:cNvSpPr/>
          <p:nvPr/>
        </p:nvSpPr>
        <p:spPr>
          <a:xfrm>
            <a:off x="442913" y="1298377"/>
            <a:ext cx="671764" cy="123230"/>
          </a:xfrm>
          <a:prstGeom prst="rect">
            <a:avLst/>
          </a:prstGeom>
          <a:solidFill>
            <a:srgbClr val="FFFFFF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442913" y="1298377"/>
            <a:ext cx="671764" cy="123230"/>
          </a:xfrm>
          <a:prstGeom prst="rect">
            <a:avLst/>
          </a:prstGeom>
          <a:noFill/>
          <a:ln/>
        </p:spPr>
        <p:txBody>
          <a:bodyPr wrap="square" lIns="34036" tIns="17018" rIns="34036" bIns="17018" rtlCol="0" anchor="t">
            <a:spAutoFit/>
          </a:bodyPr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463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PARTY</a:t>
            </a:r>
            <a:endParaRPr lang="en-US" sz="463" dirty="0"/>
          </a:p>
        </p:txBody>
      </p:sp>
      <p:sp>
        <p:nvSpPr>
          <p:cNvPr id="28" name="Shape 23"/>
          <p:cNvSpPr/>
          <p:nvPr/>
        </p:nvSpPr>
        <p:spPr>
          <a:xfrm>
            <a:off x="1133735" y="1298377"/>
            <a:ext cx="951570" cy="123230"/>
          </a:xfrm>
          <a:prstGeom prst="rect">
            <a:avLst/>
          </a:prstGeom>
          <a:solidFill>
            <a:srgbClr val="FFFFFF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1133735" y="1298377"/>
            <a:ext cx="951570" cy="123230"/>
          </a:xfrm>
          <a:prstGeom prst="rect">
            <a:avLst/>
          </a:prstGeom>
          <a:noFill/>
          <a:ln/>
        </p:spPr>
        <p:txBody>
          <a:bodyPr wrap="square" lIns="34036" tIns="17018" rIns="34036" bIns="17018" rtlCol="0" anchor="t">
            <a:spAutoFit/>
          </a:bodyPr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463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ACCOUNT_SCPN</a:t>
            </a:r>
            <a:endParaRPr lang="en-US" sz="463" dirty="0"/>
          </a:p>
        </p:txBody>
      </p:sp>
      <p:sp>
        <p:nvSpPr>
          <p:cNvPr id="30" name="Shape 25"/>
          <p:cNvSpPr/>
          <p:nvPr/>
        </p:nvSpPr>
        <p:spPr>
          <a:xfrm>
            <a:off x="2109136" y="1298377"/>
            <a:ext cx="759889" cy="123230"/>
          </a:xfrm>
          <a:prstGeom prst="rect">
            <a:avLst/>
          </a:prstGeom>
          <a:solidFill>
            <a:srgbClr val="FFFFFF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2109136" y="1298377"/>
            <a:ext cx="759889" cy="123230"/>
          </a:xfrm>
          <a:prstGeom prst="rect">
            <a:avLst/>
          </a:prstGeom>
          <a:noFill/>
          <a:ln/>
        </p:spPr>
        <p:txBody>
          <a:bodyPr wrap="square" lIns="34036" tIns="17018" rIns="34036" bIns="17018" rtlCol="0" anchor="t">
            <a:spAutoFit/>
          </a:bodyPr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463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USR_TBL</a:t>
            </a:r>
            <a:endParaRPr lang="en-US" sz="463" dirty="0"/>
          </a:p>
        </p:txBody>
      </p:sp>
      <p:sp>
        <p:nvSpPr>
          <p:cNvPr id="32" name="Shape 27"/>
          <p:cNvSpPr/>
          <p:nvPr/>
        </p:nvSpPr>
        <p:spPr>
          <a:xfrm>
            <a:off x="414338" y="1478756"/>
            <a:ext cx="2483234" cy="280392"/>
          </a:xfrm>
          <a:prstGeom prst="rect">
            <a:avLst/>
          </a:prstGeom>
          <a:solidFill>
            <a:srgbClr val="FFF3E0"/>
          </a:solidFill>
          <a:ln w="9144">
            <a:solidFill>
              <a:srgbClr val="F57C00"/>
            </a:solidFill>
            <a:prstDash val="dash"/>
          </a:ln>
        </p:spPr>
      </p:sp>
      <p:sp>
        <p:nvSpPr>
          <p:cNvPr id="33" name="Shape 28"/>
          <p:cNvSpPr/>
          <p:nvPr/>
        </p:nvSpPr>
        <p:spPr>
          <a:xfrm>
            <a:off x="457200" y="1421606"/>
            <a:ext cx="610791" cy="94655"/>
          </a:xfrm>
          <a:prstGeom prst="rect">
            <a:avLst/>
          </a:prstGeom>
          <a:solidFill>
            <a:srgbClr val="FFFFFF"/>
          </a:solidFill>
          <a:ln w="9144">
            <a:solidFill>
              <a:srgbClr val="F57C00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457200" y="1421606"/>
            <a:ext cx="610791" cy="94655"/>
          </a:xfrm>
          <a:prstGeom prst="rect">
            <a:avLst/>
          </a:prstGeom>
          <a:noFill/>
          <a:ln/>
        </p:spPr>
        <p:txBody>
          <a:bodyPr wrap="none" lIns="51054" tIns="0" rIns="51054" bIns="0" rtlCol="0" anchor="t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35" b="1" dirty="0">
                <a:solidFill>
                  <a:srgbClr val="E651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SCOPE: CD REF</a:t>
            </a:r>
            <a:endParaRPr lang="en-US" sz="435" dirty="0"/>
          </a:p>
        </p:txBody>
      </p:sp>
      <p:sp>
        <p:nvSpPr>
          <p:cNvPr id="35" name="Shape 30"/>
          <p:cNvSpPr/>
          <p:nvPr/>
        </p:nvSpPr>
        <p:spPr>
          <a:xfrm>
            <a:off x="442913" y="1593056"/>
            <a:ext cx="281620" cy="123230"/>
          </a:xfrm>
          <a:prstGeom prst="rect">
            <a:avLst/>
          </a:prstGeom>
          <a:solidFill>
            <a:srgbClr val="FFFFFF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442913" y="1593056"/>
            <a:ext cx="281620" cy="123230"/>
          </a:xfrm>
          <a:prstGeom prst="rect">
            <a:avLst/>
          </a:prstGeom>
          <a:noFill/>
          <a:ln/>
        </p:spPr>
        <p:txBody>
          <a:bodyPr wrap="square" lIns="34036" tIns="17018" rIns="34036" bIns="17018" rtlCol="0" anchor="t">
            <a:spAutoFit/>
          </a:bodyPr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463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Curr</a:t>
            </a:r>
            <a:endParaRPr lang="en-US" sz="463" dirty="0"/>
          </a:p>
        </p:txBody>
      </p:sp>
      <p:sp>
        <p:nvSpPr>
          <p:cNvPr id="37" name="Shape 32"/>
          <p:cNvSpPr/>
          <p:nvPr/>
        </p:nvSpPr>
        <p:spPr>
          <a:xfrm>
            <a:off x="741666" y="1593056"/>
            <a:ext cx="323757" cy="123230"/>
          </a:xfrm>
          <a:prstGeom prst="rect">
            <a:avLst/>
          </a:prstGeom>
          <a:solidFill>
            <a:srgbClr val="FFFFFF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741666" y="1593056"/>
            <a:ext cx="323757" cy="123230"/>
          </a:xfrm>
          <a:prstGeom prst="rect">
            <a:avLst/>
          </a:prstGeom>
          <a:noFill/>
          <a:ln/>
        </p:spPr>
        <p:txBody>
          <a:bodyPr wrap="square" lIns="34036" tIns="17018" rIns="34036" bIns="17018" rtlCol="0" anchor="t">
            <a:spAutoFit/>
          </a:bodyPr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463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cntry</a:t>
            </a:r>
            <a:endParaRPr lang="en-US" sz="463" dirty="0"/>
          </a:p>
        </p:txBody>
      </p:sp>
      <p:sp>
        <p:nvSpPr>
          <p:cNvPr id="39" name="Shape 34"/>
          <p:cNvSpPr/>
          <p:nvPr/>
        </p:nvSpPr>
        <p:spPr>
          <a:xfrm>
            <a:off x="1085459" y="1593056"/>
            <a:ext cx="601666" cy="123230"/>
          </a:xfrm>
          <a:prstGeom prst="rect">
            <a:avLst/>
          </a:prstGeom>
          <a:solidFill>
            <a:srgbClr val="FFFFFF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1085459" y="1593056"/>
            <a:ext cx="601666" cy="123230"/>
          </a:xfrm>
          <a:prstGeom prst="rect">
            <a:avLst/>
          </a:prstGeom>
          <a:noFill/>
          <a:ln/>
        </p:spPr>
        <p:txBody>
          <a:bodyPr wrap="square" lIns="34036" tIns="17018" rIns="34036" bIns="17018" rtlCol="0" anchor="t">
            <a:spAutoFit/>
          </a:bodyPr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463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payment_type</a:t>
            </a:r>
            <a:endParaRPr lang="en-US" sz="463" dirty="0"/>
          </a:p>
        </p:txBody>
      </p:sp>
      <p:sp>
        <p:nvSpPr>
          <p:cNvPr id="41" name="Shape 36"/>
          <p:cNvSpPr/>
          <p:nvPr/>
        </p:nvSpPr>
        <p:spPr>
          <a:xfrm>
            <a:off x="1709951" y="1593056"/>
            <a:ext cx="565221" cy="123230"/>
          </a:xfrm>
          <a:prstGeom prst="rect">
            <a:avLst/>
          </a:prstGeom>
          <a:solidFill>
            <a:srgbClr val="FFFFFF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1709951" y="1593056"/>
            <a:ext cx="565221" cy="123230"/>
          </a:xfrm>
          <a:prstGeom prst="rect">
            <a:avLst/>
          </a:prstGeom>
          <a:noFill/>
          <a:ln/>
        </p:spPr>
        <p:txBody>
          <a:bodyPr wrap="square" lIns="34036" tIns="17018" rIns="34036" bIns="17018" rtlCol="0" anchor="t">
            <a:spAutoFit/>
          </a:bodyPr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463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type_values</a:t>
            </a:r>
            <a:endParaRPr lang="en-US" sz="463" dirty="0"/>
          </a:p>
        </p:txBody>
      </p:sp>
      <p:sp>
        <p:nvSpPr>
          <p:cNvPr id="43" name="Shape 38"/>
          <p:cNvSpPr/>
          <p:nvPr/>
        </p:nvSpPr>
        <p:spPr>
          <a:xfrm>
            <a:off x="2300957" y="1593056"/>
            <a:ext cx="568096" cy="123230"/>
          </a:xfrm>
          <a:prstGeom prst="rect">
            <a:avLst/>
          </a:prstGeom>
          <a:solidFill>
            <a:srgbClr val="FFFFFF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2300957" y="1593056"/>
            <a:ext cx="568096" cy="123230"/>
          </a:xfrm>
          <a:prstGeom prst="rect">
            <a:avLst/>
          </a:prstGeom>
          <a:noFill/>
          <a:ln/>
        </p:spPr>
        <p:txBody>
          <a:bodyPr wrap="square" lIns="34036" tIns="17018" rIns="34036" bIns="17018" rtlCol="0" anchor="t">
            <a:spAutoFit/>
          </a:bodyPr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463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be_type_val</a:t>
            </a:r>
            <a:endParaRPr lang="en-US" sz="463" dirty="0"/>
          </a:p>
        </p:txBody>
      </p:sp>
      <p:sp>
        <p:nvSpPr>
          <p:cNvPr id="45" name="Shape 40"/>
          <p:cNvSpPr/>
          <p:nvPr/>
        </p:nvSpPr>
        <p:spPr>
          <a:xfrm>
            <a:off x="414338" y="1773436"/>
            <a:ext cx="2483234" cy="280392"/>
          </a:xfrm>
          <a:prstGeom prst="rect">
            <a:avLst/>
          </a:prstGeom>
          <a:solidFill>
            <a:srgbClr val="FFF3E0"/>
          </a:solidFill>
          <a:ln w="9144">
            <a:solidFill>
              <a:srgbClr val="F57C00"/>
            </a:solidFill>
            <a:prstDash val="dash"/>
          </a:ln>
        </p:spPr>
      </p:sp>
      <p:sp>
        <p:nvSpPr>
          <p:cNvPr id="46" name="Shape 41"/>
          <p:cNvSpPr/>
          <p:nvPr/>
        </p:nvSpPr>
        <p:spPr>
          <a:xfrm>
            <a:off x="457200" y="1716286"/>
            <a:ext cx="689372" cy="94655"/>
          </a:xfrm>
          <a:prstGeom prst="rect">
            <a:avLst/>
          </a:prstGeom>
          <a:solidFill>
            <a:srgbClr val="FFFFFF"/>
          </a:solidFill>
          <a:ln w="9144">
            <a:solidFill>
              <a:srgbClr val="F57C00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457200" y="1716286"/>
            <a:ext cx="689372" cy="94655"/>
          </a:xfrm>
          <a:prstGeom prst="rect">
            <a:avLst/>
          </a:prstGeom>
          <a:noFill/>
          <a:ln/>
        </p:spPr>
        <p:txBody>
          <a:bodyPr wrap="none" lIns="51054" tIns="0" rIns="51054" bIns="0" rtlCol="0" anchor="t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35" b="1" dirty="0">
                <a:solidFill>
                  <a:srgbClr val="E651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SCOPE: LIQ FACT</a:t>
            </a:r>
            <a:endParaRPr lang="en-US" sz="435" dirty="0"/>
          </a:p>
        </p:txBody>
      </p:sp>
      <p:sp>
        <p:nvSpPr>
          <p:cNvPr id="48" name="Shape 43"/>
          <p:cNvSpPr/>
          <p:nvPr/>
        </p:nvSpPr>
        <p:spPr>
          <a:xfrm>
            <a:off x="442913" y="1887736"/>
            <a:ext cx="2426084" cy="123230"/>
          </a:xfrm>
          <a:prstGeom prst="rect">
            <a:avLst/>
          </a:prstGeom>
          <a:solidFill>
            <a:srgbClr val="FFFFFF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442913" y="1887736"/>
            <a:ext cx="2426084" cy="123230"/>
          </a:xfrm>
          <a:prstGeom prst="rect">
            <a:avLst/>
          </a:prstGeom>
          <a:noFill/>
          <a:ln/>
        </p:spPr>
        <p:txBody>
          <a:bodyPr wrap="square" lIns="34036" tIns="17018" rIns="34036" bIns="17018" rtlCol="0" anchor="t">
            <a:spAutoFit/>
          </a:bodyPr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463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GCE</a:t>
            </a:r>
            <a:endParaRPr lang="en-US" sz="463" dirty="0"/>
          </a:p>
        </p:txBody>
      </p:sp>
      <p:sp>
        <p:nvSpPr>
          <p:cNvPr id="50" name="Shape 45"/>
          <p:cNvSpPr/>
          <p:nvPr/>
        </p:nvSpPr>
        <p:spPr>
          <a:xfrm>
            <a:off x="414338" y="2068116"/>
            <a:ext cx="2483234" cy="280392"/>
          </a:xfrm>
          <a:prstGeom prst="rect">
            <a:avLst/>
          </a:prstGeom>
          <a:solidFill>
            <a:srgbClr val="FFF3E0"/>
          </a:solidFill>
          <a:ln w="9144">
            <a:solidFill>
              <a:srgbClr val="F57C00"/>
            </a:solidFill>
            <a:prstDash val="dash"/>
          </a:ln>
        </p:spPr>
      </p:sp>
      <p:sp>
        <p:nvSpPr>
          <p:cNvPr id="51" name="Shape 46"/>
          <p:cNvSpPr/>
          <p:nvPr/>
        </p:nvSpPr>
        <p:spPr>
          <a:xfrm>
            <a:off x="457200" y="2010966"/>
            <a:ext cx="650081" cy="94655"/>
          </a:xfrm>
          <a:prstGeom prst="rect">
            <a:avLst/>
          </a:prstGeom>
          <a:solidFill>
            <a:srgbClr val="FFFFFF"/>
          </a:solidFill>
          <a:ln w="9144">
            <a:solidFill>
              <a:srgbClr val="F57C00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457200" y="2010966"/>
            <a:ext cx="650081" cy="94655"/>
          </a:xfrm>
          <a:prstGeom prst="rect">
            <a:avLst/>
          </a:prstGeom>
          <a:noFill/>
          <a:ln/>
        </p:spPr>
        <p:txBody>
          <a:bodyPr wrap="none" lIns="51054" tIns="0" rIns="51054" bIns="0" rtlCol="0" anchor="t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35" b="1" dirty="0">
                <a:solidFill>
                  <a:srgbClr val="E651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SCOPE: LIQ DIM</a:t>
            </a:r>
            <a:endParaRPr lang="en-US" sz="435" dirty="0"/>
          </a:p>
        </p:txBody>
      </p:sp>
      <p:sp>
        <p:nvSpPr>
          <p:cNvPr id="53" name="Shape 48"/>
          <p:cNvSpPr/>
          <p:nvPr/>
        </p:nvSpPr>
        <p:spPr>
          <a:xfrm>
            <a:off x="442913" y="2182416"/>
            <a:ext cx="815839" cy="123230"/>
          </a:xfrm>
          <a:prstGeom prst="rect">
            <a:avLst/>
          </a:prstGeom>
          <a:solidFill>
            <a:srgbClr val="FFFFFF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54" name="Text 49"/>
          <p:cNvSpPr/>
          <p:nvPr/>
        </p:nvSpPr>
        <p:spPr>
          <a:xfrm>
            <a:off x="442913" y="2182416"/>
            <a:ext cx="815839" cy="123230"/>
          </a:xfrm>
          <a:prstGeom prst="rect">
            <a:avLst/>
          </a:prstGeom>
          <a:noFill/>
          <a:ln/>
        </p:spPr>
        <p:txBody>
          <a:bodyPr wrap="square" lIns="34036" tIns="17018" rIns="34036" bIns="17018" rtlCol="0" anchor="t">
            <a:spAutoFit/>
          </a:bodyPr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463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bank_br</a:t>
            </a:r>
            <a:endParaRPr lang="en-US" sz="463" dirty="0"/>
          </a:p>
        </p:txBody>
      </p:sp>
      <p:sp>
        <p:nvSpPr>
          <p:cNvPr id="55" name="Shape 50"/>
          <p:cNvSpPr/>
          <p:nvPr/>
        </p:nvSpPr>
        <p:spPr>
          <a:xfrm>
            <a:off x="1277810" y="2182416"/>
            <a:ext cx="702739" cy="123230"/>
          </a:xfrm>
          <a:prstGeom prst="rect">
            <a:avLst/>
          </a:prstGeom>
          <a:solidFill>
            <a:srgbClr val="FFFFFF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56" name="Text 51"/>
          <p:cNvSpPr/>
          <p:nvPr/>
        </p:nvSpPr>
        <p:spPr>
          <a:xfrm>
            <a:off x="1277810" y="2182416"/>
            <a:ext cx="702739" cy="123230"/>
          </a:xfrm>
          <a:prstGeom prst="rect">
            <a:avLst/>
          </a:prstGeom>
          <a:noFill/>
          <a:ln/>
        </p:spPr>
        <p:txBody>
          <a:bodyPr wrap="square" lIns="34036" tIns="17018" rIns="34036" bIns="17018" rtlCol="0" anchor="t">
            <a:spAutoFit/>
          </a:bodyPr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463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ecif</a:t>
            </a:r>
            <a:endParaRPr lang="en-US" sz="463" dirty="0"/>
          </a:p>
        </p:txBody>
      </p:sp>
      <p:sp>
        <p:nvSpPr>
          <p:cNvPr id="57" name="Shape 52"/>
          <p:cNvSpPr/>
          <p:nvPr/>
        </p:nvSpPr>
        <p:spPr>
          <a:xfrm>
            <a:off x="2004324" y="2182416"/>
            <a:ext cx="864645" cy="123230"/>
          </a:xfrm>
          <a:prstGeom prst="rect">
            <a:avLst/>
          </a:prstGeom>
          <a:solidFill>
            <a:srgbClr val="FFFFFF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58" name="Text 53"/>
          <p:cNvSpPr/>
          <p:nvPr/>
        </p:nvSpPr>
        <p:spPr>
          <a:xfrm>
            <a:off x="2004324" y="2182416"/>
            <a:ext cx="864645" cy="123230"/>
          </a:xfrm>
          <a:prstGeom prst="rect">
            <a:avLst/>
          </a:prstGeom>
          <a:noFill/>
          <a:ln/>
        </p:spPr>
        <p:txBody>
          <a:bodyPr wrap="square" lIns="34036" tIns="17018" rIns="34036" bIns="17018" rtlCol="0" anchor="t">
            <a:spAutoFit/>
          </a:bodyPr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463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Acct_rec</a:t>
            </a:r>
            <a:endParaRPr lang="en-US" sz="463" dirty="0"/>
          </a:p>
        </p:txBody>
      </p:sp>
      <p:sp>
        <p:nvSpPr>
          <p:cNvPr id="59" name="Shape 54"/>
          <p:cNvSpPr/>
          <p:nvPr/>
        </p:nvSpPr>
        <p:spPr>
          <a:xfrm>
            <a:off x="414338" y="2362795"/>
            <a:ext cx="2483234" cy="214313"/>
          </a:xfrm>
          <a:prstGeom prst="rect">
            <a:avLst/>
          </a:prstGeom>
          <a:solidFill>
            <a:srgbClr val="FFF3E0"/>
          </a:solidFill>
          <a:ln w="9144">
            <a:solidFill>
              <a:srgbClr val="F57C00"/>
            </a:solidFill>
            <a:prstDash val="dash"/>
          </a:ln>
        </p:spPr>
      </p:sp>
      <p:sp>
        <p:nvSpPr>
          <p:cNvPr id="60" name="Shape 55"/>
          <p:cNvSpPr/>
          <p:nvPr/>
        </p:nvSpPr>
        <p:spPr>
          <a:xfrm>
            <a:off x="457200" y="2305645"/>
            <a:ext cx="650081" cy="94655"/>
          </a:xfrm>
          <a:prstGeom prst="rect">
            <a:avLst/>
          </a:prstGeom>
          <a:solidFill>
            <a:srgbClr val="FFFFFF"/>
          </a:solidFill>
          <a:ln w="9144">
            <a:solidFill>
              <a:srgbClr val="F57C00"/>
            </a:solidFill>
            <a:prstDash val="solid"/>
          </a:ln>
        </p:spPr>
      </p:sp>
      <p:sp>
        <p:nvSpPr>
          <p:cNvPr id="61" name="Text 56"/>
          <p:cNvSpPr/>
          <p:nvPr/>
        </p:nvSpPr>
        <p:spPr>
          <a:xfrm>
            <a:off x="457200" y="2305645"/>
            <a:ext cx="650081" cy="94655"/>
          </a:xfrm>
          <a:prstGeom prst="rect">
            <a:avLst/>
          </a:prstGeom>
          <a:noFill/>
          <a:ln/>
        </p:spPr>
        <p:txBody>
          <a:bodyPr wrap="none" lIns="51054" tIns="0" rIns="51054" bIns="0" rtlCol="0" anchor="t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35" b="1" dirty="0">
                <a:solidFill>
                  <a:srgbClr val="E651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SCOPE: LIQ REF</a:t>
            </a:r>
            <a:endParaRPr lang="en-US" sz="435" dirty="0"/>
          </a:p>
        </p:txBody>
      </p:sp>
      <p:sp>
        <p:nvSpPr>
          <p:cNvPr id="62" name="Shape 57"/>
          <p:cNvSpPr/>
          <p:nvPr/>
        </p:nvSpPr>
        <p:spPr>
          <a:xfrm>
            <a:off x="414338" y="2619970"/>
            <a:ext cx="2483234" cy="214313"/>
          </a:xfrm>
          <a:prstGeom prst="rect">
            <a:avLst/>
          </a:prstGeom>
          <a:solidFill>
            <a:srgbClr val="FFF3E0"/>
          </a:solidFill>
          <a:ln w="9144">
            <a:solidFill>
              <a:srgbClr val="F57C00"/>
            </a:solidFill>
            <a:prstDash val="dash"/>
          </a:ln>
        </p:spPr>
      </p:sp>
      <p:sp>
        <p:nvSpPr>
          <p:cNvPr id="63" name="Shape 58"/>
          <p:cNvSpPr/>
          <p:nvPr/>
        </p:nvSpPr>
        <p:spPr>
          <a:xfrm>
            <a:off x="457200" y="2562820"/>
            <a:ext cx="767953" cy="94655"/>
          </a:xfrm>
          <a:prstGeom prst="rect">
            <a:avLst/>
          </a:prstGeom>
          <a:solidFill>
            <a:srgbClr val="FFFFFF"/>
          </a:solidFill>
          <a:ln w="9144">
            <a:solidFill>
              <a:srgbClr val="F57C00"/>
            </a:solidFill>
            <a:prstDash val="solid"/>
          </a:ln>
        </p:spPr>
      </p:sp>
      <p:sp>
        <p:nvSpPr>
          <p:cNvPr id="64" name="Text 59"/>
          <p:cNvSpPr/>
          <p:nvPr/>
        </p:nvSpPr>
        <p:spPr>
          <a:xfrm>
            <a:off x="457200" y="2562820"/>
            <a:ext cx="767953" cy="94655"/>
          </a:xfrm>
          <a:prstGeom prst="rect">
            <a:avLst/>
          </a:prstGeom>
          <a:noFill/>
          <a:ln/>
        </p:spPr>
        <p:txBody>
          <a:bodyPr wrap="none" lIns="51054" tIns="0" rIns="51054" bIns="0" rtlCol="0" anchor="t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35" b="1" dirty="0">
                <a:solidFill>
                  <a:srgbClr val="E651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SCOPE: TRADE FACT</a:t>
            </a:r>
            <a:endParaRPr lang="en-US" sz="435" dirty="0"/>
          </a:p>
        </p:txBody>
      </p:sp>
      <p:sp>
        <p:nvSpPr>
          <p:cNvPr id="65" name="Shape 60"/>
          <p:cNvSpPr/>
          <p:nvPr/>
        </p:nvSpPr>
        <p:spPr>
          <a:xfrm>
            <a:off x="414338" y="2877145"/>
            <a:ext cx="2483234" cy="214313"/>
          </a:xfrm>
          <a:prstGeom prst="rect">
            <a:avLst/>
          </a:prstGeom>
          <a:solidFill>
            <a:srgbClr val="FFF3E0"/>
          </a:solidFill>
          <a:ln w="9144">
            <a:solidFill>
              <a:srgbClr val="F57C00"/>
            </a:solidFill>
            <a:prstDash val="dash"/>
          </a:ln>
        </p:spPr>
      </p:sp>
      <p:sp>
        <p:nvSpPr>
          <p:cNvPr id="66" name="Shape 61"/>
          <p:cNvSpPr/>
          <p:nvPr/>
        </p:nvSpPr>
        <p:spPr>
          <a:xfrm>
            <a:off x="457200" y="2819995"/>
            <a:ext cx="728663" cy="94655"/>
          </a:xfrm>
          <a:prstGeom prst="rect">
            <a:avLst/>
          </a:prstGeom>
          <a:solidFill>
            <a:srgbClr val="FFFFFF"/>
          </a:solidFill>
          <a:ln w="9144">
            <a:solidFill>
              <a:srgbClr val="F57C00"/>
            </a:solidFill>
            <a:prstDash val="solid"/>
          </a:ln>
        </p:spPr>
      </p:sp>
      <p:sp>
        <p:nvSpPr>
          <p:cNvPr id="67" name="Text 62"/>
          <p:cNvSpPr/>
          <p:nvPr/>
        </p:nvSpPr>
        <p:spPr>
          <a:xfrm>
            <a:off x="457200" y="2819995"/>
            <a:ext cx="728663" cy="94655"/>
          </a:xfrm>
          <a:prstGeom prst="rect">
            <a:avLst/>
          </a:prstGeom>
          <a:noFill/>
          <a:ln/>
        </p:spPr>
        <p:txBody>
          <a:bodyPr wrap="none" lIns="51054" tIns="0" rIns="51054" bIns="0" rtlCol="0" anchor="t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35" b="1" dirty="0">
                <a:solidFill>
                  <a:srgbClr val="E651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SCOPE: TRADE DIM</a:t>
            </a:r>
            <a:endParaRPr lang="en-US" sz="435" dirty="0"/>
          </a:p>
        </p:txBody>
      </p:sp>
      <p:sp>
        <p:nvSpPr>
          <p:cNvPr id="68" name="Shape 63"/>
          <p:cNvSpPr/>
          <p:nvPr/>
        </p:nvSpPr>
        <p:spPr>
          <a:xfrm>
            <a:off x="414338" y="3134320"/>
            <a:ext cx="2483234" cy="214313"/>
          </a:xfrm>
          <a:prstGeom prst="rect">
            <a:avLst/>
          </a:prstGeom>
          <a:solidFill>
            <a:srgbClr val="FFF3E0"/>
          </a:solidFill>
          <a:ln w="9144">
            <a:solidFill>
              <a:srgbClr val="F57C00"/>
            </a:solidFill>
            <a:prstDash val="dash"/>
          </a:ln>
        </p:spPr>
      </p:sp>
      <p:sp>
        <p:nvSpPr>
          <p:cNvPr id="69" name="Shape 64"/>
          <p:cNvSpPr/>
          <p:nvPr/>
        </p:nvSpPr>
        <p:spPr>
          <a:xfrm>
            <a:off x="457200" y="3077170"/>
            <a:ext cx="728663" cy="94655"/>
          </a:xfrm>
          <a:prstGeom prst="rect">
            <a:avLst/>
          </a:prstGeom>
          <a:solidFill>
            <a:srgbClr val="FFFFFF"/>
          </a:solidFill>
          <a:ln w="9144">
            <a:solidFill>
              <a:srgbClr val="F57C00"/>
            </a:solidFill>
            <a:prstDash val="solid"/>
          </a:ln>
        </p:spPr>
      </p:sp>
      <p:sp>
        <p:nvSpPr>
          <p:cNvPr id="70" name="Text 65"/>
          <p:cNvSpPr/>
          <p:nvPr/>
        </p:nvSpPr>
        <p:spPr>
          <a:xfrm>
            <a:off x="457200" y="3077170"/>
            <a:ext cx="728663" cy="94655"/>
          </a:xfrm>
          <a:prstGeom prst="rect">
            <a:avLst/>
          </a:prstGeom>
          <a:noFill/>
          <a:ln/>
        </p:spPr>
        <p:txBody>
          <a:bodyPr wrap="none" lIns="51054" tIns="0" rIns="51054" bIns="0" rtlCol="0" anchor="t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35" b="1" dirty="0">
                <a:solidFill>
                  <a:srgbClr val="E651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SCOPE: TRADE REF</a:t>
            </a:r>
            <a:endParaRPr lang="en-US" sz="435" dirty="0"/>
          </a:p>
        </p:txBody>
      </p:sp>
      <p:sp>
        <p:nvSpPr>
          <p:cNvPr id="71" name="Shape 66"/>
          <p:cNvSpPr/>
          <p:nvPr/>
        </p:nvSpPr>
        <p:spPr>
          <a:xfrm>
            <a:off x="3026159" y="746522"/>
            <a:ext cx="1855394" cy="1214438"/>
          </a:xfrm>
          <a:prstGeom prst="rect">
            <a:avLst/>
          </a:prstGeom>
          <a:solidFill>
            <a:srgbClr val="E3F2FD"/>
          </a:solidFill>
          <a:ln w="18288">
            <a:solidFill>
              <a:srgbClr val="1976D2"/>
            </a:solidFill>
            <a:prstDash val="solid"/>
          </a:ln>
        </p:spPr>
      </p:sp>
      <p:sp>
        <p:nvSpPr>
          <p:cNvPr id="72" name="Shape 67"/>
          <p:cNvSpPr/>
          <p:nvPr/>
        </p:nvSpPr>
        <p:spPr>
          <a:xfrm>
            <a:off x="3083309" y="682228"/>
            <a:ext cx="726877" cy="98227"/>
          </a:xfrm>
          <a:prstGeom prst="rect">
            <a:avLst/>
          </a:prstGeom>
          <a:solidFill>
            <a:srgbClr val="1976D2"/>
          </a:solidFill>
          <a:ln/>
        </p:spPr>
      </p:sp>
      <p:pic>
        <p:nvPicPr>
          <p:cNvPr id="7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0459" y="692944"/>
            <a:ext cx="62508" cy="71438"/>
          </a:xfrm>
          <a:prstGeom prst="rect">
            <a:avLst/>
          </a:prstGeom>
        </p:spPr>
      </p:pic>
      <p:sp>
        <p:nvSpPr>
          <p:cNvPr id="74" name="Text 68"/>
          <p:cNvSpPr/>
          <p:nvPr/>
        </p:nvSpPr>
        <p:spPr>
          <a:xfrm>
            <a:off x="3202967" y="689372"/>
            <a:ext cx="550069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BUCKET: TRADE</a:t>
            </a:r>
            <a:endParaRPr lang="en-US" sz="485" dirty="0"/>
          </a:p>
        </p:txBody>
      </p:sp>
      <p:sp>
        <p:nvSpPr>
          <p:cNvPr id="75" name="Shape 69"/>
          <p:cNvSpPr/>
          <p:nvPr/>
        </p:nvSpPr>
        <p:spPr>
          <a:xfrm>
            <a:off x="3083309" y="889397"/>
            <a:ext cx="1741094" cy="214313"/>
          </a:xfrm>
          <a:prstGeom prst="rect">
            <a:avLst/>
          </a:prstGeom>
          <a:solidFill>
            <a:srgbClr val="FFF3E0"/>
          </a:solidFill>
          <a:ln w="9144">
            <a:solidFill>
              <a:srgbClr val="F57C00"/>
            </a:solidFill>
            <a:prstDash val="dash"/>
          </a:ln>
        </p:spPr>
      </p:sp>
      <p:sp>
        <p:nvSpPr>
          <p:cNvPr id="76" name="Shape 70"/>
          <p:cNvSpPr/>
          <p:nvPr/>
        </p:nvSpPr>
        <p:spPr>
          <a:xfrm>
            <a:off x="3126172" y="832247"/>
            <a:ext cx="492919" cy="94655"/>
          </a:xfrm>
          <a:prstGeom prst="rect">
            <a:avLst/>
          </a:prstGeom>
          <a:solidFill>
            <a:srgbClr val="FFFFFF"/>
          </a:solidFill>
          <a:ln w="9144">
            <a:solidFill>
              <a:srgbClr val="F57C00"/>
            </a:solidFill>
            <a:prstDash val="solid"/>
          </a:ln>
        </p:spPr>
      </p:sp>
      <p:sp>
        <p:nvSpPr>
          <p:cNvPr id="77" name="Text 71"/>
          <p:cNvSpPr/>
          <p:nvPr/>
        </p:nvSpPr>
        <p:spPr>
          <a:xfrm>
            <a:off x="3126172" y="832247"/>
            <a:ext cx="492919" cy="94655"/>
          </a:xfrm>
          <a:prstGeom prst="rect">
            <a:avLst/>
          </a:prstGeom>
          <a:noFill/>
          <a:ln/>
        </p:spPr>
        <p:txBody>
          <a:bodyPr wrap="none" lIns="51054" tIns="0" rIns="51054" bIns="0" rtlCol="0" anchor="t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35" b="1" dirty="0">
                <a:solidFill>
                  <a:srgbClr val="E651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SCOPE: RCF</a:t>
            </a:r>
            <a:endParaRPr lang="en-US" sz="435" dirty="0"/>
          </a:p>
        </p:txBody>
      </p:sp>
      <p:sp>
        <p:nvSpPr>
          <p:cNvPr id="78" name="Shape 72"/>
          <p:cNvSpPr/>
          <p:nvPr/>
        </p:nvSpPr>
        <p:spPr>
          <a:xfrm>
            <a:off x="3083309" y="1146572"/>
            <a:ext cx="1741094" cy="214313"/>
          </a:xfrm>
          <a:prstGeom prst="rect">
            <a:avLst/>
          </a:prstGeom>
          <a:solidFill>
            <a:srgbClr val="FFF3E0"/>
          </a:solidFill>
          <a:ln w="9144">
            <a:solidFill>
              <a:srgbClr val="F57C00"/>
            </a:solidFill>
            <a:prstDash val="dash"/>
          </a:ln>
        </p:spPr>
      </p:sp>
      <p:sp>
        <p:nvSpPr>
          <p:cNvPr id="79" name="Shape 73"/>
          <p:cNvSpPr/>
          <p:nvPr/>
        </p:nvSpPr>
        <p:spPr>
          <a:xfrm>
            <a:off x="3126172" y="1089422"/>
            <a:ext cx="492919" cy="94655"/>
          </a:xfrm>
          <a:prstGeom prst="rect">
            <a:avLst/>
          </a:prstGeom>
          <a:solidFill>
            <a:srgbClr val="FFFFFF"/>
          </a:solidFill>
          <a:ln w="9144">
            <a:solidFill>
              <a:srgbClr val="F57C00"/>
            </a:solidFill>
            <a:prstDash val="solid"/>
          </a:ln>
        </p:spPr>
      </p:sp>
      <p:sp>
        <p:nvSpPr>
          <p:cNvPr id="80" name="Text 74"/>
          <p:cNvSpPr/>
          <p:nvPr/>
        </p:nvSpPr>
        <p:spPr>
          <a:xfrm>
            <a:off x="3126172" y="1089422"/>
            <a:ext cx="492919" cy="94655"/>
          </a:xfrm>
          <a:prstGeom prst="rect">
            <a:avLst/>
          </a:prstGeom>
          <a:noFill/>
          <a:ln/>
        </p:spPr>
        <p:txBody>
          <a:bodyPr wrap="none" lIns="51054" tIns="0" rIns="51054" bIns="0" rtlCol="0" anchor="t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35" b="1" dirty="0">
                <a:solidFill>
                  <a:srgbClr val="E651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SCOPE: CSF</a:t>
            </a:r>
            <a:endParaRPr lang="en-US" sz="435" dirty="0"/>
          </a:p>
        </p:txBody>
      </p:sp>
      <p:sp>
        <p:nvSpPr>
          <p:cNvPr id="81" name="Shape 75"/>
          <p:cNvSpPr/>
          <p:nvPr/>
        </p:nvSpPr>
        <p:spPr>
          <a:xfrm>
            <a:off x="3083309" y="1403747"/>
            <a:ext cx="1741094" cy="214313"/>
          </a:xfrm>
          <a:prstGeom prst="rect">
            <a:avLst/>
          </a:prstGeom>
          <a:solidFill>
            <a:srgbClr val="FFF3E0"/>
          </a:solidFill>
          <a:ln w="9144">
            <a:solidFill>
              <a:srgbClr val="F57C00"/>
            </a:solidFill>
            <a:prstDash val="dash"/>
          </a:ln>
        </p:spPr>
      </p:sp>
      <p:sp>
        <p:nvSpPr>
          <p:cNvPr id="82" name="Shape 76"/>
          <p:cNvSpPr/>
          <p:nvPr/>
        </p:nvSpPr>
        <p:spPr>
          <a:xfrm>
            <a:off x="3126172" y="1346597"/>
            <a:ext cx="964406" cy="94655"/>
          </a:xfrm>
          <a:prstGeom prst="rect">
            <a:avLst/>
          </a:prstGeom>
          <a:solidFill>
            <a:srgbClr val="FFFFFF"/>
          </a:solidFill>
          <a:ln w="9144">
            <a:solidFill>
              <a:srgbClr val="F57C00"/>
            </a:solidFill>
            <a:prstDash val="solid"/>
          </a:ln>
        </p:spPr>
      </p:sp>
      <p:sp>
        <p:nvSpPr>
          <p:cNvPr id="83" name="Text 77"/>
          <p:cNvSpPr/>
          <p:nvPr/>
        </p:nvSpPr>
        <p:spPr>
          <a:xfrm>
            <a:off x="3126172" y="1346597"/>
            <a:ext cx="964406" cy="94655"/>
          </a:xfrm>
          <a:prstGeom prst="rect">
            <a:avLst/>
          </a:prstGeom>
          <a:noFill/>
          <a:ln/>
        </p:spPr>
        <p:txBody>
          <a:bodyPr wrap="none" lIns="51054" tIns="0" rIns="51054" bIns="0" rtlCol="0" anchor="t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35" b="1" dirty="0">
                <a:solidFill>
                  <a:srgbClr val="E651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SCOPE: TRADE REPORTING</a:t>
            </a:r>
            <a:endParaRPr lang="en-US" sz="435" dirty="0"/>
          </a:p>
        </p:txBody>
      </p:sp>
      <p:sp>
        <p:nvSpPr>
          <p:cNvPr id="84" name="Shape 78"/>
          <p:cNvSpPr/>
          <p:nvPr/>
        </p:nvSpPr>
        <p:spPr>
          <a:xfrm>
            <a:off x="3083309" y="1660922"/>
            <a:ext cx="1741094" cy="214313"/>
          </a:xfrm>
          <a:prstGeom prst="rect">
            <a:avLst/>
          </a:prstGeom>
          <a:solidFill>
            <a:srgbClr val="FFF3E0"/>
          </a:solidFill>
          <a:ln w="9144">
            <a:solidFill>
              <a:srgbClr val="F57C00"/>
            </a:solidFill>
            <a:prstDash val="dash"/>
          </a:ln>
        </p:spPr>
      </p:sp>
      <p:sp>
        <p:nvSpPr>
          <p:cNvPr id="85" name="Shape 79"/>
          <p:cNvSpPr/>
          <p:nvPr/>
        </p:nvSpPr>
        <p:spPr>
          <a:xfrm>
            <a:off x="3126172" y="1603772"/>
            <a:ext cx="767953" cy="94655"/>
          </a:xfrm>
          <a:prstGeom prst="rect">
            <a:avLst/>
          </a:prstGeom>
          <a:solidFill>
            <a:srgbClr val="FFFFFF"/>
          </a:solidFill>
          <a:ln w="9144">
            <a:solidFill>
              <a:srgbClr val="F57C00"/>
            </a:solidFill>
            <a:prstDash val="solid"/>
          </a:ln>
        </p:spPr>
      </p:sp>
      <p:sp>
        <p:nvSpPr>
          <p:cNvPr id="86" name="Text 80"/>
          <p:cNvSpPr/>
          <p:nvPr/>
        </p:nvSpPr>
        <p:spPr>
          <a:xfrm>
            <a:off x="3126172" y="1603772"/>
            <a:ext cx="767953" cy="94655"/>
          </a:xfrm>
          <a:prstGeom prst="rect">
            <a:avLst/>
          </a:prstGeom>
          <a:noFill/>
          <a:ln/>
        </p:spPr>
        <p:txBody>
          <a:bodyPr wrap="none" lIns="51054" tIns="0" rIns="51054" bIns="0" rtlCol="0" anchor="t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35" b="1" dirty="0">
                <a:solidFill>
                  <a:srgbClr val="E651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SCOPE: CORE TRADE</a:t>
            </a:r>
            <a:endParaRPr lang="en-US" sz="435" dirty="0"/>
          </a:p>
        </p:txBody>
      </p:sp>
      <p:sp>
        <p:nvSpPr>
          <p:cNvPr id="87" name="Shape 81"/>
          <p:cNvSpPr/>
          <p:nvPr/>
        </p:nvSpPr>
        <p:spPr>
          <a:xfrm>
            <a:off x="3026159" y="2003822"/>
            <a:ext cx="1855394" cy="832247"/>
          </a:xfrm>
          <a:prstGeom prst="rect">
            <a:avLst/>
          </a:prstGeom>
          <a:solidFill>
            <a:srgbClr val="E3F2FD"/>
          </a:solidFill>
          <a:ln w="18288">
            <a:solidFill>
              <a:srgbClr val="1976D2"/>
            </a:solidFill>
            <a:prstDash val="solid"/>
          </a:ln>
        </p:spPr>
      </p:sp>
      <p:sp>
        <p:nvSpPr>
          <p:cNvPr id="88" name="Shape 82"/>
          <p:cNvSpPr/>
          <p:nvPr/>
        </p:nvSpPr>
        <p:spPr>
          <a:xfrm>
            <a:off x="3083309" y="1939528"/>
            <a:ext cx="894755" cy="98227"/>
          </a:xfrm>
          <a:prstGeom prst="rect">
            <a:avLst/>
          </a:prstGeom>
          <a:solidFill>
            <a:srgbClr val="1976D2"/>
          </a:solidFill>
          <a:ln/>
        </p:spPr>
      </p:sp>
      <p:pic>
        <p:nvPicPr>
          <p:cNvPr id="8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0459" y="1950244"/>
            <a:ext cx="62508" cy="71438"/>
          </a:xfrm>
          <a:prstGeom prst="rect">
            <a:avLst/>
          </a:prstGeom>
        </p:spPr>
      </p:pic>
      <p:sp>
        <p:nvSpPr>
          <p:cNvPr id="90" name="Text 83"/>
          <p:cNvSpPr/>
          <p:nvPr/>
        </p:nvSpPr>
        <p:spPr>
          <a:xfrm>
            <a:off x="3202967" y="1946672"/>
            <a:ext cx="717947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BUCKET: REPORTING</a:t>
            </a:r>
            <a:endParaRPr lang="en-US" sz="485" dirty="0"/>
          </a:p>
        </p:txBody>
      </p:sp>
      <p:sp>
        <p:nvSpPr>
          <p:cNvPr id="91" name="Shape 84"/>
          <p:cNvSpPr/>
          <p:nvPr/>
        </p:nvSpPr>
        <p:spPr>
          <a:xfrm>
            <a:off x="3083309" y="2146697"/>
            <a:ext cx="1741094" cy="280392"/>
          </a:xfrm>
          <a:prstGeom prst="rect">
            <a:avLst/>
          </a:prstGeom>
          <a:solidFill>
            <a:srgbClr val="FFF3E0"/>
          </a:solidFill>
          <a:ln w="9144">
            <a:solidFill>
              <a:srgbClr val="F57C00"/>
            </a:solidFill>
            <a:prstDash val="dash"/>
          </a:ln>
        </p:spPr>
      </p:sp>
      <p:sp>
        <p:nvSpPr>
          <p:cNvPr id="92" name="Shape 85"/>
          <p:cNvSpPr/>
          <p:nvPr/>
        </p:nvSpPr>
        <p:spPr>
          <a:xfrm>
            <a:off x="3126172" y="2089547"/>
            <a:ext cx="650081" cy="94655"/>
          </a:xfrm>
          <a:prstGeom prst="rect">
            <a:avLst/>
          </a:prstGeom>
          <a:solidFill>
            <a:srgbClr val="FFFFFF"/>
          </a:solidFill>
          <a:ln w="9144">
            <a:solidFill>
              <a:srgbClr val="F57C00"/>
            </a:solidFill>
            <a:prstDash val="solid"/>
          </a:ln>
        </p:spPr>
      </p:sp>
      <p:sp>
        <p:nvSpPr>
          <p:cNvPr id="93" name="Text 86"/>
          <p:cNvSpPr/>
          <p:nvPr/>
        </p:nvSpPr>
        <p:spPr>
          <a:xfrm>
            <a:off x="3126172" y="2089547"/>
            <a:ext cx="650081" cy="94655"/>
          </a:xfrm>
          <a:prstGeom prst="rect">
            <a:avLst/>
          </a:prstGeom>
          <a:noFill/>
          <a:ln/>
        </p:spPr>
        <p:txBody>
          <a:bodyPr wrap="none" lIns="51054" tIns="0" rIns="51054" bIns="0" rtlCol="0" anchor="t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35" b="1" dirty="0">
                <a:solidFill>
                  <a:srgbClr val="E651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SCOPE: DEFAULT</a:t>
            </a:r>
            <a:endParaRPr lang="en-US" sz="435" dirty="0"/>
          </a:p>
        </p:txBody>
      </p:sp>
      <p:sp>
        <p:nvSpPr>
          <p:cNvPr id="94" name="Shape 87"/>
          <p:cNvSpPr/>
          <p:nvPr/>
        </p:nvSpPr>
        <p:spPr>
          <a:xfrm>
            <a:off x="3111884" y="2260997"/>
            <a:ext cx="319627" cy="123230"/>
          </a:xfrm>
          <a:prstGeom prst="rect">
            <a:avLst/>
          </a:prstGeom>
          <a:solidFill>
            <a:srgbClr val="FFFFFF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95" name="Text 88"/>
          <p:cNvSpPr/>
          <p:nvPr/>
        </p:nvSpPr>
        <p:spPr>
          <a:xfrm>
            <a:off x="3111884" y="2260997"/>
            <a:ext cx="319627" cy="123230"/>
          </a:xfrm>
          <a:prstGeom prst="rect">
            <a:avLst/>
          </a:prstGeom>
          <a:noFill/>
          <a:ln/>
        </p:spPr>
        <p:txBody>
          <a:bodyPr wrap="square" lIns="34036" tIns="17018" rIns="34036" bIns="17018" rtlCol="0" anchor="t">
            <a:spAutoFit/>
          </a:bodyPr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463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TI</a:t>
            </a:r>
            <a:endParaRPr lang="en-US" sz="463" dirty="0"/>
          </a:p>
        </p:txBody>
      </p:sp>
      <p:sp>
        <p:nvSpPr>
          <p:cNvPr id="96" name="Shape 89"/>
          <p:cNvSpPr/>
          <p:nvPr/>
        </p:nvSpPr>
        <p:spPr>
          <a:xfrm>
            <a:off x="3450543" y="2260997"/>
            <a:ext cx="363662" cy="123230"/>
          </a:xfrm>
          <a:prstGeom prst="rect">
            <a:avLst/>
          </a:prstGeom>
          <a:solidFill>
            <a:srgbClr val="FFFFFF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97" name="Text 90"/>
          <p:cNvSpPr/>
          <p:nvPr/>
        </p:nvSpPr>
        <p:spPr>
          <a:xfrm>
            <a:off x="3450543" y="2260997"/>
            <a:ext cx="363662" cy="123230"/>
          </a:xfrm>
          <a:prstGeom prst="rect">
            <a:avLst/>
          </a:prstGeom>
          <a:noFill/>
          <a:ln/>
        </p:spPr>
        <p:txBody>
          <a:bodyPr wrap="square" lIns="34036" tIns="17018" rIns="34036" bIns="17018" rtlCol="0" anchor="t">
            <a:spAutoFit/>
          </a:bodyPr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463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GPR</a:t>
            </a:r>
            <a:endParaRPr lang="en-US" sz="463" dirty="0"/>
          </a:p>
        </p:txBody>
      </p:sp>
      <p:sp>
        <p:nvSpPr>
          <p:cNvPr id="98" name="Shape 91"/>
          <p:cNvSpPr/>
          <p:nvPr/>
        </p:nvSpPr>
        <p:spPr>
          <a:xfrm>
            <a:off x="3838035" y="2260997"/>
            <a:ext cx="957793" cy="123230"/>
          </a:xfrm>
          <a:prstGeom prst="rect">
            <a:avLst/>
          </a:prstGeom>
          <a:solidFill>
            <a:srgbClr val="FFFFFF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99" name="Text 92"/>
          <p:cNvSpPr/>
          <p:nvPr/>
        </p:nvSpPr>
        <p:spPr>
          <a:xfrm>
            <a:off x="3838035" y="2260997"/>
            <a:ext cx="957793" cy="123230"/>
          </a:xfrm>
          <a:prstGeom prst="rect">
            <a:avLst/>
          </a:prstGeom>
          <a:noFill/>
          <a:ln/>
        </p:spPr>
        <p:txBody>
          <a:bodyPr wrap="square" lIns="34036" tIns="17018" rIns="34036" bIns="17018" rtlCol="0" anchor="t">
            <a:spAutoFit/>
          </a:bodyPr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463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MExico Divestiture</a:t>
            </a:r>
            <a:endParaRPr lang="en-US" sz="463" dirty="0"/>
          </a:p>
        </p:txBody>
      </p:sp>
      <p:sp>
        <p:nvSpPr>
          <p:cNvPr id="100" name="Shape 93"/>
          <p:cNvSpPr/>
          <p:nvPr/>
        </p:nvSpPr>
        <p:spPr>
          <a:xfrm>
            <a:off x="3083309" y="2441377"/>
            <a:ext cx="1741094" cy="280392"/>
          </a:xfrm>
          <a:prstGeom prst="rect">
            <a:avLst/>
          </a:prstGeom>
          <a:solidFill>
            <a:srgbClr val="FFF3E0"/>
          </a:solidFill>
          <a:ln w="9144">
            <a:solidFill>
              <a:srgbClr val="F57C00"/>
            </a:solidFill>
            <a:prstDash val="dash"/>
          </a:ln>
        </p:spPr>
      </p:sp>
      <p:sp>
        <p:nvSpPr>
          <p:cNvPr id="101" name="Shape 94"/>
          <p:cNvSpPr/>
          <p:nvPr/>
        </p:nvSpPr>
        <p:spPr>
          <a:xfrm>
            <a:off x="3126172" y="2384227"/>
            <a:ext cx="728663" cy="94655"/>
          </a:xfrm>
          <a:prstGeom prst="rect">
            <a:avLst/>
          </a:prstGeom>
          <a:solidFill>
            <a:srgbClr val="FFFFFF"/>
          </a:solidFill>
          <a:ln w="9144">
            <a:solidFill>
              <a:srgbClr val="F57C00"/>
            </a:solidFill>
            <a:prstDash val="solid"/>
          </a:ln>
        </p:spPr>
      </p:sp>
      <p:sp>
        <p:nvSpPr>
          <p:cNvPr id="102" name="Text 95"/>
          <p:cNvSpPr/>
          <p:nvPr/>
        </p:nvSpPr>
        <p:spPr>
          <a:xfrm>
            <a:off x="3126172" y="2384227"/>
            <a:ext cx="728663" cy="94655"/>
          </a:xfrm>
          <a:prstGeom prst="rect">
            <a:avLst/>
          </a:prstGeom>
          <a:noFill/>
          <a:ln/>
        </p:spPr>
        <p:txBody>
          <a:bodyPr wrap="none" lIns="51054" tIns="0" rIns="51054" bIns="0" rtlCol="0" anchor="t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35" b="1" dirty="0">
                <a:solidFill>
                  <a:srgbClr val="E651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SCOPE: STMT PREF</a:t>
            </a:r>
            <a:endParaRPr lang="en-US" sz="435" dirty="0"/>
          </a:p>
        </p:txBody>
      </p:sp>
      <p:sp>
        <p:nvSpPr>
          <p:cNvPr id="103" name="Shape 96"/>
          <p:cNvSpPr/>
          <p:nvPr/>
        </p:nvSpPr>
        <p:spPr>
          <a:xfrm>
            <a:off x="3111884" y="2555677"/>
            <a:ext cx="1683944" cy="123230"/>
          </a:xfrm>
          <a:prstGeom prst="rect">
            <a:avLst/>
          </a:prstGeom>
          <a:solidFill>
            <a:srgbClr val="FFFFFF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104" name="Text 97"/>
          <p:cNvSpPr/>
          <p:nvPr/>
        </p:nvSpPr>
        <p:spPr>
          <a:xfrm>
            <a:off x="3111884" y="2555677"/>
            <a:ext cx="1683944" cy="123230"/>
          </a:xfrm>
          <a:prstGeom prst="rect">
            <a:avLst/>
          </a:prstGeom>
          <a:noFill/>
          <a:ln/>
        </p:spPr>
        <p:txBody>
          <a:bodyPr wrap="square" lIns="34036" tIns="17018" rIns="34036" bIns="17018" rtlCol="0" anchor="t">
            <a:spAutoFit/>
          </a:bodyPr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463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CD PREF</a:t>
            </a:r>
            <a:endParaRPr lang="en-US" sz="463" dirty="0"/>
          </a:p>
        </p:txBody>
      </p:sp>
      <p:sp>
        <p:nvSpPr>
          <p:cNvPr id="105" name="Shape 98"/>
          <p:cNvSpPr/>
          <p:nvPr/>
        </p:nvSpPr>
        <p:spPr>
          <a:xfrm>
            <a:off x="3026159" y="2821781"/>
            <a:ext cx="1855394" cy="1728788"/>
          </a:xfrm>
          <a:prstGeom prst="rect">
            <a:avLst/>
          </a:prstGeom>
          <a:solidFill>
            <a:srgbClr val="E3F2FD"/>
          </a:solidFill>
          <a:ln w="18288">
            <a:solidFill>
              <a:srgbClr val="1976D2"/>
            </a:solidFill>
            <a:prstDash val="solid"/>
          </a:ln>
        </p:spPr>
      </p:sp>
      <p:sp>
        <p:nvSpPr>
          <p:cNvPr id="106" name="Shape 99"/>
          <p:cNvSpPr/>
          <p:nvPr/>
        </p:nvSpPr>
        <p:spPr>
          <a:xfrm>
            <a:off x="3083309" y="2757488"/>
            <a:ext cx="835819" cy="98227"/>
          </a:xfrm>
          <a:prstGeom prst="rect">
            <a:avLst/>
          </a:prstGeom>
          <a:solidFill>
            <a:srgbClr val="1976D2"/>
          </a:solidFill>
          <a:ln/>
        </p:spPr>
      </p:sp>
      <p:pic>
        <p:nvPicPr>
          <p:cNvPr id="10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40459" y="2768203"/>
            <a:ext cx="62508" cy="71438"/>
          </a:xfrm>
          <a:prstGeom prst="rect">
            <a:avLst/>
          </a:prstGeom>
        </p:spPr>
      </p:pic>
      <p:sp>
        <p:nvSpPr>
          <p:cNvPr id="108" name="Text 100"/>
          <p:cNvSpPr/>
          <p:nvPr/>
        </p:nvSpPr>
        <p:spPr>
          <a:xfrm>
            <a:off x="3202967" y="2764631"/>
            <a:ext cx="659011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BUCKET: LIQUIDITY</a:t>
            </a:r>
            <a:endParaRPr lang="en-US" sz="485" dirty="0"/>
          </a:p>
        </p:txBody>
      </p:sp>
      <p:sp>
        <p:nvSpPr>
          <p:cNvPr id="109" name="Shape 101"/>
          <p:cNvSpPr/>
          <p:nvPr/>
        </p:nvSpPr>
        <p:spPr>
          <a:xfrm>
            <a:off x="3083309" y="2964656"/>
            <a:ext cx="1741094" cy="214313"/>
          </a:xfrm>
          <a:prstGeom prst="rect">
            <a:avLst/>
          </a:prstGeom>
          <a:solidFill>
            <a:srgbClr val="FFF3E0"/>
          </a:solidFill>
          <a:ln w="9144">
            <a:solidFill>
              <a:srgbClr val="F57C00"/>
            </a:solidFill>
            <a:prstDash val="dash"/>
          </a:ln>
        </p:spPr>
      </p:sp>
      <p:sp>
        <p:nvSpPr>
          <p:cNvPr id="110" name="Shape 102"/>
          <p:cNvSpPr/>
          <p:nvPr/>
        </p:nvSpPr>
        <p:spPr>
          <a:xfrm>
            <a:off x="3126172" y="2907506"/>
            <a:ext cx="650081" cy="94655"/>
          </a:xfrm>
          <a:prstGeom prst="rect">
            <a:avLst/>
          </a:prstGeom>
          <a:solidFill>
            <a:srgbClr val="FFFFFF"/>
          </a:solidFill>
          <a:ln w="9144">
            <a:solidFill>
              <a:srgbClr val="F57C00"/>
            </a:solidFill>
            <a:prstDash val="solid"/>
          </a:ln>
        </p:spPr>
      </p:sp>
      <p:sp>
        <p:nvSpPr>
          <p:cNvPr id="111" name="Text 103"/>
          <p:cNvSpPr/>
          <p:nvPr/>
        </p:nvSpPr>
        <p:spPr>
          <a:xfrm>
            <a:off x="3126172" y="2907506"/>
            <a:ext cx="650081" cy="94655"/>
          </a:xfrm>
          <a:prstGeom prst="rect">
            <a:avLst/>
          </a:prstGeom>
          <a:noFill/>
          <a:ln/>
        </p:spPr>
        <p:txBody>
          <a:bodyPr wrap="none" lIns="51054" tIns="0" rIns="51054" bIns="0" rtlCol="0" anchor="t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35" b="1" dirty="0">
                <a:solidFill>
                  <a:srgbClr val="E651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SCOPE: BALANCE</a:t>
            </a:r>
            <a:endParaRPr lang="en-US" sz="435" dirty="0"/>
          </a:p>
        </p:txBody>
      </p:sp>
      <p:sp>
        <p:nvSpPr>
          <p:cNvPr id="112" name="Shape 104"/>
          <p:cNvSpPr/>
          <p:nvPr/>
        </p:nvSpPr>
        <p:spPr>
          <a:xfrm>
            <a:off x="3083309" y="3221831"/>
            <a:ext cx="1741094" cy="214313"/>
          </a:xfrm>
          <a:prstGeom prst="rect">
            <a:avLst/>
          </a:prstGeom>
          <a:solidFill>
            <a:srgbClr val="FFF3E0"/>
          </a:solidFill>
          <a:ln w="9144">
            <a:solidFill>
              <a:srgbClr val="F57C00"/>
            </a:solidFill>
            <a:prstDash val="dash"/>
          </a:ln>
        </p:spPr>
      </p:sp>
      <p:sp>
        <p:nvSpPr>
          <p:cNvPr id="113" name="Shape 105"/>
          <p:cNvSpPr/>
          <p:nvPr/>
        </p:nvSpPr>
        <p:spPr>
          <a:xfrm>
            <a:off x="3126172" y="3164681"/>
            <a:ext cx="767953" cy="94655"/>
          </a:xfrm>
          <a:prstGeom prst="rect">
            <a:avLst/>
          </a:prstGeom>
          <a:solidFill>
            <a:srgbClr val="FFFFFF"/>
          </a:solidFill>
          <a:ln w="9144">
            <a:solidFill>
              <a:srgbClr val="F57C00"/>
            </a:solidFill>
            <a:prstDash val="solid"/>
          </a:ln>
        </p:spPr>
      </p:sp>
      <p:sp>
        <p:nvSpPr>
          <p:cNvPr id="114" name="Text 106"/>
          <p:cNvSpPr/>
          <p:nvPr/>
        </p:nvSpPr>
        <p:spPr>
          <a:xfrm>
            <a:off x="3126172" y="3164681"/>
            <a:ext cx="767953" cy="94655"/>
          </a:xfrm>
          <a:prstGeom prst="rect">
            <a:avLst/>
          </a:prstGeom>
          <a:noFill/>
          <a:ln/>
        </p:spPr>
        <p:txBody>
          <a:bodyPr wrap="none" lIns="51054" tIns="0" rIns="51054" bIns="0" rtlCol="0" anchor="t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35" b="1" dirty="0">
                <a:solidFill>
                  <a:srgbClr val="E651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SCOPE: DIMENSIONS</a:t>
            </a:r>
            <a:endParaRPr lang="en-US" sz="435" dirty="0"/>
          </a:p>
        </p:txBody>
      </p:sp>
      <p:sp>
        <p:nvSpPr>
          <p:cNvPr id="115" name="Shape 107"/>
          <p:cNvSpPr/>
          <p:nvPr/>
        </p:nvSpPr>
        <p:spPr>
          <a:xfrm>
            <a:off x="3083309" y="3479006"/>
            <a:ext cx="1741094" cy="214313"/>
          </a:xfrm>
          <a:prstGeom prst="rect">
            <a:avLst/>
          </a:prstGeom>
          <a:solidFill>
            <a:srgbClr val="FFF3E0"/>
          </a:solidFill>
          <a:ln w="9144">
            <a:solidFill>
              <a:srgbClr val="F57C00"/>
            </a:solidFill>
            <a:prstDash val="dash"/>
          </a:ln>
        </p:spPr>
      </p:sp>
      <p:sp>
        <p:nvSpPr>
          <p:cNvPr id="116" name="Shape 108"/>
          <p:cNvSpPr/>
          <p:nvPr/>
        </p:nvSpPr>
        <p:spPr>
          <a:xfrm>
            <a:off x="3126172" y="3421856"/>
            <a:ext cx="767953" cy="94655"/>
          </a:xfrm>
          <a:prstGeom prst="rect">
            <a:avLst/>
          </a:prstGeom>
          <a:solidFill>
            <a:srgbClr val="FFFFFF"/>
          </a:solidFill>
          <a:ln w="9144">
            <a:solidFill>
              <a:srgbClr val="F57C00"/>
            </a:solidFill>
            <a:prstDash val="solid"/>
          </a:ln>
        </p:spPr>
      </p:sp>
      <p:sp>
        <p:nvSpPr>
          <p:cNvPr id="117" name="Text 109"/>
          <p:cNvSpPr/>
          <p:nvPr/>
        </p:nvSpPr>
        <p:spPr>
          <a:xfrm>
            <a:off x="3126172" y="3421856"/>
            <a:ext cx="767953" cy="94655"/>
          </a:xfrm>
          <a:prstGeom prst="rect">
            <a:avLst/>
          </a:prstGeom>
          <a:noFill/>
          <a:ln/>
        </p:spPr>
        <p:txBody>
          <a:bodyPr wrap="none" lIns="51054" tIns="0" rIns="51054" bIns="0" rtlCol="0" anchor="t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35" b="1" dirty="0">
                <a:solidFill>
                  <a:srgbClr val="E651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SCOPE: STRUCTURES</a:t>
            </a:r>
            <a:endParaRPr lang="en-US" sz="435" dirty="0"/>
          </a:p>
        </p:txBody>
      </p:sp>
      <p:sp>
        <p:nvSpPr>
          <p:cNvPr id="118" name="Shape 110"/>
          <p:cNvSpPr/>
          <p:nvPr/>
        </p:nvSpPr>
        <p:spPr>
          <a:xfrm>
            <a:off x="3083309" y="3736181"/>
            <a:ext cx="1741094" cy="214313"/>
          </a:xfrm>
          <a:prstGeom prst="rect">
            <a:avLst/>
          </a:prstGeom>
          <a:solidFill>
            <a:srgbClr val="FFF3E0"/>
          </a:solidFill>
          <a:ln w="9144">
            <a:solidFill>
              <a:srgbClr val="F57C00"/>
            </a:solidFill>
            <a:prstDash val="dash"/>
          </a:ln>
        </p:spPr>
      </p:sp>
      <p:sp>
        <p:nvSpPr>
          <p:cNvPr id="119" name="Shape 111"/>
          <p:cNvSpPr/>
          <p:nvPr/>
        </p:nvSpPr>
        <p:spPr>
          <a:xfrm>
            <a:off x="3126172" y="3679031"/>
            <a:ext cx="885825" cy="94655"/>
          </a:xfrm>
          <a:prstGeom prst="rect">
            <a:avLst/>
          </a:prstGeom>
          <a:solidFill>
            <a:srgbClr val="FFFFFF"/>
          </a:solidFill>
          <a:ln w="9144">
            <a:solidFill>
              <a:srgbClr val="F57C00"/>
            </a:solidFill>
            <a:prstDash val="solid"/>
          </a:ln>
        </p:spPr>
      </p:sp>
      <p:sp>
        <p:nvSpPr>
          <p:cNvPr id="120" name="Text 112"/>
          <p:cNvSpPr/>
          <p:nvPr/>
        </p:nvSpPr>
        <p:spPr>
          <a:xfrm>
            <a:off x="3126172" y="3679031"/>
            <a:ext cx="885825" cy="94655"/>
          </a:xfrm>
          <a:prstGeom prst="rect">
            <a:avLst/>
          </a:prstGeom>
          <a:noFill/>
          <a:ln/>
        </p:spPr>
        <p:txBody>
          <a:bodyPr wrap="none" lIns="51054" tIns="0" rIns="51054" bIns="0" rtlCol="0" anchor="t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35" b="1" dirty="0">
                <a:solidFill>
                  <a:srgbClr val="E651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SCOPE: INTEREST RATE</a:t>
            </a:r>
            <a:endParaRPr lang="en-US" sz="435" dirty="0"/>
          </a:p>
        </p:txBody>
      </p:sp>
      <p:sp>
        <p:nvSpPr>
          <p:cNvPr id="121" name="Shape 113"/>
          <p:cNvSpPr/>
          <p:nvPr/>
        </p:nvSpPr>
        <p:spPr>
          <a:xfrm>
            <a:off x="3083309" y="3993356"/>
            <a:ext cx="1741094" cy="214313"/>
          </a:xfrm>
          <a:prstGeom prst="rect">
            <a:avLst/>
          </a:prstGeom>
          <a:solidFill>
            <a:srgbClr val="FFF3E0"/>
          </a:solidFill>
          <a:ln w="9144">
            <a:solidFill>
              <a:srgbClr val="F57C00"/>
            </a:solidFill>
            <a:prstDash val="dash"/>
          </a:ln>
        </p:spPr>
      </p:sp>
      <p:sp>
        <p:nvSpPr>
          <p:cNvPr id="122" name="Shape 114"/>
          <p:cNvSpPr/>
          <p:nvPr/>
        </p:nvSpPr>
        <p:spPr>
          <a:xfrm>
            <a:off x="3126172" y="3936206"/>
            <a:ext cx="650081" cy="94655"/>
          </a:xfrm>
          <a:prstGeom prst="rect">
            <a:avLst/>
          </a:prstGeom>
          <a:solidFill>
            <a:srgbClr val="FFFFFF"/>
          </a:solidFill>
          <a:ln w="9144">
            <a:solidFill>
              <a:srgbClr val="F57C00"/>
            </a:solidFill>
            <a:prstDash val="solid"/>
          </a:ln>
        </p:spPr>
      </p:sp>
      <p:sp>
        <p:nvSpPr>
          <p:cNvPr id="123" name="Text 115"/>
          <p:cNvSpPr/>
          <p:nvPr/>
        </p:nvSpPr>
        <p:spPr>
          <a:xfrm>
            <a:off x="3126172" y="3936206"/>
            <a:ext cx="650081" cy="94655"/>
          </a:xfrm>
          <a:prstGeom prst="rect">
            <a:avLst/>
          </a:prstGeom>
          <a:noFill/>
          <a:ln/>
        </p:spPr>
        <p:txBody>
          <a:bodyPr wrap="none" lIns="51054" tIns="0" rIns="51054" bIns="0" rtlCol="0" anchor="t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35" b="1" dirty="0">
                <a:solidFill>
                  <a:srgbClr val="E651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SCOPE: CONTROL</a:t>
            </a:r>
            <a:endParaRPr lang="en-US" sz="435" dirty="0"/>
          </a:p>
        </p:txBody>
      </p:sp>
      <p:sp>
        <p:nvSpPr>
          <p:cNvPr id="124" name="Shape 116"/>
          <p:cNvSpPr/>
          <p:nvPr/>
        </p:nvSpPr>
        <p:spPr>
          <a:xfrm>
            <a:off x="3083309" y="4250531"/>
            <a:ext cx="1741094" cy="214313"/>
          </a:xfrm>
          <a:prstGeom prst="rect">
            <a:avLst/>
          </a:prstGeom>
          <a:solidFill>
            <a:srgbClr val="FFF3E0"/>
          </a:solidFill>
          <a:ln w="9144">
            <a:solidFill>
              <a:srgbClr val="F57C00"/>
            </a:solidFill>
            <a:prstDash val="dash"/>
          </a:ln>
        </p:spPr>
      </p:sp>
      <p:sp>
        <p:nvSpPr>
          <p:cNvPr id="125" name="Shape 117"/>
          <p:cNvSpPr/>
          <p:nvPr/>
        </p:nvSpPr>
        <p:spPr>
          <a:xfrm>
            <a:off x="3126172" y="4193381"/>
            <a:ext cx="767953" cy="94655"/>
          </a:xfrm>
          <a:prstGeom prst="rect">
            <a:avLst/>
          </a:prstGeom>
          <a:solidFill>
            <a:srgbClr val="FFFFFF"/>
          </a:solidFill>
          <a:ln w="9144">
            <a:solidFill>
              <a:srgbClr val="F57C00"/>
            </a:solidFill>
            <a:prstDash val="solid"/>
          </a:ln>
        </p:spPr>
      </p:sp>
      <p:sp>
        <p:nvSpPr>
          <p:cNvPr id="126" name="Text 118"/>
          <p:cNvSpPr/>
          <p:nvPr/>
        </p:nvSpPr>
        <p:spPr>
          <a:xfrm>
            <a:off x="3126172" y="4193381"/>
            <a:ext cx="767953" cy="94655"/>
          </a:xfrm>
          <a:prstGeom prst="rect">
            <a:avLst/>
          </a:prstGeom>
          <a:noFill/>
          <a:ln/>
        </p:spPr>
        <p:txBody>
          <a:bodyPr wrap="none" lIns="51054" tIns="0" rIns="51054" bIns="0" rtlCol="0" anchor="t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35" b="1" dirty="0">
                <a:solidFill>
                  <a:srgbClr val="E651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SCOPE: REFERENCES</a:t>
            </a:r>
            <a:endParaRPr lang="en-US" sz="435" dirty="0"/>
          </a:p>
        </p:txBody>
      </p:sp>
      <p:sp>
        <p:nvSpPr>
          <p:cNvPr id="127" name="Shape 119"/>
          <p:cNvSpPr/>
          <p:nvPr/>
        </p:nvSpPr>
        <p:spPr>
          <a:xfrm>
            <a:off x="5750719" y="925116"/>
            <a:ext cx="500063" cy="500063"/>
          </a:xfrm>
          <a:prstGeom prst="ellipse">
            <a:avLst/>
          </a:prstGeom>
          <a:solidFill>
            <a:srgbClr val="FFFFFF"/>
          </a:solidFill>
          <a:ln w="18288">
            <a:solidFill>
              <a:srgbClr val="CCCCCC"/>
            </a:solidFill>
            <a:prstDash val="solid"/>
          </a:ln>
        </p:spPr>
      </p:sp>
      <p:sp>
        <p:nvSpPr>
          <p:cNvPr id="128" name="Text 120"/>
          <p:cNvSpPr/>
          <p:nvPr/>
        </p:nvSpPr>
        <p:spPr>
          <a:xfrm>
            <a:off x="5828407" y="1062633"/>
            <a:ext cx="344686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435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OPENSHIFT</a:t>
            </a:r>
            <a:endParaRPr lang="en-US" sz="435" dirty="0"/>
          </a:p>
        </p:txBody>
      </p:sp>
      <p:sp>
        <p:nvSpPr>
          <p:cNvPr id="129" name="Text 121"/>
          <p:cNvSpPr/>
          <p:nvPr/>
        </p:nvSpPr>
        <p:spPr>
          <a:xfrm>
            <a:off x="5899845" y="1212652"/>
            <a:ext cx="201811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435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(REST)</a:t>
            </a:r>
            <a:endParaRPr lang="en-US" sz="435" dirty="0"/>
          </a:p>
        </p:txBody>
      </p:sp>
      <p:sp>
        <p:nvSpPr>
          <p:cNvPr id="130" name="Shape 122"/>
          <p:cNvSpPr/>
          <p:nvPr/>
        </p:nvSpPr>
        <p:spPr>
          <a:xfrm>
            <a:off x="5750719" y="1710928"/>
            <a:ext cx="500063" cy="500063"/>
          </a:xfrm>
          <a:prstGeom prst="ellipse">
            <a:avLst/>
          </a:prstGeom>
          <a:solidFill>
            <a:srgbClr val="FFFFFF"/>
          </a:solidFill>
          <a:ln w="18288">
            <a:solidFill>
              <a:srgbClr val="CCCCCC"/>
            </a:solidFill>
            <a:prstDash val="solid"/>
          </a:ln>
        </p:spPr>
      </p:sp>
      <p:sp>
        <p:nvSpPr>
          <p:cNvPr id="131" name="Text 123"/>
          <p:cNvSpPr/>
          <p:nvPr/>
        </p:nvSpPr>
        <p:spPr>
          <a:xfrm>
            <a:off x="5881092" y="1848445"/>
            <a:ext cx="239316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435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Connect</a:t>
            </a:r>
            <a:endParaRPr lang="en-US" sz="435" dirty="0"/>
          </a:p>
        </p:txBody>
      </p:sp>
      <p:sp>
        <p:nvSpPr>
          <p:cNvPr id="132" name="Text 124"/>
          <p:cNvSpPr/>
          <p:nvPr/>
        </p:nvSpPr>
        <p:spPr>
          <a:xfrm>
            <a:off x="5915025" y="1998464"/>
            <a:ext cx="171450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435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Direct</a:t>
            </a:r>
            <a:endParaRPr lang="en-US" sz="435" dirty="0"/>
          </a:p>
        </p:txBody>
      </p:sp>
      <p:sp>
        <p:nvSpPr>
          <p:cNvPr id="133" name="Shape 125"/>
          <p:cNvSpPr/>
          <p:nvPr/>
        </p:nvSpPr>
        <p:spPr>
          <a:xfrm>
            <a:off x="7048481" y="925116"/>
            <a:ext cx="1809741" cy="212527"/>
          </a:xfrm>
          <a:prstGeom prst="rect">
            <a:avLst/>
          </a:prstGeom>
          <a:solidFill>
            <a:srgbClr val="FFFFFF"/>
          </a:solidFill>
          <a:ln w="9144">
            <a:solidFill>
              <a:srgbClr val="CCCCCC"/>
            </a:solidFill>
            <a:prstDash val="solid"/>
          </a:ln>
        </p:spPr>
      </p:sp>
      <p:sp>
        <p:nvSpPr>
          <p:cNvPr id="134" name="Text 126"/>
          <p:cNvSpPr/>
          <p:nvPr/>
        </p:nvSpPr>
        <p:spPr>
          <a:xfrm>
            <a:off x="7048481" y="925116"/>
            <a:ext cx="1809741" cy="212527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CitiDirect V3</a:t>
            </a:r>
            <a:endParaRPr lang="en-US" sz="516" dirty="0"/>
          </a:p>
        </p:txBody>
      </p:sp>
      <p:sp>
        <p:nvSpPr>
          <p:cNvPr id="135" name="Shape 127"/>
          <p:cNvSpPr/>
          <p:nvPr/>
        </p:nvSpPr>
        <p:spPr>
          <a:xfrm>
            <a:off x="7048481" y="1230511"/>
            <a:ext cx="1809741" cy="212527"/>
          </a:xfrm>
          <a:prstGeom prst="rect">
            <a:avLst/>
          </a:prstGeom>
          <a:solidFill>
            <a:srgbClr val="FFFFFF"/>
          </a:solidFill>
          <a:ln w="9144">
            <a:solidFill>
              <a:srgbClr val="CCCCCC"/>
            </a:solidFill>
            <a:prstDash val="solid"/>
          </a:ln>
        </p:spPr>
      </p:sp>
      <p:sp>
        <p:nvSpPr>
          <p:cNvPr id="136" name="Text 128"/>
          <p:cNvSpPr/>
          <p:nvPr/>
        </p:nvSpPr>
        <p:spPr>
          <a:xfrm>
            <a:off x="7048481" y="1230511"/>
            <a:ext cx="1809741" cy="212527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Citi Connect Files</a:t>
            </a:r>
            <a:endParaRPr lang="en-US" sz="516" dirty="0"/>
          </a:p>
        </p:txBody>
      </p:sp>
      <p:pic>
        <p:nvPicPr>
          <p:cNvPr id="1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46182" y="1678781"/>
            <a:ext cx="214313" cy="214313"/>
          </a:xfrm>
          <a:prstGeom prst="rect">
            <a:avLst/>
          </a:prstGeom>
        </p:spPr>
      </p:pic>
      <p:sp>
        <p:nvSpPr>
          <p:cNvPr id="138" name="Text 129"/>
          <p:cNvSpPr/>
          <p:nvPr/>
        </p:nvSpPr>
        <p:spPr>
          <a:xfrm>
            <a:off x="7048481" y="1894880"/>
            <a:ext cx="1809741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Citi Client</a:t>
            </a:r>
            <a:endParaRPr lang="en-US" sz="48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14313" y="107156"/>
            <a:ext cx="8715375" cy="29825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14313" y="391120"/>
            <a:ext cx="8715375" cy="14288"/>
          </a:xfrm>
          <a:prstGeom prst="rect">
            <a:avLst/>
          </a:prstGeom>
          <a:solidFill>
            <a:srgbClr val="002F5D"/>
          </a:solidFill>
          <a:ln/>
        </p:spPr>
      </p:sp>
      <p:sp>
        <p:nvSpPr>
          <p:cNvPr id="5" name="Text 2"/>
          <p:cNvSpPr/>
          <p:nvPr/>
        </p:nvSpPr>
        <p:spPr>
          <a:xfrm>
            <a:off x="214313" y="107156"/>
            <a:ext cx="325755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2F5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Couchbase – Target State Data Flow</a:t>
            </a:r>
            <a:endParaRPr lang="en-US" sz="1397" dirty="0"/>
          </a:p>
        </p:txBody>
      </p:sp>
      <p:sp>
        <p:nvSpPr>
          <p:cNvPr id="6" name="Shape 3"/>
          <p:cNvSpPr/>
          <p:nvPr/>
        </p:nvSpPr>
        <p:spPr>
          <a:xfrm>
            <a:off x="8163520" y="219670"/>
            <a:ext cx="766167" cy="135731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7" name="Text 4"/>
          <p:cNvSpPr/>
          <p:nvPr/>
        </p:nvSpPr>
        <p:spPr>
          <a:xfrm>
            <a:off x="8163520" y="219670"/>
            <a:ext cx="766167" cy="135731"/>
          </a:xfrm>
          <a:prstGeom prst="rect">
            <a:avLst/>
          </a:prstGeom>
          <a:noFill/>
          <a:ln/>
        </p:spPr>
        <p:txBody>
          <a:bodyPr wrap="none" lIns="85090" tIns="25527" rIns="85090" bIns="25527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5555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STATUS: TARGET</a:t>
            </a:r>
            <a:endParaRPr lang="en-US" sz="534" dirty="0"/>
          </a:p>
        </p:txBody>
      </p:sp>
      <p:sp>
        <p:nvSpPr>
          <p:cNvPr id="8" name="Shape 5"/>
          <p:cNvSpPr/>
          <p:nvPr/>
        </p:nvSpPr>
        <p:spPr>
          <a:xfrm>
            <a:off x="214313" y="462558"/>
            <a:ext cx="1143000" cy="3911203"/>
          </a:xfrm>
          <a:prstGeom prst="rect">
            <a:avLst/>
          </a:prstGeom>
          <a:solidFill>
            <a:srgbClr val="F9F9F9"/>
          </a:solidFill>
          <a:ln w="9144">
            <a:solidFill>
              <a:srgbClr val="999999"/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578644" y="391120"/>
            <a:ext cx="414338" cy="92869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10" name="Text 7"/>
          <p:cNvSpPr/>
          <p:nvPr/>
        </p:nvSpPr>
        <p:spPr>
          <a:xfrm>
            <a:off x="578644" y="391120"/>
            <a:ext cx="414338" cy="92869"/>
          </a:xfrm>
          <a:prstGeom prst="rect">
            <a:avLst/>
          </a:prstGeom>
          <a:noFill/>
          <a:ln/>
        </p:spPr>
        <p:txBody>
          <a:bodyPr wrap="none" lIns="68072" tIns="0" rIns="68072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SOURCE</a:t>
            </a:r>
            <a:endParaRPr lang="en-US" sz="534" dirty="0"/>
          </a:p>
        </p:txBody>
      </p:sp>
      <p:sp>
        <p:nvSpPr>
          <p:cNvPr id="11" name="Shape 8"/>
          <p:cNvSpPr/>
          <p:nvPr/>
        </p:nvSpPr>
        <p:spPr>
          <a:xfrm>
            <a:off x="271463" y="641152"/>
            <a:ext cx="1028700" cy="235744"/>
          </a:xfrm>
          <a:prstGeom prst="rect">
            <a:avLst/>
          </a:prstGeom>
          <a:solidFill>
            <a:srgbClr val="B2DFDB"/>
          </a:solidFill>
          <a:ln/>
        </p:spPr>
      </p:sp>
      <p:sp>
        <p:nvSpPr>
          <p:cNvPr id="12" name="Text 9"/>
          <p:cNvSpPr/>
          <p:nvPr/>
        </p:nvSpPr>
        <p:spPr>
          <a:xfrm>
            <a:off x="271463" y="641152"/>
            <a:ext cx="1028700" cy="235744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t">
            <a:spAutoFit/>
          </a:bodyPr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435" b="1" dirty="0">
                <a:solidFill>
                  <a:srgbClr val="004D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GIW</a:t>
            </a:r>
            <a:pPr algn="ctr" indent="0" marL="0">
              <a:lnSpc>
                <a:spcPts val="600"/>
              </a:lnSpc>
              <a:buNone/>
            </a:pPr>
            <a:r>
              <a:rPr lang="en-US" sz="435" b="1" dirty="0">
                <a:solidFill>
                  <a:srgbClr val="004D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
</a:t>
            </a:r>
            <a:pPr algn="ctr" indent="0" marL="0">
              <a:lnSpc>
                <a:spcPts val="600"/>
              </a:lnSpc>
              <a:buNone/>
            </a:pPr>
            <a:r>
              <a:rPr lang="en-US" sz="435" b="1" dirty="0">
                <a:solidFill>
                  <a:srgbClr val="004D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Via Golden Gate</a:t>
            </a:r>
            <a:endParaRPr lang="en-US" sz="435" dirty="0"/>
          </a:p>
        </p:txBody>
      </p:sp>
      <p:sp>
        <p:nvSpPr>
          <p:cNvPr id="13" name="Shape 10"/>
          <p:cNvSpPr/>
          <p:nvPr/>
        </p:nvSpPr>
        <p:spPr>
          <a:xfrm>
            <a:off x="271463" y="919758"/>
            <a:ext cx="1028700" cy="235744"/>
          </a:xfrm>
          <a:prstGeom prst="rect">
            <a:avLst/>
          </a:prstGeom>
          <a:solidFill>
            <a:srgbClr val="B2DFDB"/>
          </a:solidFill>
          <a:ln/>
        </p:spPr>
      </p:sp>
      <p:sp>
        <p:nvSpPr>
          <p:cNvPr id="14" name="Text 11"/>
          <p:cNvSpPr/>
          <p:nvPr/>
        </p:nvSpPr>
        <p:spPr>
          <a:xfrm>
            <a:off x="271463" y="919758"/>
            <a:ext cx="1028700" cy="235744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t">
            <a:spAutoFit/>
          </a:bodyPr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435" b="1" dirty="0">
                <a:solidFill>
                  <a:srgbClr val="004D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CitiDirect via</a:t>
            </a:r>
            <a:pPr algn="ctr" indent="0" marL="0">
              <a:lnSpc>
                <a:spcPts val="600"/>
              </a:lnSpc>
              <a:buNone/>
            </a:pPr>
            <a:r>
              <a:rPr lang="en-US" sz="435" b="1" dirty="0">
                <a:solidFill>
                  <a:srgbClr val="004D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
</a:t>
            </a:r>
            <a:pPr algn="ctr" indent="0" marL="0">
              <a:lnSpc>
                <a:spcPts val="600"/>
              </a:lnSpc>
              <a:buNone/>
            </a:pPr>
            <a:r>
              <a:rPr lang="en-US" sz="435" b="1" dirty="0">
                <a:solidFill>
                  <a:srgbClr val="004D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Golden Gate</a:t>
            </a:r>
            <a:endParaRPr lang="en-US" sz="435" dirty="0"/>
          </a:p>
        </p:txBody>
      </p:sp>
      <p:sp>
        <p:nvSpPr>
          <p:cNvPr id="15" name="Shape 12"/>
          <p:cNvSpPr/>
          <p:nvPr/>
        </p:nvSpPr>
        <p:spPr>
          <a:xfrm>
            <a:off x="271463" y="1198364"/>
            <a:ext cx="1028700" cy="160734"/>
          </a:xfrm>
          <a:prstGeom prst="rect">
            <a:avLst/>
          </a:prstGeom>
          <a:solidFill>
            <a:srgbClr val="009688"/>
          </a:solidFill>
          <a:ln/>
        </p:spPr>
      </p:sp>
      <p:sp>
        <p:nvSpPr>
          <p:cNvPr id="16" name="Text 13"/>
          <p:cNvSpPr/>
          <p:nvPr/>
        </p:nvSpPr>
        <p:spPr>
          <a:xfrm>
            <a:off x="271463" y="1198364"/>
            <a:ext cx="1028700" cy="160734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t">
            <a:spAutoFit/>
          </a:bodyPr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435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Payments CDM</a:t>
            </a:r>
            <a:endParaRPr lang="en-US" sz="435" dirty="0"/>
          </a:p>
        </p:txBody>
      </p:sp>
      <p:sp>
        <p:nvSpPr>
          <p:cNvPr id="17" name="Shape 14"/>
          <p:cNvSpPr/>
          <p:nvPr/>
        </p:nvSpPr>
        <p:spPr>
          <a:xfrm>
            <a:off x="271463" y="1401961"/>
            <a:ext cx="1028700" cy="235744"/>
          </a:xfrm>
          <a:prstGeom prst="rect">
            <a:avLst/>
          </a:prstGeom>
          <a:solidFill>
            <a:srgbClr val="009688"/>
          </a:solidFill>
          <a:ln/>
        </p:spPr>
      </p:sp>
      <p:sp>
        <p:nvSpPr>
          <p:cNvPr id="18" name="Text 15"/>
          <p:cNvSpPr/>
          <p:nvPr/>
        </p:nvSpPr>
        <p:spPr>
          <a:xfrm>
            <a:off x="271463" y="1401961"/>
            <a:ext cx="1028700" cy="235744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t">
            <a:spAutoFit/>
          </a:bodyPr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435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CPI</a:t>
            </a:r>
            <a:pPr algn="ctr" indent="0" marL="0">
              <a:lnSpc>
                <a:spcPts val="600"/>
              </a:lnSpc>
              <a:buNone/>
            </a:pPr>
            <a:r>
              <a:rPr lang="en-US" sz="435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
</a:t>
            </a:r>
            <a:pPr algn="ctr" indent="0" marL="0">
              <a:lnSpc>
                <a:spcPts val="600"/>
              </a:lnSpc>
              <a:buNone/>
            </a:pPr>
            <a:r>
              <a:rPr lang="en-US" sz="435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Audit Status</a:t>
            </a:r>
            <a:endParaRPr lang="en-US" sz="435" dirty="0"/>
          </a:p>
        </p:txBody>
      </p:sp>
      <p:sp>
        <p:nvSpPr>
          <p:cNvPr id="19" name="Shape 16"/>
          <p:cNvSpPr/>
          <p:nvPr/>
        </p:nvSpPr>
        <p:spPr>
          <a:xfrm>
            <a:off x="271463" y="1680567"/>
            <a:ext cx="1028700" cy="160734"/>
          </a:xfrm>
          <a:prstGeom prst="rect">
            <a:avLst/>
          </a:prstGeom>
          <a:solidFill>
            <a:srgbClr val="009688"/>
          </a:solidFill>
          <a:ln/>
        </p:spPr>
      </p:sp>
      <p:sp>
        <p:nvSpPr>
          <p:cNvPr id="20" name="Text 17"/>
          <p:cNvSpPr/>
          <p:nvPr/>
        </p:nvSpPr>
        <p:spPr>
          <a:xfrm>
            <a:off x="271463" y="1680567"/>
            <a:ext cx="1028700" cy="160734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t">
            <a:spAutoFit/>
          </a:bodyPr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435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TRIMS</a:t>
            </a:r>
            <a:endParaRPr lang="en-US" sz="435" dirty="0"/>
          </a:p>
        </p:txBody>
      </p:sp>
      <p:sp>
        <p:nvSpPr>
          <p:cNvPr id="21" name="Shape 18"/>
          <p:cNvSpPr/>
          <p:nvPr/>
        </p:nvSpPr>
        <p:spPr>
          <a:xfrm>
            <a:off x="271463" y="1884164"/>
            <a:ext cx="1028700" cy="235744"/>
          </a:xfrm>
          <a:prstGeom prst="rect">
            <a:avLst/>
          </a:prstGeom>
          <a:solidFill>
            <a:srgbClr val="009688"/>
          </a:solidFill>
          <a:ln/>
        </p:spPr>
      </p:sp>
      <p:sp>
        <p:nvSpPr>
          <p:cNvPr id="22" name="Text 19"/>
          <p:cNvSpPr/>
          <p:nvPr/>
        </p:nvSpPr>
        <p:spPr>
          <a:xfrm>
            <a:off x="271463" y="1884164"/>
            <a:ext cx="1028700" cy="235744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t">
            <a:spAutoFit/>
          </a:bodyPr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435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MongoDB</a:t>
            </a:r>
            <a:pPr algn="ctr" indent="0" marL="0">
              <a:lnSpc>
                <a:spcPts val="600"/>
              </a:lnSpc>
              <a:buNone/>
            </a:pPr>
            <a:r>
              <a:rPr lang="en-US" sz="435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
</a:t>
            </a:r>
            <a:pPr algn="ctr" indent="0" marL="0">
              <a:lnSpc>
                <a:spcPts val="600"/>
              </a:lnSpc>
              <a:buNone/>
            </a:pPr>
            <a:r>
              <a:rPr lang="en-US" sz="435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Payment Init</a:t>
            </a:r>
            <a:endParaRPr lang="en-US" sz="435" dirty="0"/>
          </a:p>
        </p:txBody>
      </p:sp>
      <p:sp>
        <p:nvSpPr>
          <p:cNvPr id="23" name="Shape 20"/>
          <p:cNvSpPr/>
          <p:nvPr/>
        </p:nvSpPr>
        <p:spPr>
          <a:xfrm>
            <a:off x="271463" y="2162770"/>
            <a:ext cx="1028700" cy="160734"/>
          </a:xfrm>
          <a:prstGeom prst="rect">
            <a:avLst/>
          </a:prstGeom>
          <a:solidFill>
            <a:srgbClr val="009688"/>
          </a:solidFill>
          <a:ln/>
        </p:spPr>
      </p:sp>
      <p:sp>
        <p:nvSpPr>
          <p:cNvPr id="24" name="Text 21"/>
          <p:cNvSpPr/>
          <p:nvPr/>
        </p:nvSpPr>
        <p:spPr>
          <a:xfrm>
            <a:off x="271463" y="2162770"/>
            <a:ext cx="1028700" cy="160734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t">
            <a:spAutoFit/>
          </a:bodyPr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435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GBNP</a:t>
            </a:r>
            <a:endParaRPr lang="en-US" sz="435" dirty="0"/>
          </a:p>
        </p:txBody>
      </p:sp>
      <p:sp>
        <p:nvSpPr>
          <p:cNvPr id="25" name="Shape 22"/>
          <p:cNvSpPr/>
          <p:nvPr/>
        </p:nvSpPr>
        <p:spPr>
          <a:xfrm>
            <a:off x="271463" y="2366367"/>
            <a:ext cx="1028700" cy="160734"/>
          </a:xfrm>
          <a:prstGeom prst="rect">
            <a:avLst/>
          </a:prstGeom>
          <a:solidFill>
            <a:srgbClr val="009688"/>
          </a:solidFill>
          <a:ln/>
        </p:spPr>
      </p:sp>
      <p:sp>
        <p:nvSpPr>
          <p:cNvPr id="26" name="Text 23"/>
          <p:cNvSpPr/>
          <p:nvPr/>
        </p:nvSpPr>
        <p:spPr>
          <a:xfrm>
            <a:off x="271463" y="2366367"/>
            <a:ext cx="1028700" cy="160734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t">
            <a:spAutoFit/>
          </a:bodyPr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435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TRIMS CDM</a:t>
            </a:r>
            <a:endParaRPr lang="en-US" sz="435" dirty="0"/>
          </a:p>
        </p:txBody>
      </p:sp>
      <p:sp>
        <p:nvSpPr>
          <p:cNvPr id="27" name="Shape 24"/>
          <p:cNvSpPr/>
          <p:nvPr/>
        </p:nvSpPr>
        <p:spPr>
          <a:xfrm>
            <a:off x="271463" y="2569964"/>
            <a:ext cx="1028700" cy="160734"/>
          </a:xfrm>
          <a:prstGeom prst="rect">
            <a:avLst/>
          </a:prstGeom>
          <a:solidFill>
            <a:srgbClr val="009688"/>
          </a:solidFill>
          <a:ln/>
        </p:spPr>
      </p:sp>
      <p:sp>
        <p:nvSpPr>
          <p:cNvPr id="28" name="Text 25"/>
          <p:cNvSpPr/>
          <p:nvPr/>
        </p:nvSpPr>
        <p:spPr>
          <a:xfrm>
            <a:off x="271463" y="2569964"/>
            <a:ext cx="1028700" cy="160734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t">
            <a:spAutoFit/>
          </a:bodyPr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435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TOAS CDM</a:t>
            </a:r>
            <a:endParaRPr lang="en-US" sz="435" dirty="0"/>
          </a:p>
        </p:txBody>
      </p:sp>
      <p:sp>
        <p:nvSpPr>
          <p:cNvPr id="29" name="Shape 26"/>
          <p:cNvSpPr/>
          <p:nvPr/>
        </p:nvSpPr>
        <p:spPr>
          <a:xfrm>
            <a:off x="1464469" y="462558"/>
            <a:ext cx="5536406" cy="3911203"/>
          </a:xfrm>
          <a:prstGeom prst="rect">
            <a:avLst/>
          </a:prstGeom>
          <a:solidFill>
            <a:srgbClr val="FFEBEE"/>
          </a:solidFill>
          <a:ln w="18288">
            <a:solidFill>
              <a:srgbClr val="D32F2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607344" y="376833"/>
            <a:ext cx="817959" cy="121444"/>
          </a:xfrm>
          <a:prstGeom prst="roundRect">
            <a:avLst/>
          </a:prstGeom>
          <a:solidFill>
            <a:srgbClr val="D32F2F"/>
          </a:solidFill>
          <a:ln/>
        </p:spPr>
      </p:sp>
      <p:sp>
        <p:nvSpPr>
          <p:cNvPr id="31" name="Text 28"/>
          <p:cNvSpPr/>
          <p:nvPr/>
        </p:nvSpPr>
        <p:spPr>
          <a:xfrm>
            <a:off x="1607344" y="376833"/>
            <a:ext cx="817959" cy="121444"/>
          </a:xfrm>
          <a:prstGeom prst="rect">
            <a:avLst/>
          </a:prstGeom>
          <a:noFill/>
          <a:ln/>
        </p:spPr>
        <p:txBody>
          <a:bodyPr wrap="none" lIns="85090" tIns="17018" rIns="85090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Couchbase Cluster</a:t>
            </a:r>
            <a:endParaRPr lang="en-US" sz="534" dirty="0"/>
          </a:p>
        </p:txBody>
      </p:sp>
      <p:sp>
        <p:nvSpPr>
          <p:cNvPr id="32" name="Shape 29"/>
          <p:cNvSpPr/>
          <p:nvPr/>
        </p:nvSpPr>
        <p:spPr>
          <a:xfrm>
            <a:off x="1535906" y="641152"/>
            <a:ext cx="3233272" cy="2196703"/>
          </a:xfrm>
          <a:prstGeom prst="rect">
            <a:avLst/>
          </a:prstGeom>
          <a:solidFill>
            <a:srgbClr val="E3F2FD"/>
          </a:solidFill>
          <a:ln w="18288">
            <a:solidFill>
              <a:srgbClr val="1976D2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571625" y="584002"/>
            <a:ext cx="591145" cy="89297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34" name="Text 31"/>
          <p:cNvSpPr/>
          <p:nvPr/>
        </p:nvSpPr>
        <p:spPr>
          <a:xfrm>
            <a:off x="1571625" y="584002"/>
            <a:ext cx="591145" cy="89297"/>
          </a:xfrm>
          <a:prstGeom prst="rect">
            <a:avLst/>
          </a:prstGeom>
          <a:noFill/>
          <a:ln/>
        </p:spPr>
        <p:txBody>
          <a:bodyPr wrap="none" lIns="51054" tIns="8509" rIns="51054" bIns="8509" rtlCol="0" anchor="t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35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BUCKET: NGRAW</a:t>
            </a:r>
            <a:endParaRPr lang="en-US" sz="435" dirty="0"/>
          </a:p>
        </p:txBody>
      </p:sp>
      <p:sp>
        <p:nvSpPr>
          <p:cNvPr id="35" name="Shape 32"/>
          <p:cNvSpPr/>
          <p:nvPr/>
        </p:nvSpPr>
        <p:spPr>
          <a:xfrm>
            <a:off x="1571625" y="748308"/>
            <a:ext cx="3150394" cy="221456"/>
          </a:xfrm>
          <a:prstGeom prst="rect">
            <a:avLst/>
          </a:prstGeom>
          <a:solidFill>
            <a:srgbClr val="FFF3E0"/>
          </a:solidFill>
          <a:ln w="9144">
            <a:solidFill>
              <a:srgbClr val="F57C00"/>
            </a:solidFill>
            <a:prstDash val="dash"/>
          </a:ln>
        </p:spPr>
      </p:sp>
      <p:sp>
        <p:nvSpPr>
          <p:cNvPr id="36" name="Shape 33"/>
          <p:cNvSpPr/>
          <p:nvPr/>
        </p:nvSpPr>
        <p:spPr>
          <a:xfrm>
            <a:off x="1600200" y="705445"/>
            <a:ext cx="491133" cy="82153"/>
          </a:xfrm>
          <a:prstGeom prst="rect">
            <a:avLst/>
          </a:prstGeom>
          <a:solidFill>
            <a:srgbClr val="FFFFFF"/>
          </a:solidFill>
          <a:ln w="9144">
            <a:solidFill>
              <a:srgbClr val="F57C0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600200" y="705445"/>
            <a:ext cx="491133" cy="82153"/>
          </a:xfrm>
          <a:prstGeom prst="rect">
            <a:avLst/>
          </a:prstGeom>
          <a:noFill/>
          <a:ln/>
        </p:spPr>
        <p:txBody>
          <a:bodyPr wrap="none" lIns="34036" tIns="0" rIns="34036" bIns="0" rtlCol="0" anchor="t">
            <a:spAutoFit/>
          </a:bodyPr>
          <a:lstStyle/>
          <a:p>
            <a:pPr algn="l" indent="0" marL="0">
              <a:lnSpc>
                <a:spcPts val="500"/>
              </a:lnSpc>
              <a:buNone/>
            </a:pPr>
            <a:r>
              <a:rPr lang="en-US" sz="386" b="1" dirty="0">
                <a:solidFill>
                  <a:srgbClr val="E651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Scope: CD FACT</a:t>
            </a:r>
            <a:endParaRPr lang="en-US" sz="386" dirty="0"/>
          </a:p>
        </p:txBody>
      </p:sp>
      <p:sp>
        <p:nvSpPr>
          <p:cNvPr id="38" name="Shape 35"/>
          <p:cNvSpPr/>
          <p:nvPr/>
        </p:nvSpPr>
        <p:spPr>
          <a:xfrm>
            <a:off x="1593056" y="834033"/>
            <a:ext cx="1560016" cy="100013"/>
          </a:xfrm>
          <a:prstGeom prst="rect">
            <a:avLst/>
          </a:prstGeom>
          <a:solidFill>
            <a:srgbClr val="FFFFFF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1593056" y="834033"/>
            <a:ext cx="1560016" cy="100013"/>
          </a:xfrm>
          <a:prstGeom prst="rect">
            <a:avLst/>
          </a:prstGeom>
          <a:noFill/>
          <a:ln/>
        </p:spPr>
        <p:txBody>
          <a:bodyPr wrap="none" lIns="25527" tIns="8509" rIns="25527" bIns="8509" rtlCol="0" anchor="t">
            <a:spAutoFit/>
          </a:bodyPr>
          <a:lstStyle/>
          <a:p>
            <a:pPr algn="ctr" indent="0" marL="0">
              <a:lnSpc>
                <a:spcPts val="500"/>
              </a:lnSpc>
              <a:buNone/>
            </a:pPr>
            <a:r>
              <a:rPr lang="en-US" sz="411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PTPN</a:t>
            </a:r>
            <a:endParaRPr lang="en-US" sz="411" dirty="0"/>
          </a:p>
        </p:txBody>
      </p:sp>
      <p:sp>
        <p:nvSpPr>
          <p:cNvPr id="40" name="Shape 37"/>
          <p:cNvSpPr/>
          <p:nvPr/>
        </p:nvSpPr>
        <p:spPr>
          <a:xfrm>
            <a:off x="3167360" y="834033"/>
            <a:ext cx="1533227" cy="100013"/>
          </a:xfrm>
          <a:prstGeom prst="rect">
            <a:avLst/>
          </a:prstGeom>
          <a:solidFill>
            <a:srgbClr val="FFFFFF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3167360" y="834033"/>
            <a:ext cx="1533227" cy="100013"/>
          </a:xfrm>
          <a:prstGeom prst="rect">
            <a:avLst/>
          </a:prstGeom>
          <a:noFill/>
          <a:ln/>
        </p:spPr>
        <p:txBody>
          <a:bodyPr wrap="none" lIns="25527" tIns="8509" rIns="25527" bIns="8509" rtlCol="0" anchor="t">
            <a:spAutoFit/>
          </a:bodyPr>
          <a:lstStyle/>
          <a:p>
            <a:pPr algn="ctr" indent="0" marL="0">
              <a:lnSpc>
                <a:spcPts val="500"/>
              </a:lnSpc>
              <a:buNone/>
            </a:pPr>
            <a:r>
              <a:rPr lang="en-US" sz="411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FIF</a:t>
            </a:r>
            <a:endParaRPr lang="en-US" sz="411" dirty="0"/>
          </a:p>
        </p:txBody>
      </p:sp>
      <p:sp>
        <p:nvSpPr>
          <p:cNvPr id="42" name="Shape 39"/>
          <p:cNvSpPr/>
          <p:nvPr/>
        </p:nvSpPr>
        <p:spPr>
          <a:xfrm>
            <a:off x="1571625" y="969764"/>
            <a:ext cx="3150394" cy="221456"/>
          </a:xfrm>
          <a:prstGeom prst="rect">
            <a:avLst/>
          </a:prstGeom>
          <a:solidFill>
            <a:srgbClr val="FFF3E0"/>
          </a:solidFill>
          <a:ln w="9144">
            <a:solidFill>
              <a:srgbClr val="F57C00"/>
            </a:solidFill>
            <a:prstDash val="dash"/>
          </a:ln>
        </p:spPr>
      </p:sp>
      <p:sp>
        <p:nvSpPr>
          <p:cNvPr id="43" name="Shape 40"/>
          <p:cNvSpPr/>
          <p:nvPr/>
        </p:nvSpPr>
        <p:spPr>
          <a:xfrm>
            <a:off x="1600200" y="926902"/>
            <a:ext cx="455414" cy="82153"/>
          </a:xfrm>
          <a:prstGeom prst="rect">
            <a:avLst/>
          </a:prstGeom>
          <a:solidFill>
            <a:srgbClr val="FFFFFF"/>
          </a:solidFill>
          <a:ln w="9144">
            <a:solidFill>
              <a:srgbClr val="F57C0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600200" y="926902"/>
            <a:ext cx="455414" cy="82153"/>
          </a:xfrm>
          <a:prstGeom prst="rect">
            <a:avLst/>
          </a:prstGeom>
          <a:noFill/>
          <a:ln/>
        </p:spPr>
        <p:txBody>
          <a:bodyPr wrap="none" lIns="34036" tIns="0" rIns="34036" bIns="0" rtlCol="0" anchor="t">
            <a:spAutoFit/>
          </a:bodyPr>
          <a:lstStyle/>
          <a:p>
            <a:pPr algn="l" indent="0" marL="0">
              <a:lnSpc>
                <a:spcPts val="500"/>
              </a:lnSpc>
              <a:buNone/>
            </a:pPr>
            <a:r>
              <a:rPr lang="en-US" sz="386" b="1" dirty="0">
                <a:solidFill>
                  <a:srgbClr val="E651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Scope: CD DIM</a:t>
            </a:r>
            <a:endParaRPr lang="en-US" sz="386" dirty="0"/>
          </a:p>
        </p:txBody>
      </p:sp>
      <p:sp>
        <p:nvSpPr>
          <p:cNvPr id="45" name="Shape 42"/>
          <p:cNvSpPr/>
          <p:nvPr/>
        </p:nvSpPr>
        <p:spPr>
          <a:xfrm>
            <a:off x="1593056" y="1055489"/>
            <a:ext cx="976322" cy="100013"/>
          </a:xfrm>
          <a:prstGeom prst="rect">
            <a:avLst/>
          </a:prstGeom>
          <a:solidFill>
            <a:srgbClr val="FFFFFF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1593056" y="1055489"/>
            <a:ext cx="976322" cy="100013"/>
          </a:xfrm>
          <a:prstGeom prst="rect">
            <a:avLst/>
          </a:prstGeom>
          <a:noFill/>
          <a:ln/>
        </p:spPr>
        <p:txBody>
          <a:bodyPr wrap="none" lIns="25527" tIns="8509" rIns="25527" bIns="8509" rtlCol="0" anchor="t">
            <a:spAutoFit/>
          </a:bodyPr>
          <a:lstStyle/>
          <a:p>
            <a:pPr algn="ctr" indent="0" marL="0">
              <a:lnSpc>
                <a:spcPts val="500"/>
              </a:lnSpc>
              <a:buNone/>
            </a:pPr>
            <a:r>
              <a:rPr lang="en-US" sz="411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PARTY</a:t>
            </a:r>
            <a:endParaRPr lang="en-US" sz="411" dirty="0"/>
          </a:p>
        </p:txBody>
      </p:sp>
      <p:sp>
        <p:nvSpPr>
          <p:cNvPr id="47" name="Shape 44"/>
          <p:cNvSpPr/>
          <p:nvPr/>
        </p:nvSpPr>
        <p:spPr>
          <a:xfrm>
            <a:off x="2581266" y="1055489"/>
            <a:ext cx="1048931" cy="100013"/>
          </a:xfrm>
          <a:prstGeom prst="rect">
            <a:avLst/>
          </a:prstGeom>
          <a:solidFill>
            <a:srgbClr val="FFFFFF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2581266" y="1055489"/>
            <a:ext cx="1048931" cy="100013"/>
          </a:xfrm>
          <a:prstGeom prst="rect">
            <a:avLst/>
          </a:prstGeom>
          <a:noFill/>
          <a:ln/>
        </p:spPr>
        <p:txBody>
          <a:bodyPr wrap="none" lIns="25527" tIns="8509" rIns="25527" bIns="8509" rtlCol="0" anchor="t">
            <a:spAutoFit/>
          </a:bodyPr>
          <a:lstStyle/>
          <a:p>
            <a:pPr algn="ctr" indent="0" marL="0">
              <a:lnSpc>
                <a:spcPts val="500"/>
              </a:lnSpc>
              <a:buNone/>
            </a:pPr>
            <a:r>
              <a:rPr lang="en-US" sz="411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ACCOUNT</a:t>
            </a:r>
            <a:endParaRPr lang="en-US" sz="411" dirty="0"/>
          </a:p>
        </p:txBody>
      </p:sp>
      <p:sp>
        <p:nvSpPr>
          <p:cNvPr id="49" name="Shape 46"/>
          <p:cNvSpPr/>
          <p:nvPr/>
        </p:nvSpPr>
        <p:spPr>
          <a:xfrm>
            <a:off x="3646884" y="1055489"/>
            <a:ext cx="1053703" cy="100013"/>
          </a:xfrm>
          <a:prstGeom prst="rect">
            <a:avLst/>
          </a:prstGeom>
          <a:solidFill>
            <a:srgbClr val="FFFFFF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3646884" y="1055489"/>
            <a:ext cx="1053703" cy="100013"/>
          </a:xfrm>
          <a:prstGeom prst="rect">
            <a:avLst/>
          </a:prstGeom>
          <a:noFill/>
          <a:ln/>
        </p:spPr>
        <p:txBody>
          <a:bodyPr wrap="none" lIns="25527" tIns="8509" rIns="25527" bIns="8509" rtlCol="0" anchor="t">
            <a:spAutoFit/>
          </a:bodyPr>
          <a:lstStyle/>
          <a:p>
            <a:pPr algn="ctr" indent="0" marL="0">
              <a:lnSpc>
                <a:spcPts val="500"/>
              </a:lnSpc>
              <a:buNone/>
            </a:pPr>
            <a:r>
              <a:rPr lang="en-US" sz="411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USR_TBL</a:t>
            </a:r>
            <a:endParaRPr lang="en-US" sz="411" dirty="0"/>
          </a:p>
        </p:txBody>
      </p:sp>
      <p:sp>
        <p:nvSpPr>
          <p:cNvPr id="51" name="Shape 48"/>
          <p:cNvSpPr/>
          <p:nvPr/>
        </p:nvSpPr>
        <p:spPr>
          <a:xfrm>
            <a:off x="1571625" y="1191220"/>
            <a:ext cx="3150394" cy="221456"/>
          </a:xfrm>
          <a:prstGeom prst="rect">
            <a:avLst/>
          </a:prstGeom>
          <a:solidFill>
            <a:srgbClr val="FFF3E0"/>
          </a:solidFill>
          <a:ln w="9144">
            <a:solidFill>
              <a:srgbClr val="F57C00"/>
            </a:solidFill>
            <a:prstDash val="dash"/>
          </a:ln>
        </p:spPr>
      </p:sp>
      <p:sp>
        <p:nvSpPr>
          <p:cNvPr id="52" name="Shape 49"/>
          <p:cNvSpPr/>
          <p:nvPr/>
        </p:nvSpPr>
        <p:spPr>
          <a:xfrm>
            <a:off x="1600200" y="1148358"/>
            <a:ext cx="453628" cy="82153"/>
          </a:xfrm>
          <a:prstGeom prst="rect">
            <a:avLst/>
          </a:prstGeom>
          <a:solidFill>
            <a:srgbClr val="FFFFFF"/>
          </a:solidFill>
          <a:ln w="9144">
            <a:solidFill>
              <a:srgbClr val="F57C00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1600200" y="1148358"/>
            <a:ext cx="453628" cy="82153"/>
          </a:xfrm>
          <a:prstGeom prst="rect">
            <a:avLst/>
          </a:prstGeom>
          <a:noFill/>
          <a:ln/>
        </p:spPr>
        <p:txBody>
          <a:bodyPr wrap="none" lIns="34036" tIns="0" rIns="34036" bIns="0" rtlCol="0" anchor="t">
            <a:spAutoFit/>
          </a:bodyPr>
          <a:lstStyle/>
          <a:p>
            <a:pPr algn="l" indent="0" marL="0">
              <a:lnSpc>
                <a:spcPts val="500"/>
              </a:lnSpc>
              <a:buNone/>
            </a:pPr>
            <a:r>
              <a:rPr lang="en-US" sz="386" b="1" dirty="0">
                <a:solidFill>
                  <a:srgbClr val="E651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Scope: CD REF</a:t>
            </a:r>
            <a:endParaRPr lang="en-US" sz="386" dirty="0"/>
          </a:p>
        </p:txBody>
      </p:sp>
      <p:sp>
        <p:nvSpPr>
          <p:cNvPr id="54" name="Shape 51"/>
          <p:cNvSpPr/>
          <p:nvPr/>
        </p:nvSpPr>
        <p:spPr>
          <a:xfrm>
            <a:off x="1593056" y="1276945"/>
            <a:ext cx="964992" cy="100013"/>
          </a:xfrm>
          <a:prstGeom prst="rect">
            <a:avLst/>
          </a:prstGeom>
          <a:solidFill>
            <a:srgbClr val="FFFFFF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1593056" y="1276945"/>
            <a:ext cx="964992" cy="100013"/>
          </a:xfrm>
          <a:prstGeom prst="rect">
            <a:avLst/>
          </a:prstGeom>
          <a:noFill/>
          <a:ln/>
        </p:spPr>
        <p:txBody>
          <a:bodyPr wrap="none" lIns="25527" tIns="8509" rIns="25527" bIns="8509" rtlCol="0" anchor="t">
            <a:spAutoFit/>
          </a:bodyPr>
          <a:lstStyle/>
          <a:p>
            <a:pPr algn="ctr" indent="0" marL="0">
              <a:lnSpc>
                <a:spcPts val="500"/>
              </a:lnSpc>
              <a:buNone/>
            </a:pPr>
            <a:r>
              <a:rPr lang="en-US" sz="411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Curr</a:t>
            </a:r>
            <a:endParaRPr lang="en-US" sz="411" dirty="0"/>
          </a:p>
        </p:txBody>
      </p:sp>
      <p:sp>
        <p:nvSpPr>
          <p:cNvPr id="56" name="Shape 53"/>
          <p:cNvSpPr/>
          <p:nvPr/>
        </p:nvSpPr>
        <p:spPr>
          <a:xfrm>
            <a:off x="2569964" y="1276945"/>
            <a:ext cx="1003697" cy="100013"/>
          </a:xfrm>
          <a:prstGeom prst="rect">
            <a:avLst/>
          </a:prstGeom>
          <a:solidFill>
            <a:srgbClr val="FFFFFF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2569964" y="1276945"/>
            <a:ext cx="1003697" cy="100013"/>
          </a:xfrm>
          <a:prstGeom prst="rect">
            <a:avLst/>
          </a:prstGeom>
          <a:noFill/>
          <a:ln/>
        </p:spPr>
        <p:txBody>
          <a:bodyPr wrap="none" lIns="25527" tIns="8509" rIns="25527" bIns="8509" rtlCol="0" anchor="t">
            <a:spAutoFit/>
          </a:bodyPr>
          <a:lstStyle/>
          <a:p>
            <a:pPr algn="ctr" indent="0" marL="0">
              <a:lnSpc>
                <a:spcPts val="500"/>
              </a:lnSpc>
              <a:buNone/>
            </a:pPr>
            <a:r>
              <a:rPr lang="en-US" sz="411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cntry</a:t>
            </a:r>
            <a:endParaRPr lang="en-US" sz="411" dirty="0"/>
          </a:p>
        </p:txBody>
      </p:sp>
      <p:sp>
        <p:nvSpPr>
          <p:cNvPr id="58" name="Shape 55"/>
          <p:cNvSpPr/>
          <p:nvPr/>
        </p:nvSpPr>
        <p:spPr>
          <a:xfrm>
            <a:off x="3590348" y="1276945"/>
            <a:ext cx="1110267" cy="100013"/>
          </a:xfrm>
          <a:prstGeom prst="rect">
            <a:avLst/>
          </a:prstGeom>
          <a:solidFill>
            <a:srgbClr val="FFFFFF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3590348" y="1276945"/>
            <a:ext cx="1110267" cy="100013"/>
          </a:xfrm>
          <a:prstGeom prst="rect">
            <a:avLst/>
          </a:prstGeom>
          <a:noFill/>
          <a:ln/>
        </p:spPr>
        <p:txBody>
          <a:bodyPr wrap="none" lIns="25527" tIns="8509" rIns="25527" bIns="8509" rtlCol="0" anchor="t">
            <a:spAutoFit/>
          </a:bodyPr>
          <a:lstStyle/>
          <a:p>
            <a:pPr algn="ctr" indent="0" marL="0">
              <a:lnSpc>
                <a:spcPts val="500"/>
              </a:lnSpc>
              <a:buNone/>
            </a:pPr>
            <a:r>
              <a:rPr lang="en-US" sz="411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pay_type</a:t>
            </a:r>
            <a:endParaRPr lang="en-US" sz="411" dirty="0"/>
          </a:p>
        </p:txBody>
      </p:sp>
      <p:sp>
        <p:nvSpPr>
          <p:cNvPr id="60" name="Shape 57"/>
          <p:cNvSpPr/>
          <p:nvPr/>
        </p:nvSpPr>
        <p:spPr>
          <a:xfrm>
            <a:off x="1571625" y="1412677"/>
            <a:ext cx="3150394" cy="221456"/>
          </a:xfrm>
          <a:prstGeom prst="rect">
            <a:avLst/>
          </a:prstGeom>
          <a:solidFill>
            <a:srgbClr val="FFF3E0"/>
          </a:solidFill>
          <a:ln w="9144">
            <a:solidFill>
              <a:srgbClr val="F57C00"/>
            </a:solidFill>
            <a:prstDash val="dash"/>
          </a:ln>
        </p:spPr>
      </p:sp>
      <p:sp>
        <p:nvSpPr>
          <p:cNvPr id="61" name="Shape 58"/>
          <p:cNvSpPr/>
          <p:nvPr/>
        </p:nvSpPr>
        <p:spPr>
          <a:xfrm>
            <a:off x="1600200" y="1369814"/>
            <a:ext cx="501848" cy="82153"/>
          </a:xfrm>
          <a:prstGeom prst="rect">
            <a:avLst/>
          </a:prstGeom>
          <a:solidFill>
            <a:srgbClr val="FFFFFF"/>
          </a:solidFill>
          <a:ln w="9144">
            <a:solidFill>
              <a:srgbClr val="F57C00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1600200" y="1369814"/>
            <a:ext cx="501848" cy="82153"/>
          </a:xfrm>
          <a:prstGeom prst="rect">
            <a:avLst/>
          </a:prstGeom>
          <a:noFill/>
          <a:ln/>
        </p:spPr>
        <p:txBody>
          <a:bodyPr wrap="none" lIns="34036" tIns="0" rIns="34036" bIns="0" rtlCol="0" anchor="t">
            <a:spAutoFit/>
          </a:bodyPr>
          <a:lstStyle/>
          <a:p>
            <a:pPr algn="l" indent="0" marL="0">
              <a:lnSpc>
                <a:spcPts val="500"/>
              </a:lnSpc>
              <a:buNone/>
            </a:pPr>
            <a:r>
              <a:rPr lang="en-US" sz="386" b="1" dirty="0">
                <a:solidFill>
                  <a:srgbClr val="E651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Scope: LIQ FACT</a:t>
            </a:r>
            <a:endParaRPr lang="en-US" sz="386" dirty="0"/>
          </a:p>
        </p:txBody>
      </p:sp>
      <p:sp>
        <p:nvSpPr>
          <p:cNvPr id="63" name="Shape 60"/>
          <p:cNvSpPr/>
          <p:nvPr/>
        </p:nvSpPr>
        <p:spPr>
          <a:xfrm>
            <a:off x="1593056" y="1498402"/>
            <a:ext cx="3107531" cy="100013"/>
          </a:xfrm>
          <a:prstGeom prst="rect">
            <a:avLst/>
          </a:prstGeom>
          <a:solidFill>
            <a:srgbClr val="FFFFFF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1593056" y="1498402"/>
            <a:ext cx="3107531" cy="100013"/>
          </a:xfrm>
          <a:prstGeom prst="rect">
            <a:avLst/>
          </a:prstGeom>
          <a:noFill/>
          <a:ln/>
        </p:spPr>
        <p:txBody>
          <a:bodyPr wrap="none" lIns="25527" tIns="8509" rIns="25527" bIns="8509" rtlCol="0" anchor="t">
            <a:spAutoFit/>
          </a:bodyPr>
          <a:lstStyle/>
          <a:p>
            <a:pPr algn="ctr" indent="0" marL="0">
              <a:lnSpc>
                <a:spcPts val="500"/>
              </a:lnSpc>
              <a:buNone/>
            </a:pPr>
            <a:r>
              <a:rPr lang="en-US" sz="411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GCE</a:t>
            </a:r>
            <a:endParaRPr lang="en-US" sz="411" dirty="0"/>
          </a:p>
        </p:txBody>
      </p:sp>
      <p:sp>
        <p:nvSpPr>
          <p:cNvPr id="65" name="Shape 62"/>
          <p:cNvSpPr/>
          <p:nvPr/>
        </p:nvSpPr>
        <p:spPr>
          <a:xfrm>
            <a:off x="1571625" y="1634133"/>
            <a:ext cx="3150394" cy="221456"/>
          </a:xfrm>
          <a:prstGeom prst="rect">
            <a:avLst/>
          </a:prstGeom>
          <a:solidFill>
            <a:srgbClr val="FFF3E0"/>
          </a:solidFill>
          <a:ln w="9144">
            <a:solidFill>
              <a:srgbClr val="F57C00"/>
            </a:solidFill>
            <a:prstDash val="dash"/>
          </a:ln>
        </p:spPr>
      </p:sp>
      <p:sp>
        <p:nvSpPr>
          <p:cNvPr id="66" name="Shape 63"/>
          <p:cNvSpPr/>
          <p:nvPr/>
        </p:nvSpPr>
        <p:spPr>
          <a:xfrm>
            <a:off x="1600200" y="1591270"/>
            <a:ext cx="466130" cy="82153"/>
          </a:xfrm>
          <a:prstGeom prst="rect">
            <a:avLst/>
          </a:prstGeom>
          <a:solidFill>
            <a:srgbClr val="FFFFFF"/>
          </a:solidFill>
          <a:ln w="9144">
            <a:solidFill>
              <a:srgbClr val="F57C00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1600200" y="1591270"/>
            <a:ext cx="466130" cy="82153"/>
          </a:xfrm>
          <a:prstGeom prst="rect">
            <a:avLst/>
          </a:prstGeom>
          <a:noFill/>
          <a:ln/>
        </p:spPr>
        <p:txBody>
          <a:bodyPr wrap="none" lIns="34036" tIns="0" rIns="34036" bIns="0" rtlCol="0" anchor="t">
            <a:spAutoFit/>
          </a:bodyPr>
          <a:lstStyle/>
          <a:p>
            <a:pPr algn="l" indent="0" marL="0">
              <a:lnSpc>
                <a:spcPts val="500"/>
              </a:lnSpc>
              <a:buNone/>
            </a:pPr>
            <a:r>
              <a:rPr lang="en-US" sz="386" b="1" dirty="0">
                <a:solidFill>
                  <a:srgbClr val="E651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Scope: LIQ DIM</a:t>
            </a:r>
            <a:endParaRPr lang="en-US" sz="386" dirty="0"/>
          </a:p>
        </p:txBody>
      </p:sp>
      <p:sp>
        <p:nvSpPr>
          <p:cNvPr id="68" name="Shape 65"/>
          <p:cNvSpPr/>
          <p:nvPr/>
        </p:nvSpPr>
        <p:spPr>
          <a:xfrm>
            <a:off x="1593056" y="1719858"/>
            <a:ext cx="1593949" cy="100013"/>
          </a:xfrm>
          <a:prstGeom prst="rect">
            <a:avLst/>
          </a:prstGeom>
          <a:solidFill>
            <a:srgbClr val="FFFFFF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1593056" y="1719858"/>
            <a:ext cx="1593949" cy="100013"/>
          </a:xfrm>
          <a:prstGeom prst="rect">
            <a:avLst/>
          </a:prstGeom>
          <a:noFill/>
          <a:ln/>
        </p:spPr>
        <p:txBody>
          <a:bodyPr wrap="none" lIns="25527" tIns="8509" rIns="25527" bIns="8509" rtlCol="0" anchor="t">
            <a:spAutoFit/>
          </a:bodyPr>
          <a:lstStyle/>
          <a:p>
            <a:pPr algn="ctr" indent="0" marL="0">
              <a:lnSpc>
                <a:spcPts val="500"/>
              </a:lnSpc>
              <a:buNone/>
            </a:pPr>
            <a:r>
              <a:rPr lang="en-US" sz="411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bank_br</a:t>
            </a:r>
            <a:endParaRPr lang="en-US" sz="411" dirty="0"/>
          </a:p>
        </p:txBody>
      </p:sp>
      <p:sp>
        <p:nvSpPr>
          <p:cNvPr id="70" name="Shape 67"/>
          <p:cNvSpPr/>
          <p:nvPr/>
        </p:nvSpPr>
        <p:spPr>
          <a:xfrm>
            <a:off x="3201293" y="1719858"/>
            <a:ext cx="1499295" cy="100013"/>
          </a:xfrm>
          <a:prstGeom prst="rect">
            <a:avLst/>
          </a:prstGeom>
          <a:solidFill>
            <a:srgbClr val="FFFFFF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3201293" y="1719858"/>
            <a:ext cx="1499295" cy="100013"/>
          </a:xfrm>
          <a:prstGeom prst="rect">
            <a:avLst/>
          </a:prstGeom>
          <a:noFill/>
          <a:ln/>
        </p:spPr>
        <p:txBody>
          <a:bodyPr wrap="none" lIns="25527" tIns="8509" rIns="25527" bIns="8509" rtlCol="0" anchor="t">
            <a:spAutoFit/>
          </a:bodyPr>
          <a:lstStyle/>
          <a:p>
            <a:pPr algn="ctr" indent="0" marL="0">
              <a:lnSpc>
                <a:spcPts val="500"/>
              </a:lnSpc>
              <a:buNone/>
            </a:pPr>
            <a:r>
              <a:rPr lang="en-US" sz="411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ecif</a:t>
            </a:r>
            <a:endParaRPr lang="en-US" sz="411" dirty="0"/>
          </a:p>
        </p:txBody>
      </p:sp>
      <p:sp>
        <p:nvSpPr>
          <p:cNvPr id="72" name="Shape 69"/>
          <p:cNvSpPr/>
          <p:nvPr/>
        </p:nvSpPr>
        <p:spPr>
          <a:xfrm>
            <a:off x="4829175" y="641152"/>
            <a:ext cx="2100263" cy="1076920"/>
          </a:xfrm>
          <a:prstGeom prst="rect">
            <a:avLst/>
          </a:prstGeom>
          <a:solidFill>
            <a:srgbClr val="E3F2FD"/>
          </a:solidFill>
          <a:ln w="18288">
            <a:solidFill>
              <a:srgbClr val="1976D2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4864894" y="584002"/>
            <a:ext cx="560784" cy="89297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74" name="Text 71"/>
          <p:cNvSpPr/>
          <p:nvPr/>
        </p:nvSpPr>
        <p:spPr>
          <a:xfrm>
            <a:off x="4864894" y="584002"/>
            <a:ext cx="560784" cy="89297"/>
          </a:xfrm>
          <a:prstGeom prst="rect">
            <a:avLst/>
          </a:prstGeom>
          <a:noFill/>
          <a:ln/>
        </p:spPr>
        <p:txBody>
          <a:bodyPr wrap="none" lIns="51054" tIns="8509" rIns="51054" bIns="8509" rtlCol="0" anchor="t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35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BUCKET: TRADE</a:t>
            </a:r>
            <a:endParaRPr lang="en-US" sz="435" dirty="0"/>
          </a:p>
        </p:txBody>
      </p:sp>
      <p:sp>
        <p:nvSpPr>
          <p:cNvPr id="75" name="Shape 72"/>
          <p:cNvSpPr/>
          <p:nvPr/>
        </p:nvSpPr>
        <p:spPr>
          <a:xfrm>
            <a:off x="4864894" y="748308"/>
            <a:ext cx="2028825" cy="121444"/>
          </a:xfrm>
          <a:prstGeom prst="rect">
            <a:avLst/>
          </a:prstGeom>
          <a:solidFill>
            <a:srgbClr val="FFF3E0"/>
          </a:solidFill>
          <a:ln w="9144">
            <a:solidFill>
              <a:srgbClr val="F57C00"/>
            </a:solidFill>
            <a:prstDash val="dash"/>
          </a:ln>
        </p:spPr>
      </p:sp>
      <p:sp>
        <p:nvSpPr>
          <p:cNvPr id="76" name="Shape 73"/>
          <p:cNvSpPr/>
          <p:nvPr/>
        </p:nvSpPr>
        <p:spPr>
          <a:xfrm>
            <a:off x="4893469" y="705445"/>
            <a:ext cx="369689" cy="82153"/>
          </a:xfrm>
          <a:prstGeom prst="rect">
            <a:avLst/>
          </a:prstGeom>
          <a:solidFill>
            <a:srgbClr val="FFFFFF"/>
          </a:solidFill>
          <a:ln w="9144">
            <a:solidFill>
              <a:srgbClr val="F57C00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4893469" y="705445"/>
            <a:ext cx="369689" cy="82153"/>
          </a:xfrm>
          <a:prstGeom prst="rect">
            <a:avLst/>
          </a:prstGeom>
          <a:noFill/>
          <a:ln/>
        </p:spPr>
        <p:txBody>
          <a:bodyPr wrap="none" lIns="34036" tIns="0" rIns="34036" bIns="0" rtlCol="0" anchor="t">
            <a:spAutoFit/>
          </a:bodyPr>
          <a:lstStyle/>
          <a:p>
            <a:pPr algn="l" indent="0" marL="0">
              <a:lnSpc>
                <a:spcPts val="500"/>
              </a:lnSpc>
              <a:buNone/>
            </a:pPr>
            <a:r>
              <a:rPr lang="en-US" sz="386" b="1" dirty="0">
                <a:solidFill>
                  <a:srgbClr val="E651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Scope: RCF</a:t>
            </a:r>
            <a:endParaRPr lang="en-US" sz="386" dirty="0"/>
          </a:p>
        </p:txBody>
      </p:sp>
      <p:sp>
        <p:nvSpPr>
          <p:cNvPr id="78" name="Shape 75"/>
          <p:cNvSpPr/>
          <p:nvPr/>
        </p:nvSpPr>
        <p:spPr>
          <a:xfrm>
            <a:off x="4864894" y="876895"/>
            <a:ext cx="2028825" cy="121444"/>
          </a:xfrm>
          <a:prstGeom prst="rect">
            <a:avLst/>
          </a:prstGeom>
          <a:solidFill>
            <a:srgbClr val="FFF3E0"/>
          </a:solidFill>
          <a:ln w="9144">
            <a:solidFill>
              <a:srgbClr val="F57C00"/>
            </a:solidFill>
            <a:prstDash val="dash"/>
          </a:ln>
        </p:spPr>
      </p:sp>
      <p:sp>
        <p:nvSpPr>
          <p:cNvPr id="79" name="Shape 76"/>
          <p:cNvSpPr/>
          <p:nvPr/>
        </p:nvSpPr>
        <p:spPr>
          <a:xfrm>
            <a:off x="4893469" y="834033"/>
            <a:ext cx="367903" cy="82153"/>
          </a:xfrm>
          <a:prstGeom prst="rect">
            <a:avLst/>
          </a:prstGeom>
          <a:solidFill>
            <a:srgbClr val="FFFFFF"/>
          </a:solidFill>
          <a:ln w="9144">
            <a:solidFill>
              <a:srgbClr val="F57C00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4893469" y="834033"/>
            <a:ext cx="367903" cy="82153"/>
          </a:xfrm>
          <a:prstGeom prst="rect">
            <a:avLst/>
          </a:prstGeom>
          <a:noFill/>
          <a:ln/>
        </p:spPr>
        <p:txBody>
          <a:bodyPr wrap="none" lIns="34036" tIns="0" rIns="34036" bIns="0" rtlCol="0" anchor="t">
            <a:spAutoFit/>
          </a:bodyPr>
          <a:lstStyle/>
          <a:p>
            <a:pPr algn="l" indent="0" marL="0">
              <a:lnSpc>
                <a:spcPts val="500"/>
              </a:lnSpc>
              <a:buNone/>
            </a:pPr>
            <a:r>
              <a:rPr lang="en-US" sz="386" b="1" dirty="0">
                <a:solidFill>
                  <a:srgbClr val="E651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Scope: CSF</a:t>
            </a:r>
            <a:endParaRPr lang="en-US" sz="386" dirty="0"/>
          </a:p>
        </p:txBody>
      </p:sp>
      <p:sp>
        <p:nvSpPr>
          <p:cNvPr id="81" name="Shape 78"/>
          <p:cNvSpPr/>
          <p:nvPr/>
        </p:nvSpPr>
        <p:spPr>
          <a:xfrm>
            <a:off x="4864894" y="1005483"/>
            <a:ext cx="2028825" cy="121444"/>
          </a:xfrm>
          <a:prstGeom prst="rect">
            <a:avLst/>
          </a:prstGeom>
          <a:solidFill>
            <a:srgbClr val="FFF3E0"/>
          </a:solidFill>
          <a:ln w="9144">
            <a:solidFill>
              <a:srgbClr val="F57C00"/>
            </a:solidFill>
            <a:prstDash val="dash"/>
          </a:ln>
        </p:spPr>
      </p:sp>
      <p:sp>
        <p:nvSpPr>
          <p:cNvPr id="82" name="Shape 79"/>
          <p:cNvSpPr/>
          <p:nvPr/>
        </p:nvSpPr>
        <p:spPr>
          <a:xfrm>
            <a:off x="4893469" y="962620"/>
            <a:ext cx="603647" cy="82153"/>
          </a:xfrm>
          <a:prstGeom prst="rect">
            <a:avLst/>
          </a:prstGeom>
          <a:solidFill>
            <a:srgbClr val="FFFFFF"/>
          </a:solidFill>
          <a:ln w="9144">
            <a:solidFill>
              <a:srgbClr val="F57C00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4893469" y="962620"/>
            <a:ext cx="603647" cy="82153"/>
          </a:xfrm>
          <a:prstGeom prst="rect">
            <a:avLst/>
          </a:prstGeom>
          <a:noFill/>
          <a:ln/>
        </p:spPr>
        <p:txBody>
          <a:bodyPr wrap="none" lIns="34036" tIns="0" rIns="34036" bIns="0" rtlCol="0" anchor="t">
            <a:spAutoFit/>
          </a:bodyPr>
          <a:lstStyle/>
          <a:p>
            <a:pPr algn="l" indent="0" marL="0">
              <a:lnSpc>
                <a:spcPts val="500"/>
              </a:lnSpc>
              <a:buNone/>
            </a:pPr>
            <a:r>
              <a:rPr lang="en-US" sz="386" b="1" dirty="0">
                <a:solidFill>
                  <a:srgbClr val="E651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Scope: CORE TRADE</a:t>
            </a:r>
            <a:endParaRPr lang="en-US" sz="386" dirty="0"/>
          </a:p>
        </p:txBody>
      </p:sp>
      <p:sp>
        <p:nvSpPr>
          <p:cNvPr id="84" name="Shape 81"/>
          <p:cNvSpPr/>
          <p:nvPr/>
        </p:nvSpPr>
        <p:spPr>
          <a:xfrm>
            <a:off x="4829175" y="1746647"/>
            <a:ext cx="2100263" cy="1091208"/>
          </a:xfrm>
          <a:prstGeom prst="rect">
            <a:avLst/>
          </a:prstGeom>
          <a:solidFill>
            <a:srgbClr val="E3F2FD"/>
          </a:solidFill>
          <a:ln w="18288">
            <a:solidFill>
              <a:srgbClr val="1976D2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4864894" y="1703784"/>
            <a:ext cx="660797" cy="89297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86" name="Text 83"/>
          <p:cNvSpPr/>
          <p:nvPr/>
        </p:nvSpPr>
        <p:spPr>
          <a:xfrm>
            <a:off x="4864894" y="1703784"/>
            <a:ext cx="660797" cy="89297"/>
          </a:xfrm>
          <a:prstGeom prst="rect">
            <a:avLst/>
          </a:prstGeom>
          <a:noFill/>
          <a:ln/>
        </p:spPr>
        <p:txBody>
          <a:bodyPr wrap="none" lIns="51054" tIns="8509" rIns="51054" bIns="8509" rtlCol="0" anchor="t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35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BUCKET: LIQUIDITY</a:t>
            </a:r>
            <a:endParaRPr lang="en-US" sz="435" dirty="0"/>
          </a:p>
        </p:txBody>
      </p:sp>
      <p:sp>
        <p:nvSpPr>
          <p:cNvPr id="87" name="Shape 84"/>
          <p:cNvSpPr/>
          <p:nvPr/>
        </p:nvSpPr>
        <p:spPr>
          <a:xfrm>
            <a:off x="4864894" y="1868091"/>
            <a:ext cx="2028825" cy="121444"/>
          </a:xfrm>
          <a:prstGeom prst="rect">
            <a:avLst/>
          </a:prstGeom>
          <a:solidFill>
            <a:srgbClr val="FFF3E0"/>
          </a:solidFill>
          <a:ln w="9144">
            <a:solidFill>
              <a:srgbClr val="F57C00"/>
            </a:solidFill>
            <a:prstDash val="dash"/>
          </a:ln>
        </p:spPr>
      </p:sp>
      <p:sp>
        <p:nvSpPr>
          <p:cNvPr id="88" name="Shape 85"/>
          <p:cNvSpPr/>
          <p:nvPr/>
        </p:nvSpPr>
        <p:spPr>
          <a:xfrm>
            <a:off x="4893469" y="1825228"/>
            <a:ext cx="517922" cy="82153"/>
          </a:xfrm>
          <a:prstGeom prst="rect">
            <a:avLst/>
          </a:prstGeom>
          <a:solidFill>
            <a:srgbClr val="FFFFFF"/>
          </a:solidFill>
          <a:ln w="9144">
            <a:solidFill>
              <a:srgbClr val="F57C00"/>
            </a:solidFill>
            <a:prstDash val="solid"/>
          </a:ln>
        </p:spPr>
      </p:sp>
      <p:sp>
        <p:nvSpPr>
          <p:cNvPr id="89" name="Text 86"/>
          <p:cNvSpPr/>
          <p:nvPr/>
        </p:nvSpPr>
        <p:spPr>
          <a:xfrm>
            <a:off x="4893469" y="1825228"/>
            <a:ext cx="517922" cy="82153"/>
          </a:xfrm>
          <a:prstGeom prst="rect">
            <a:avLst/>
          </a:prstGeom>
          <a:noFill/>
          <a:ln/>
        </p:spPr>
        <p:txBody>
          <a:bodyPr wrap="none" lIns="34036" tIns="0" rIns="34036" bIns="0" rtlCol="0" anchor="t">
            <a:spAutoFit/>
          </a:bodyPr>
          <a:lstStyle/>
          <a:p>
            <a:pPr algn="l" indent="0" marL="0">
              <a:lnSpc>
                <a:spcPts val="500"/>
              </a:lnSpc>
              <a:buNone/>
            </a:pPr>
            <a:r>
              <a:rPr lang="en-US" sz="386" b="1" dirty="0">
                <a:solidFill>
                  <a:srgbClr val="E651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Scope: BALANCE</a:t>
            </a:r>
            <a:endParaRPr lang="en-US" sz="386" dirty="0"/>
          </a:p>
        </p:txBody>
      </p:sp>
      <p:sp>
        <p:nvSpPr>
          <p:cNvPr id="90" name="Shape 87"/>
          <p:cNvSpPr/>
          <p:nvPr/>
        </p:nvSpPr>
        <p:spPr>
          <a:xfrm>
            <a:off x="4864894" y="1996678"/>
            <a:ext cx="2028825" cy="121444"/>
          </a:xfrm>
          <a:prstGeom prst="rect">
            <a:avLst/>
          </a:prstGeom>
          <a:solidFill>
            <a:srgbClr val="FFF3E0"/>
          </a:solidFill>
          <a:ln w="9144">
            <a:solidFill>
              <a:srgbClr val="F57C00"/>
            </a:solidFill>
            <a:prstDash val="dash"/>
          </a:ln>
        </p:spPr>
      </p:sp>
      <p:sp>
        <p:nvSpPr>
          <p:cNvPr id="91" name="Shape 88"/>
          <p:cNvSpPr/>
          <p:nvPr/>
        </p:nvSpPr>
        <p:spPr>
          <a:xfrm>
            <a:off x="4893469" y="1953816"/>
            <a:ext cx="607219" cy="82153"/>
          </a:xfrm>
          <a:prstGeom prst="rect">
            <a:avLst/>
          </a:prstGeom>
          <a:solidFill>
            <a:srgbClr val="FFFFFF"/>
          </a:solidFill>
          <a:ln w="9144">
            <a:solidFill>
              <a:srgbClr val="F57C00"/>
            </a:solidFill>
            <a:prstDash val="solid"/>
          </a:ln>
        </p:spPr>
      </p:sp>
      <p:sp>
        <p:nvSpPr>
          <p:cNvPr id="92" name="Text 89"/>
          <p:cNvSpPr/>
          <p:nvPr/>
        </p:nvSpPr>
        <p:spPr>
          <a:xfrm>
            <a:off x="4893469" y="1953816"/>
            <a:ext cx="607219" cy="82153"/>
          </a:xfrm>
          <a:prstGeom prst="rect">
            <a:avLst/>
          </a:prstGeom>
          <a:noFill/>
          <a:ln/>
        </p:spPr>
        <p:txBody>
          <a:bodyPr wrap="none" lIns="34036" tIns="0" rIns="34036" bIns="0" rtlCol="0" anchor="t">
            <a:spAutoFit/>
          </a:bodyPr>
          <a:lstStyle/>
          <a:p>
            <a:pPr algn="l" indent="0" marL="0">
              <a:lnSpc>
                <a:spcPts val="500"/>
              </a:lnSpc>
              <a:buNone/>
            </a:pPr>
            <a:r>
              <a:rPr lang="en-US" sz="386" b="1" dirty="0">
                <a:solidFill>
                  <a:srgbClr val="E651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Scope: DIMENSIONS</a:t>
            </a:r>
            <a:endParaRPr lang="en-US" sz="386" dirty="0"/>
          </a:p>
        </p:txBody>
      </p:sp>
      <p:sp>
        <p:nvSpPr>
          <p:cNvPr id="93" name="Shape 90"/>
          <p:cNvSpPr/>
          <p:nvPr/>
        </p:nvSpPr>
        <p:spPr>
          <a:xfrm>
            <a:off x="4864894" y="2125266"/>
            <a:ext cx="2028825" cy="121444"/>
          </a:xfrm>
          <a:prstGeom prst="rect">
            <a:avLst/>
          </a:prstGeom>
          <a:solidFill>
            <a:srgbClr val="FFF3E0"/>
          </a:solidFill>
          <a:ln w="9144">
            <a:solidFill>
              <a:srgbClr val="F57C00"/>
            </a:solidFill>
            <a:prstDash val="dash"/>
          </a:ln>
        </p:spPr>
      </p:sp>
      <p:sp>
        <p:nvSpPr>
          <p:cNvPr id="94" name="Shape 91"/>
          <p:cNvSpPr/>
          <p:nvPr/>
        </p:nvSpPr>
        <p:spPr>
          <a:xfrm>
            <a:off x="4893469" y="2082403"/>
            <a:ext cx="625078" cy="82153"/>
          </a:xfrm>
          <a:prstGeom prst="rect">
            <a:avLst/>
          </a:prstGeom>
          <a:solidFill>
            <a:srgbClr val="FFFFFF"/>
          </a:solidFill>
          <a:ln w="9144">
            <a:solidFill>
              <a:srgbClr val="F57C00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4893469" y="2082403"/>
            <a:ext cx="625078" cy="82153"/>
          </a:xfrm>
          <a:prstGeom prst="rect">
            <a:avLst/>
          </a:prstGeom>
          <a:noFill/>
          <a:ln/>
        </p:spPr>
        <p:txBody>
          <a:bodyPr wrap="none" lIns="34036" tIns="0" rIns="34036" bIns="0" rtlCol="0" anchor="t">
            <a:spAutoFit/>
          </a:bodyPr>
          <a:lstStyle/>
          <a:p>
            <a:pPr algn="l" indent="0" marL="0">
              <a:lnSpc>
                <a:spcPts val="500"/>
              </a:lnSpc>
              <a:buNone/>
            </a:pPr>
            <a:r>
              <a:rPr lang="en-US" sz="386" b="1" dirty="0">
                <a:solidFill>
                  <a:srgbClr val="E651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Scope: STRUCTURES</a:t>
            </a:r>
            <a:endParaRPr lang="en-US" sz="386" dirty="0"/>
          </a:p>
        </p:txBody>
      </p:sp>
      <p:sp>
        <p:nvSpPr>
          <p:cNvPr id="96" name="Shape 93"/>
          <p:cNvSpPr/>
          <p:nvPr/>
        </p:nvSpPr>
        <p:spPr>
          <a:xfrm>
            <a:off x="4864894" y="2253853"/>
            <a:ext cx="2028825" cy="121444"/>
          </a:xfrm>
          <a:prstGeom prst="rect">
            <a:avLst/>
          </a:prstGeom>
          <a:solidFill>
            <a:srgbClr val="FFF3E0"/>
          </a:solidFill>
          <a:ln w="9144">
            <a:solidFill>
              <a:srgbClr val="F57C00"/>
            </a:solidFill>
            <a:prstDash val="dash"/>
          </a:ln>
        </p:spPr>
      </p:sp>
      <p:sp>
        <p:nvSpPr>
          <p:cNvPr id="97" name="Shape 94"/>
          <p:cNvSpPr/>
          <p:nvPr/>
        </p:nvSpPr>
        <p:spPr>
          <a:xfrm>
            <a:off x="4893469" y="2210991"/>
            <a:ext cx="682228" cy="82153"/>
          </a:xfrm>
          <a:prstGeom prst="rect">
            <a:avLst/>
          </a:prstGeom>
          <a:solidFill>
            <a:srgbClr val="FFFFFF"/>
          </a:solidFill>
          <a:ln w="9144">
            <a:solidFill>
              <a:srgbClr val="F57C00"/>
            </a:solidFill>
            <a:prstDash val="solid"/>
          </a:ln>
        </p:spPr>
      </p:sp>
      <p:sp>
        <p:nvSpPr>
          <p:cNvPr id="98" name="Text 95"/>
          <p:cNvSpPr/>
          <p:nvPr/>
        </p:nvSpPr>
        <p:spPr>
          <a:xfrm>
            <a:off x="4893469" y="2210991"/>
            <a:ext cx="682228" cy="82153"/>
          </a:xfrm>
          <a:prstGeom prst="rect">
            <a:avLst/>
          </a:prstGeom>
          <a:noFill/>
          <a:ln/>
        </p:spPr>
        <p:txBody>
          <a:bodyPr wrap="none" lIns="34036" tIns="0" rIns="34036" bIns="0" rtlCol="0" anchor="t">
            <a:spAutoFit/>
          </a:bodyPr>
          <a:lstStyle/>
          <a:p>
            <a:pPr algn="l" indent="0" marL="0">
              <a:lnSpc>
                <a:spcPts val="500"/>
              </a:lnSpc>
              <a:buNone/>
            </a:pPr>
            <a:r>
              <a:rPr lang="en-US" sz="386" b="1" dirty="0">
                <a:solidFill>
                  <a:srgbClr val="E651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Scope: INTEREST RATE</a:t>
            </a:r>
            <a:endParaRPr lang="en-US" sz="386" dirty="0"/>
          </a:p>
        </p:txBody>
      </p:sp>
      <p:sp>
        <p:nvSpPr>
          <p:cNvPr id="99" name="Shape 96"/>
          <p:cNvSpPr/>
          <p:nvPr/>
        </p:nvSpPr>
        <p:spPr>
          <a:xfrm>
            <a:off x="1535906" y="2909292"/>
            <a:ext cx="5393531" cy="1281410"/>
          </a:xfrm>
          <a:prstGeom prst="rect">
            <a:avLst/>
          </a:prstGeom>
          <a:solidFill>
            <a:srgbClr val="E3F2FD"/>
          </a:solidFill>
          <a:ln w="18288">
            <a:solidFill>
              <a:srgbClr val="1976D2"/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>
            <a:off x="1571625" y="2852142"/>
            <a:ext cx="800100" cy="89297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101" name="Text 98"/>
          <p:cNvSpPr/>
          <p:nvPr/>
        </p:nvSpPr>
        <p:spPr>
          <a:xfrm>
            <a:off x="1571625" y="2852142"/>
            <a:ext cx="800100" cy="89297"/>
          </a:xfrm>
          <a:prstGeom prst="rect">
            <a:avLst/>
          </a:prstGeom>
          <a:noFill/>
          <a:ln/>
        </p:spPr>
        <p:txBody>
          <a:bodyPr wrap="none" lIns="51054" tIns="8509" rIns="51054" bIns="8509" rtlCol="0" anchor="t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35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BUCKET: TRANSACTION</a:t>
            </a:r>
            <a:endParaRPr lang="en-US" sz="435" dirty="0"/>
          </a:p>
        </p:txBody>
      </p:sp>
      <p:sp>
        <p:nvSpPr>
          <p:cNvPr id="102" name="Shape 99"/>
          <p:cNvSpPr/>
          <p:nvPr/>
        </p:nvSpPr>
        <p:spPr>
          <a:xfrm>
            <a:off x="1571625" y="3016448"/>
            <a:ext cx="5322094" cy="221456"/>
          </a:xfrm>
          <a:prstGeom prst="rect">
            <a:avLst/>
          </a:prstGeom>
          <a:solidFill>
            <a:srgbClr val="FFF3E0"/>
          </a:solidFill>
          <a:ln w="9144">
            <a:solidFill>
              <a:srgbClr val="F57C00"/>
            </a:solidFill>
            <a:prstDash val="dash"/>
          </a:ln>
        </p:spPr>
      </p:sp>
      <p:sp>
        <p:nvSpPr>
          <p:cNvPr id="103" name="Shape 100"/>
          <p:cNvSpPr/>
          <p:nvPr/>
        </p:nvSpPr>
        <p:spPr>
          <a:xfrm>
            <a:off x="1600200" y="2973586"/>
            <a:ext cx="533995" cy="82153"/>
          </a:xfrm>
          <a:prstGeom prst="rect">
            <a:avLst/>
          </a:prstGeom>
          <a:solidFill>
            <a:srgbClr val="FFFFFF"/>
          </a:solidFill>
          <a:ln w="9144">
            <a:solidFill>
              <a:srgbClr val="F57C00"/>
            </a:solidFill>
            <a:prstDash val="solid"/>
          </a:ln>
        </p:spPr>
      </p:sp>
      <p:sp>
        <p:nvSpPr>
          <p:cNvPr id="104" name="Text 101"/>
          <p:cNvSpPr/>
          <p:nvPr/>
        </p:nvSpPr>
        <p:spPr>
          <a:xfrm>
            <a:off x="1600200" y="2973586"/>
            <a:ext cx="533995" cy="82153"/>
          </a:xfrm>
          <a:prstGeom prst="rect">
            <a:avLst/>
          </a:prstGeom>
          <a:noFill/>
          <a:ln/>
        </p:spPr>
        <p:txBody>
          <a:bodyPr wrap="none" lIns="34036" tIns="0" rIns="34036" bIns="0" rtlCol="0" anchor="t">
            <a:spAutoFit/>
          </a:bodyPr>
          <a:lstStyle/>
          <a:p>
            <a:pPr algn="l" indent="0" marL="0">
              <a:lnSpc>
                <a:spcPts val="500"/>
              </a:lnSpc>
              <a:buNone/>
            </a:pPr>
            <a:r>
              <a:rPr lang="en-US" sz="386" b="1" dirty="0">
                <a:solidFill>
                  <a:srgbClr val="E651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Scope: SESSIONS</a:t>
            </a:r>
            <a:endParaRPr lang="en-US" sz="386" dirty="0"/>
          </a:p>
        </p:txBody>
      </p:sp>
      <p:sp>
        <p:nvSpPr>
          <p:cNvPr id="105" name="Shape 102"/>
          <p:cNvSpPr/>
          <p:nvPr/>
        </p:nvSpPr>
        <p:spPr>
          <a:xfrm>
            <a:off x="1593056" y="3102173"/>
            <a:ext cx="845055" cy="100013"/>
          </a:xfrm>
          <a:prstGeom prst="rect">
            <a:avLst/>
          </a:prstGeom>
          <a:solidFill>
            <a:srgbClr val="FFFFFF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106" name="Text 103"/>
          <p:cNvSpPr/>
          <p:nvPr/>
        </p:nvSpPr>
        <p:spPr>
          <a:xfrm>
            <a:off x="1593056" y="3102173"/>
            <a:ext cx="845055" cy="100013"/>
          </a:xfrm>
          <a:prstGeom prst="rect">
            <a:avLst/>
          </a:prstGeom>
          <a:noFill/>
          <a:ln/>
        </p:spPr>
        <p:txBody>
          <a:bodyPr wrap="none" lIns="25527" tIns="8509" rIns="25527" bIns="8509" rtlCol="0" anchor="t">
            <a:spAutoFit/>
          </a:bodyPr>
          <a:lstStyle/>
          <a:p>
            <a:pPr algn="ctr" indent="0" marL="0">
              <a:lnSpc>
                <a:spcPts val="500"/>
              </a:lnSpc>
              <a:buNone/>
            </a:pPr>
            <a:r>
              <a:rPr lang="en-US" sz="411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PTPN</a:t>
            </a:r>
            <a:endParaRPr lang="en-US" sz="411" dirty="0"/>
          </a:p>
        </p:txBody>
      </p:sp>
      <p:sp>
        <p:nvSpPr>
          <p:cNvPr id="107" name="Shape 104"/>
          <p:cNvSpPr/>
          <p:nvPr/>
        </p:nvSpPr>
        <p:spPr>
          <a:xfrm>
            <a:off x="2447627" y="3102173"/>
            <a:ext cx="813495" cy="100013"/>
          </a:xfrm>
          <a:prstGeom prst="rect">
            <a:avLst/>
          </a:prstGeom>
          <a:solidFill>
            <a:srgbClr val="FFFFFF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108" name="Text 105"/>
          <p:cNvSpPr/>
          <p:nvPr/>
        </p:nvSpPr>
        <p:spPr>
          <a:xfrm>
            <a:off x="2447627" y="3102173"/>
            <a:ext cx="813495" cy="100013"/>
          </a:xfrm>
          <a:prstGeom prst="rect">
            <a:avLst/>
          </a:prstGeom>
          <a:noFill/>
          <a:ln/>
        </p:spPr>
        <p:txBody>
          <a:bodyPr wrap="none" lIns="25527" tIns="8509" rIns="25527" bIns="8509" rtlCol="0" anchor="t">
            <a:spAutoFit/>
          </a:bodyPr>
          <a:lstStyle/>
          <a:p>
            <a:pPr algn="ctr" indent="0" marL="0">
              <a:lnSpc>
                <a:spcPts val="500"/>
              </a:lnSpc>
              <a:buNone/>
            </a:pPr>
            <a:r>
              <a:rPr lang="en-US" sz="411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FIF</a:t>
            </a:r>
            <a:endParaRPr lang="en-US" sz="411" dirty="0"/>
          </a:p>
        </p:txBody>
      </p:sp>
      <p:sp>
        <p:nvSpPr>
          <p:cNvPr id="109" name="Shape 106"/>
          <p:cNvSpPr/>
          <p:nvPr/>
        </p:nvSpPr>
        <p:spPr>
          <a:xfrm>
            <a:off x="3273010" y="3102173"/>
            <a:ext cx="883732" cy="100013"/>
          </a:xfrm>
          <a:prstGeom prst="rect">
            <a:avLst/>
          </a:prstGeom>
          <a:solidFill>
            <a:srgbClr val="FFFFFF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110" name="Text 107"/>
          <p:cNvSpPr/>
          <p:nvPr/>
        </p:nvSpPr>
        <p:spPr>
          <a:xfrm>
            <a:off x="3273010" y="3102173"/>
            <a:ext cx="883732" cy="100013"/>
          </a:xfrm>
          <a:prstGeom prst="rect">
            <a:avLst/>
          </a:prstGeom>
          <a:noFill/>
          <a:ln/>
        </p:spPr>
        <p:txBody>
          <a:bodyPr wrap="none" lIns="25527" tIns="8509" rIns="25527" bIns="8509" rtlCol="0" anchor="t">
            <a:spAutoFit/>
          </a:bodyPr>
          <a:lstStyle/>
          <a:p>
            <a:pPr algn="ctr" indent="0" marL="0">
              <a:lnSpc>
                <a:spcPts val="500"/>
              </a:lnSpc>
              <a:buNone/>
            </a:pPr>
            <a:r>
              <a:rPr lang="en-US" sz="411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PARTY</a:t>
            </a:r>
            <a:endParaRPr lang="en-US" sz="411" dirty="0"/>
          </a:p>
        </p:txBody>
      </p:sp>
      <p:sp>
        <p:nvSpPr>
          <p:cNvPr id="111" name="Shape 108"/>
          <p:cNvSpPr/>
          <p:nvPr/>
        </p:nvSpPr>
        <p:spPr>
          <a:xfrm>
            <a:off x="4171085" y="3102173"/>
            <a:ext cx="818266" cy="100013"/>
          </a:xfrm>
          <a:prstGeom prst="rect">
            <a:avLst/>
          </a:prstGeom>
          <a:solidFill>
            <a:srgbClr val="FFFFFF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112" name="Text 109"/>
          <p:cNvSpPr/>
          <p:nvPr/>
        </p:nvSpPr>
        <p:spPr>
          <a:xfrm>
            <a:off x="4171085" y="3102173"/>
            <a:ext cx="818266" cy="100013"/>
          </a:xfrm>
          <a:prstGeom prst="rect">
            <a:avLst/>
          </a:prstGeom>
          <a:noFill/>
          <a:ln/>
        </p:spPr>
        <p:txBody>
          <a:bodyPr wrap="none" lIns="25527" tIns="8509" rIns="25527" bIns="8509" rtlCol="0" anchor="t">
            <a:spAutoFit/>
          </a:bodyPr>
          <a:lstStyle/>
          <a:p>
            <a:pPr algn="ctr" indent="0" marL="0">
              <a:lnSpc>
                <a:spcPts val="500"/>
              </a:lnSpc>
              <a:buNone/>
            </a:pPr>
            <a:r>
              <a:rPr lang="en-US" sz="411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CAS</a:t>
            </a:r>
            <a:endParaRPr lang="en-US" sz="411" dirty="0"/>
          </a:p>
        </p:txBody>
      </p:sp>
      <p:sp>
        <p:nvSpPr>
          <p:cNvPr id="113" name="Shape 110"/>
          <p:cNvSpPr/>
          <p:nvPr/>
        </p:nvSpPr>
        <p:spPr>
          <a:xfrm>
            <a:off x="5005983" y="3102173"/>
            <a:ext cx="820638" cy="100013"/>
          </a:xfrm>
          <a:prstGeom prst="rect">
            <a:avLst/>
          </a:prstGeom>
          <a:solidFill>
            <a:srgbClr val="FFFFFF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114" name="Text 111"/>
          <p:cNvSpPr/>
          <p:nvPr/>
        </p:nvSpPr>
        <p:spPr>
          <a:xfrm>
            <a:off x="5005983" y="3102173"/>
            <a:ext cx="820638" cy="100013"/>
          </a:xfrm>
          <a:prstGeom prst="rect">
            <a:avLst/>
          </a:prstGeom>
          <a:noFill/>
          <a:ln/>
        </p:spPr>
        <p:txBody>
          <a:bodyPr wrap="none" lIns="25527" tIns="8509" rIns="25527" bIns="8509" rtlCol="0" anchor="t">
            <a:spAutoFit/>
          </a:bodyPr>
          <a:lstStyle/>
          <a:p>
            <a:pPr algn="ctr" indent="0" marL="0">
              <a:lnSpc>
                <a:spcPts val="500"/>
              </a:lnSpc>
              <a:buNone/>
            </a:pPr>
            <a:r>
              <a:rPr lang="en-US" sz="411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CDM</a:t>
            </a:r>
            <a:endParaRPr lang="en-US" sz="411" dirty="0"/>
          </a:p>
        </p:txBody>
      </p:sp>
      <p:sp>
        <p:nvSpPr>
          <p:cNvPr id="115" name="Shape 112"/>
          <p:cNvSpPr/>
          <p:nvPr/>
        </p:nvSpPr>
        <p:spPr>
          <a:xfrm>
            <a:off x="5845625" y="3102173"/>
            <a:ext cx="1026607" cy="100013"/>
          </a:xfrm>
          <a:prstGeom prst="rect">
            <a:avLst/>
          </a:prstGeom>
          <a:solidFill>
            <a:srgbClr val="FFFFFF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116" name="Text 113"/>
          <p:cNvSpPr/>
          <p:nvPr/>
        </p:nvSpPr>
        <p:spPr>
          <a:xfrm>
            <a:off x="5845625" y="3102173"/>
            <a:ext cx="1026607" cy="100013"/>
          </a:xfrm>
          <a:prstGeom prst="rect">
            <a:avLst/>
          </a:prstGeom>
          <a:noFill/>
          <a:ln/>
        </p:spPr>
        <p:txBody>
          <a:bodyPr wrap="none" lIns="25527" tIns="8509" rIns="25527" bIns="8509" rtlCol="0" anchor="t">
            <a:spAutoFit/>
          </a:bodyPr>
          <a:lstStyle/>
          <a:p>
            <a:pPr algn="ctr" indent="0" marL="0">
              <a:lnSpc>
                <a:spcPts val="500"/>
              </a:lnSpc>
              <a:buNone/>
            </a:pPr>
            <a:r>
              <a:rPr lang="en-US" sz="411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STAG_INST</a:t>
            </a:r>
            <a:endParaRPr lang="en-US" sz="411" dirty="0"/>
          </a:p>
        </p:txBody>
      </p:sp>
      <p:sp>
        <p:nvSpPr>
          <p:cNvPr id="117" name="Shape 114"/>
          <p:cNvSpPr/>
          <p:nvPr/>
        </p:nvSpPr>
        <p:spPr>
          <a:xfrm>
            <a:off x="1571625" y="3245048"/>
            <a:ext cx="5322094" cy="221456"/>
          </a:xfrm>
          <a:prstGeom prst="rect">
            <a:avLst/>
          </a:prstGeom>
          <a:solidFill>
            <a:srgbClr val="FFF3E0"/>
          </a:solidFill>
          <a:ln w="9144">
            <a:solidFill>
              <a:srgbClr val="F57C00"/>
            </a:solidFill>
            <a:prstDash val="dash"/>
          </a:ln>
        </p:spPr>
      </p:sp>
      <p:sp>
        <p:nvSpPr>
          <p:cNvPr id="118" name="Shape 115"/>
          <p:cNvSpPr/>
          <p:nvPr/>
        </p:nvSpPr>
        <p:spPr>
          <a:xfrm>
            <a:off x="1600200" y="3202186"/>
            <a:ext cx="492919" cy="82153"/>
          </a:xfrm>
          <a:prstGeom prst="rect">
            <a:avLst/>
          </a:prstGeom>
          <a:solidFill>
            <a:srgbClr val="FFFFFF"/>
          </a:solidFill>
          <a:ln w="9144">
            <a:solidFill>
              <a:srgbClr val="F57C00"/>
            </a:solidFill>
            <a:prstDash val="solid"/>
          </a:ln>
        </p:spPr>
      </p:sp>
      <p:sp>
        <p:nvSpPr>
          <p:cNvPr id="119" name="Text 116"/>
          <p:cNvSpPr/>
          <p:nvPr/>
        </p:nvSpPr>
        <p:spPr>
          <a:xfrm>
            <a:off x="1600200" y="3202186"/>
            <a:ext cx="492919" cy="82153"/>
          </a:xfrm>
          <a:prstGeom prst="rect">
            <a:avLst/>
          </a:prstGeom>
          <a:noFill/>
          <a:ln/>
        </p:spPr>
        <p:txBody>
          <a:bodyPr wrap="none" lIns="34036" tIns="0" rIns="34036" bIns="0" rtlCol="0" anchor="t">
            <a:spAutoFit/>
          </a:bodyPr>
          <a:lstStyle/>
          <a:p>
            <a:pPr algn="l" indent="0" marL="0">
              <a:lnSpc>
                <a:spcPts val="500"/>
              </a:lnSpc>
              <a:buNone/>
            </a:pPr>
            <a:r>
              <a:rPr lang="en-US" sz="386" b="1" dirty="0">
                <a:solidFill>
                  <a:srgbClr val="E651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Scope: MASTER</a:t>
            </a:r>
            <a:endParaRPr lang="en-US" sz="386" dirty="0"/>
          </a:p>
        </p:txBody>
      </p:sp>
      <p:sp>
        <p:nvSpPr>
          <p:cNvPr id="120" name="Shape 117"/>
          <p:cNvSpPr/>
          <p:nvPr/>
        </p:nvSpPr>
        <p:spPr>
          <a:xfrm>
            <a:off x="1593056" y="3330773"/>
            <a:ext cx="782827" cy="100013"/>
          </a:xfrm>
          <a:prstGeom prst="rect">
            <a:avLst/>
          </a:prstGeom>
          <a:solidFill>
            <a:srgbClr val="FFFFFF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121" name="Text 118"/>
          <p:cNvSpPr/>
          <p:nvPr/>
        </p:nvSpPr>
        <p:spPr>
          <a:xfrm>
            <a:off x="1593056" y="3330773"/>
            <a:ext cx="782827" cy="100013"/>
          </a:xfrm>
          <a:prstGeom prst="rect">
            <a:avLst/>
          </a:prstGeom>
          <a:noFill/>
          <a:ln/>
        </p:spPr>
        <p:txBody>
          <a:bodyPr wrap="none" lIns="25527" tIns="8509" rIns="25527" bIns="8509" rtlCol="0" anchor="t">
            <a:spAutoFit/>
          </a:bodyPr>
          <a:lstStyle/>
          <a:p>
            <a:pPr algn="ctr" indent="0" marL="0">
              <a:lnSpc>
                <a:spcPts val="500"/>
              </a:lnSpc>
              <a:buNone/>
            </a:pPr>
            <a:r>
              <a:rPr lang="en-US" sz="411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ACTG_ENT</a:t>
            </a:r>
            <a:endParaRPr lang="en-US" sz="411" dirty="0"/>
          </a:p>
        </p:txBody>
      </p:sp>
      <p:sp>
        <p:nvSpPr>
          <p:cNvPr id="122" name="Shape 119"/>
          <p:cNvSpPr/>
          <p:nvPr/>
        </p:nvSpPr>
        <p:spPr>
          <a:xfrm>
            <a:off x="2385426" y="3330773"/>
            <a:ext cx="819159" cy="100013"/>
          </a:xfrm>
          <a:prstGeom prst="rect">
            <a:avLst/>
          </a:prstGeom>
          <a:solidFill>
            <a:srgbClr val="FFFFFF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123" name="Text 120"/>
          <p:cNvSpPr/>
          <p:nvPr/>
        </p:nvSpPr>
        <p:spPr>
          <a:xfrm>
            <a:off x="2385426" y="3330773"/>
            <a:ext cx="819159" cy="100013"/>
          </a:xfrm>
          <a:prstGeom prst="rect">
            <a:avLst/>
          </a:prstGeom>
          <a:noFill/>
          <a:ln/>
        </p:spPr>
        <p:txBody>
          <a:bodyPr wrap="none" lIns="25527" tIns="8509" rIns="25527" bIns="8509" rtlCol="0" anchor="t">
            <a:spAutoFit/>
          </a:bodyPr>
          <a:lstStyle/>
          <a:p>
            <a:pPr algn="ctr" indent="0" marL="0">
              <a:lnSpc>
                <a:spcPts val="500"/>
              </a:lnSpc>
              <a:buNone/>
            </a:pPr>
            <a:r>
              <a:rPr lang="en-US" sz="411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OBMA_ACTG</a:t>
            </a:r>
            <a:endParaRPr lang="en-US" sz="411" dirty="0"/>
          </a:p>
        </p:txBody>
      </p:sp>
      <p:sp>
        <p:nvSpPr>
          <p:cNvPr id="124" name="Shape 121"/>
          <p:cNvSpPr/>
          <p:nvPr/>
        </p:nvSpPr>
        <p:spPr>
          <a:xfrm>
            <a:off x="3216473" y="3330773"/>
            <a:ext cx="1092994" cy="100013"/>
          </a:xfrm>
          <a:prstGeom prst="rect">
            <a:avLst/>
          </a:prstGeom>
          <a:solidFill>
            <a:srgbClr val="FFFFFF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125" name="Text 122"/>
          <p:cNvSpPr/>
          <p:nvPr/>
        </p:nvSpPr>
        <p:spPr>
          <a:xfrm>
            <a:off x="3216473" y="3330773"/>
            <a:ext cx="1092994" cy="100013"/>
          </a:xfrm>
          <a:prstGeom prst="rect">
            <a:avLst/>
          </a:prstGeom>
          <a:noFill/>
          <a:ln/>
        </p:spPr>
        <p:txBody>
          <a:bodyPr wrap="none" lIns="25527" tIns="8509" rIns="25527" bIns="8509" rtlCol="0" anchor="t">
            <a:spAutoFit/>
          </a:bodyPr>
          <a:lstStyle/>
          <a:p>
            <a:pPr algn="ctr" indent="0" marL="0">
              <a:lnSpc>
                <a:spcPts val="500"/>
              </a:lnSpc>
              <a:buNone/>
            </a:pPr>
            <a:r>
              <a:rPr lang="en-US" sz="411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ACTG_ENT_ADDL_DET</a:t>
            </a:r>
            <a:endParaRPr lang="en-US" sz="411" dirty="0"/>
          </a:p>
        </p:txBody>
      </p:sp>
      <p:sp>
        <p:nvSpPr>
          <p:cNvPr id="126" name="Shape 123"/>
          <p:cNvSpPr/>
          <p:nvPr/>
        </p:nvSpPr>
        <p:spPr>
          <a:xfrm>
            <a:off x="4323727" y="3330773"/>
            <a:ext cx="857836" cy="100013"/>
          </a:xfrm>
          <a:prstGeom prst="rect">
            <a:avLst/>
          </a:prstGeom>
          <a:solidFill>
            <a:srgbClr val="FFFFFF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127" name="Text 124"/>
          <p:cNvSpPr/>
          <p:nvPr/>
        </p:nvSpPr>
        <p:spPr>
          <a:xfrm>
            <a:off x="4323727" y="3330773"/>
            <a:ext cx="857836" cy="100013"/>
          </a:xfrm>
          <a:prstGeom prst="rect">
            <a:avLst/>
          </a:prstGeom>
          <a:noFill/>
          <a:ln/>
        </p:spPr>
        <p:txBody>
          <a:bodyPr wrap="none" lIns="25527" tIns="8509" rIns="25527" bIns="8509" rtlCol="0" anchor="t">
            <a:spAutoFit/>
          </a:bodyPr>
          <a:lstStyle/>
          <a:p>
            <a:pPr algn="ctr" indent="0" marL="0">
              <a:lnSpc>
                <a:spcPts val="500"/>
              </a:lnSpc>
              <a:buNone/>
            </a:pPr>
            <a:r>
              <a:rPr lang="en-US" sz="411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INTNL_ACTG</a:t>
            </a:r>
            <a:endParaRPr lang="en-US" sz="411" dirty="0"/>
          </a:p>
        </p:txBody>
      </p:sp>
      <p:sp>
        <p:nvSpPr>
          <p:cNvPr id="128" name="Shape 125"/>
          <p:cNvSpPr/>
          <p:nvPr/>
        </p:nvSpPr>
        <p:spPr>
          <a:xfrm>
            <a:off x="5198306" y="3330773"/>
            <a:ext cx="826303" cy="100013"/>
          </a:xfrm>
          <a:prstGeom prst="rect">
            <a:avLst/>
          </a:prstGeom>
          <a:solidFill>
            <a:srgbClr val="FFFFFF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129" name="Text 126"/>
          <p:cNvSpPr/>
          <p:nvPr/>
        </p:nvSpPr>
        <p:spPr>
          <a:xfrm>
            <a:off x="5198306" y="3330773"/>
            <a:ext cx="826303" cy="100013"/>
          </a:xfrm>
          <a:prstGeom prst="rect">
            <a:avLst/>
          </a:prstGeom>
          <a:noFill/>
          <a:ln/>
        </p:spPr>
        <p:txBody>
          <a:bodyPr wrap="none" lIns="25527" tIns="8509" rIns="25527" bIns="8509" rtlCol="0" anchor="t">
            <a:spAutoFit/>
          </a:bodyPr>
          <a:lstStyle/>
          <a:p>
            <a:pPr algn="ctr" indent="0" marL="0">
              <a:lnSpc>
                <a:spcPts val="500"/>
              </a:lnSpc>
              <a:buNone/>
            </a:pPr>
            <a:r>
              <a:rPr lang="en-US" sz="411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INTNL_DTL</a:t>
            </a:r>
            <a:endParaRPr lang="en-US" sz="411" dirty="0"/>
          </a:p>
        </p:txBody>
      </p:sp>
      <p:sp>
        <p:nvSpPr>
          <p:cNvPr id="130" name="Shape 127"/>
          <p:cNvSpPr/>
          <p:nvPr/>
        </p:nvSpPr>
        <p:spPr>
          <a:xfrm>
            <a:off x="6043613" y="3330773"/>
            <a:ext cx="828675" cy="100013"/>
          </a:xfrm>
          <a:prstGeom prst="rect">
            <a:avLst/>
          </a:prstGeom>
          <a:solidFill>
            <a:srgbClr val="FFFFFF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131" name="Text 128"/>
          <p:cNvSpPr/>
          <p:nvPr/>
        </p:nvSpPr>
        <p:spPr>
          <a:xfrm>
            <a:off x="6043613" y="3330773"/>
            <a:ext cx="828675" cy="100013"/>
          </a:xfrm>
          <a:prstGeom prst="rect">
            <a:avLst/>
          </a:prstGeom>
          <a:noFill/>
          <a:ln/>
        </p:spPr>
        <p:txBody>
          <a:bodyPr wrap="none" lIns="25527" tIns="8509" rIns="25527" bIns="8509" rtlCol="0" anchor="t">
            <a:spAutoFit/>
          </a:bodyPr>
          <a:lstStyle/>
          <a:p>
            <a:pPr algn="ctr" indent="0" marL="0">
              <a:lnSpc>
                <a:spcPts val="500"/>
              </a:lnSpc>
              <a:buNone/>
            </a:pPr>
            <a:r>
              <a:rPr lang="en-US" sz="411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GRAN_MTRX</a:t>
            </a:r>
            <a:endParaRPr lang="en-US" sz="411" dirty="0"/>
          </a:p>
        </p:txBody>
      </p:sp>
      <p:sp>
        <p:nvSpPr>
          <p:cNvPr id="132" name="Text 129"/>
          <p:cNvSpPr/>
          <p:nvPr/>
        </p:nvSpPr>
        <p:spPr>
          <a:xfrm>
            <a:off x="3812084" y="4432697"/>
            <a:ext cx="841177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D32F2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New Domain-wise models</a:t>
            </a:r>
            <a:endParaRPr lang="en-US" sz="485" dirty="0"/>
          </a:p>
        </p:txBody>
      </p:sp>
      <p:sp>
        <p:nvSpPr>
          <p:cNvPr id="133" name="Text 130"/>
          <p:cNvSpPr/>
          <p:nvPr/>
        </p:nvSpPr>
        <p:spPr>
          <a:xfrm>
            <a:off x="7108031" y="1337667"/>
            <a:ext cx="714375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500"/>
              </a:lnSpc>
              <a:buNone/>
            </a:pPr>
            <a:r>
              <a:rPr lang="en-US" sz="386" b="1" dirty="0">
                <a:solidFill>
                  <a:srgbClr val="2E7D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CB Connection</a:t>
            </a:r>
            <a:pPr algn="ctr" indent="0" marL="0">
              <a:lnSpc>
                <a:spcPts val="500"/>
              </a:lnSpc>
              <a:buNone/>
            </a:pPr>
            <a:r>
              <a:rPr lang="en-US" sz="386" b="1" dirty="0">
                <a:solidFill>
                  <a:srgbClr val="2E7D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
</a:t>
            </a:r>
            <a:pPr algn="ctr" indent="0" marL="0">
              <a:lnSpc>
                <a:spcPts val="500"/>
              </a:lnSpc>
              <a:buNone/>
            </a:pPr>
            <a:r>
              <a:rPr lang="en-US" sz="386" b="1" dirty="0">
                <a:solidFill>
                  <a:srgbClr val="2E7D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N1QL Query</a:t>
            </a:r>
            <a:endParaRPr lang="en-US" sz="386" dirty="0"/>
          </a:p>
        </p:txBody>
      </p:sp>
      <p:sp>
        <p:nvSpPr>
          <p:cNvPr id="134" name="Shape 131"/>
          <p:cNvSpPr/>
          <p:nvPr/>
        </p:nvSpPr>
        <p:spPr>
          <a:xfrm>
            <a:off x="7322344" y="1673423"/>
            <a:ext cx="285750" cy="285750"/>
          </a:xfrm>
          <a:prstGeom prst="ellipse">
            <a:avLst/>
          </a:prstGeom>
          <a:solidFill>
            <a:srgbClr val="FFFFFF"/>
          </a:solidFill>
          <a:ln w="9144">
            <a:solidFill>
              <a:srgbClr val="2E7D32"/>
            </a:solidFill>
            <a:prstDash val="solid"/>
          </a:ln>
        </p:spPr>
      </p:sp>
      <p:pic>
        <p:nvPicPr>
          <p:cNvPr id="13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8069" y="1759148"/>
            <a:ext cx="114300" cy="114300"/>
          </a:xfrm>
          <a:prstGeom prst="rect">
            <a:avLst/>
          </a:prstGeom>
        </p:spPr>
      </p:pic>
      <p:sp>
        <p:nvSpPr>
          <p:cNvPr id="136" name="Text 132"/>
          <p:cNvSpPr/>
          <p:nvPr/>
        </p:nvSpPr>
        <p:spPr>
          <a:xfrm>
            <a:off x="7108031" y="2173486"/>
            <a:ext cx="714375" cy="678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500"/>
              </a:lnSpc>
              <a:buNone/>
            </a:pPr>
            <a:r>
              <a:rPr lang="en-US" sz="386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OPENSHIFT</a:t>
            </a:r>
            <a:endParaRPr lang="en-US" sz="386" dirty="0"/>
          </a:p>
        </p:txBody>
      </p:sp>
      <p:sp>
        <p:nvSpPr>
          <p:cNvPr id="137" name="Text 133"/>
          <p:cNvSpPr/>
          <p:nvPr/>
        </p:nvSpPr>
        <p:spPr>
          <a:xfrm>
            <a:off x="7108031" y="2741414"/>
            <a:ext cx="714375" cy="678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500"/>
              </a:lnSpc>
              <a:buNone/>
            </a:pPr>
            <a:r>
              <a:rPr lang="en-US" sz="386" b="1" dirty="0">
                <a:solidFill>
                  <a:srgbClr val="0277B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N1QL Query</a:t>
            </a:r>
            <a:endParaRPr lang="en-US" sz="386" dirty="0"/>
          </a:p>
        </p:txBody>
      </p:sp>
      <p:sp>
        <p:nvSpPr>
          <p:cNvPr id="138" name="Shape 134"/>
          <p:cNvSpPr/>
          <p:nvPr/>
        </p:nvSpPr>
        <p:spPr>
          <a:xfrm>
            <a:off x="7322344" y="3041452"/>
            <a:ext cx="285750" cy="285750"/>
          </a:xfrm>
          <a:prstGeom prst="ellipse">
            <a:avLst/>
          </a:prstGeom>
          <a:solidFill>
            <a:srgbClr val="FFFFFF"/>
          </a:solidFill>
          <a:ln w="9144">
            <a:solidFill>
              <a:srgbClr val="0277BD"/>
            </a:solidFill>
            <a:prstDash val="solid"/>
          </a:ln>
        </p:spPr>
      </p:sp>
      <p:pic>
        <p:nvPicPr>
          <p:cNvPr id="13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8069" y="3127177"/>
            <a:ext cx="114300" cy="114300"/>
          </a:xfrm>
          <a:prstGeom prst="rect">
            <a:avLst/>
          </a:prstGeom>
        </p:spPr>
      </p:pic>
      <p:sp>
        <p:nvSpPr>
          <p:cNvPr id="140" name="Text 135"/>
          <p:cNvSpPr/>
          <p:nvPr/>
        </p:nvSpPr>
        <p:spPr>
          <a:xfrm>
            <a:off x="7108031" y="3541514"/>
            <a:ext cx="714375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500"/>
              </a:lnSpc>
              <a:buNone/>
            </a:pPr>
            <a:r>
              <a:rPr lang="en-US" sz="386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Connect</a:t>
            </a:r>
            <a:pPr algn="ctr" indent="0" marL="0">
              <a:lnSpc>
                <a:spcPts val="500"/>
              </a:lnSpc>
              <a:buNone/>
            </a:pPr>
            <a:r>
              <a:rPr lang="en-US" sz="386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
</a:t>
            </a:r>
            <a:pPr algn="ctr" indent="0" marL="0">
              <a:lnSpc>
                <a:spcPts val="500"/>
              </a:lnSpc>
              <a:buNone/>
            </a:pPr>
            <a:r>
              <a:rPr lang="en-US" sz="386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Direct</a:t>
            </a:r>
            <a:endParaRPr lang="en-US" sz="386" dirty="0"/>
          </a:p>
        </p:txBody>
      </p:sp>
      <p:sp>
        <p:nvSpPr>
          <p:cNvPr id="141" name="Shape 136"/>
          <p:cNvSpPr/>
          <p:nvPr/>
        </p:nvSpPr>
        <p:spPr>
          <a:xfrm>
            <a:off x="7929563" y="462558"/>
            <a:ext cx="1000125" cy="3911203"/>
          </a:xfrm>
          <a:prstGeom prst="rect">
            <a:avLst/>
          </a:prstGeom>
          <a:solidFill>
            <a:srgbClr val="F9F9F9"/>
          </a:solidFill>
          <a:ln w="9144">
            <a:solidFill>
              <a:srgbClr val="999999"/>
            </a:solidFill>
            <a:prstDash val="dash"/>
          </a:ln>
        </p:spPr>
      </p:sp>
      <p:sp>
        <p:nvSpPr>
          <p:cNvPr id="142" name="Shape 137"/>
          <p:cNvSpPr/>
          <p:nvPr/>
        </p:nvSpPr>
        <p:spPr>
          <a:xfrm>
            <a:off x="8159948" y="391120"/>
            <a:ext cx="539353" cy="92869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143" name="Text 138"/>
          <p:cNvSpPr/>
          <p:nvPr/>
        </p:nvSpPr>
        <p:spPr>
          <a:xfrm>
            <a:off x="8159948" y="391120"/>
            <a:ext cx="539353" cy="92869"/>
          </a:xfrm>
          <a:prstGeom prst="rect">
            <a:avLst/>
          </a:prstGeom>
          <a:noFill/>
          <a:ln/>
        </p:spPr>
        <p:txBody>
          <a:bodyPr wrap="none" lIns="68072" tIns="0" rIns="68072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CONSUMER</a:t>
            </a:r>
            <a:endParaRPr lang="en-US" sz="534" dirty="0"/>
          </a:p>
        </p:txBody>
      </p:sp>
      <p:sp>
        <p:nvSpPr>
          <p:cNvPr id="144" name="Shape 139"/>
          <p:cNvSpPr/>
          <p:nvPr/>
        </p:nvSpPr>
        <p:spPr>
          <a:xfrm>
            <a:off x="7986713" y="641152"/>
            <a:ext cx="885825" cy="241436"/>
          </a:xfrm>
          <a:prstGeom prst="rect">
            <a:avLst/>
          </a:prstGeom>
          <a:solidFill>
            <a:srgbClr val="FFFFFF"/>
          </a:solidFill>
          <a:ln w="9144">
            <a:solidFill>
              <a:srgbClr val="CCCCCC"/>
            </a:solidFill>
            <a:prstDash val="solid"/>
          </a:ln>
        </p:spPr>
      </p:sp>
      <p:sp>
        <p:nvSpPr>
          <p:cNvPr id="145" name="Shape 140"/>
          <p:cNvSpPr/>
          <p:nvPr/>
        </p:nvSpPr>
        <p:spPr>
          <a:xfrm>
            <a:off x="8029575" y="706506"/>
            <a:ext cx="142875" cy="96441"/>
          </a:xfrm>
          <a:prstGeom prst="rect">
            <a:avLst/>
          </a:prstGeom>
          <a:solidFill>
            <a:srgbClr val="002F5D"/>
          </a:solidFill>
          <a:ln/>
        </p:spPr>
      </p:sp>
      <p:sp>
        <p:nvSpPr>
          <p:cNvPr id="146" name="Text 141"/>
          <p:cNvSpPr/>
          <p:nvPr/>
        </p:nvSpPr>
        <p:spPr>
          <a:xfrm>
            <a:off x="8029575" y="706506"/>
            <a:ext cx="142875" cy="96441"/>
          </a:xfrm>
          <a:prstGeom prst="rect">
            <a:avLst/>
          </a:prstGeom>
          <a:noFill/>
          <a:ln/>
        </p:spPr>
        <p:txBody>
          <a:bodyPr wrap="none" lIns="34036" tIns="17018" rIns="34036" bIns="17018" rtlCol="0" anchor="t">
            <a:spAutoFit/>
          </a:bodyPr>
          <a:lstStyle/>
          <a:p>
            <a:pPr algn="l" indent="0" marL="0">
              <a:lnSpc>
                <a:spcPts val="500"/>
              </a:lnSpc>
              <a:buNone/>
            </a:pPr>
            <a:r>
              <a:rPr lang="en-US" sz="386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Citi</a:t>
            </a:r>
            <a:endParaRPr lang="en-US" sz="386" dirty="0"/>
          </a:p>
        </p:txBody>
      </p:sp>
      <p:sp>
        <p:nvSpPr>
          <p:cNvPr id="147" name="Text 142"/>
          <p:cNvSpPr/>
          <p:nvPr/>
        </p:nvSpPr>
        <p:spPr>
          <a:xfrm>
            <a:off x="8215313" y="684014"/>
            <a:ext cx="367903" cy="1414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35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CitiDirect V3</a:t>
            </a:r>
            <a:pPr algn="l" indent="0" marL="0">
              <a:lnSpc>
                <a:spcPts val="600"/>
              </a:lnSpc>
              <a:buNone/>
            </a:pPr>
            <a:r>
              <a:rPr lang="en-US" sz="435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
</a:t>
            </a:r>
            <a:pPr algn="l" indent="0" marL="0">
              <a:lnSpc>
                <a:spcPts val="600"/>
              </a:lnSpc>
              <a:buNone/>
            </a:pPr>
            <a:r>
              <a:rPr lang="en-US" sz="435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Reporting</a:t>
            </a:r>
            <a:endParaRPr lang="en-US" sz="435" dirty="0"/>
          </a:p>
        </p:txBody>
      </p:sp>
      <p:sp>
        <p:nvSpPr>
          <p:cNvPr id="148" name="Shape 143"/>
          <p:cNvSpPr/>
          <p:nvPr/>
        </p:nvSpPr>
        <p:spPr>
          <a:xfrm>
            <a:off x="7986713" y="975457"/>
            <a:ext cx="885825" cy="241436"/>
          </a:xfrm>
          <a:prstGeom prst="rect">
            <a:avLst/>
          </a:prstGeom>
          <a:solidFill>
            <a:srgbClr val="FFFFFF"/>
          </a:solidFill>
          <a:ln w="9144">
            <a:solidFill>
              <a:srgbClr val="CCCCCC"/>
            </a:solidFill>
            <a:prstDash val="solid"/>
          </a:ln>
        </p:spPr>
      </p:sp>
      <p:sp>
        <p:nvSpPr>
          <p:cNvPr id="149" name="Shape 144"/>
          <p:cNvSpPr/>
          <p:nvPr/>
        </p:nvSpPr>
        <p:spPr>
          <a:xfrm>
            <a:off x="8029575" y="1040811"/>
            <a:ext cx="142875" cy="96441"/>
          </a:xfrm>
          <a:prstGeom prst="rect">
            <a:avLst/>
          </a:prstGeom>
          <a:solidFill>
            <a:srgbClr val="002F5D"/>
          </a:solidFill>
          <a:ln/>
        </p:spPr>
      </p:sp>
      <p:sp>
        <p:nvSpPr>
          <p:cNvPr id="150" name="Text 145"/>
          <p:cNvSpPr/>
          <p:nvPr/>
        </p:nvSpPr>
        <p:spPr>
          <a:xfrm>
            <a:off x="8029575" y="1040811"/>
            <a:ext cx="142875" cy="96441"/>
          </a:xfrm>
          <a:prstGeom prst="rect">
            <a:avLst/>
          </a:prstGeom>
          <a:noFill/>
          <a:ln/>
        </p:spPr>
        <p:txBody>
          <a:bodyPr wrap="none" lIns="34036" tIns="17018" rIns="34036" bIns="17018" rtlCol="0" anchor="t">
            <a:spAutoFit/>
          </a:bodyPr>
          <a:lstStyle/>
          <a:p>
            <a:pPr algn="l" indent="0" marL="0">
              <a:lnSpc>
                <a:spcPts val="500"/>
              </a:lnSpc>
              <a:buNone/>
            </a:pPr>
            <a:r>
              <a:rPr lang="en-US" sz="386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Citi</a:t>
            </a:r>
            <a:endParaRPr lang="en-US" sz="386" dirty="0"/>
          </a:p>
        </p:txBody>
      </p:sp>
      <p:sp>
        <p:nvSpPr>
          <p:cNvPr id="151" name="Text 146"/>
          <p:cNvSpPr/>
          <p:nvPr/>
        </p:nvSpPr>
        <p:spPr>
          <a:xfrm>
            <a:off x="8215313" y="1018319"/>
            <a:ext cx="476845" cy="1414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35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CitiDirect V3</a:t>
            </a:r>
            <a:pPr algn="l" indent="0" marL="0">
              <a:lnSpc>
                <a:spcPts val="600"/>
              </a:lnSpc>
              <a:buNone/>
            </a:pPr>
            <a:r>
              <a:rPr lang="en-US" sz="435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
</a:t>
            </a:r>
            <a:pPr algn="l" indent="0" marL="0">
              <a:lnSpc>
                <a:spcPts val="600"/>
              </a:lnSpc>
              <a:buNone/>
            </a:pPr>
            <a:r>
              <a:rPr lang="en-US" sz="435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Inquiries/Search</a:t>
            </a:r>
            <a:endParaRPr lang="en-US" sz="435" dirty="0"/>
          </a:p>
        </p:txBody>
      </p:sp>
      <p:sp>
        <p:nvSpPr>
          <p:cNvPr id="152" name="Shape 147"/>
          <p:cNvSpPr/>
          <p:nvPr/>
        </p:nvSpPr>
        <p:spPr>
          <a:xfrm>
            <a:off x="7986713" y="1309762"/>
            <a:ext cx="885825" cy="241436"/>
          </a:xfrm>
          <a:prstGeom prst="rect">
            <a:avLst/>
          </a:prstGeom>
          <a:solidFill>
            <a:srgbClr val="FFFFFF"/>
          </a:solidFill>
          <a:ln w="9144">
            <a:solidFill>
              <a:srgbClr val="CCCCCC"/>
            </a:solidFill>
            <a:prstDash val="solid"/>
          </a:ln>
        </p:spPr>
      </p:sp>
      <p:sp>
        <p:nvSpPr>
          <p:cNvPr id="153" name="Shape 148"/>
          <p:cNvSpPr/>
          <p:nvPr/>
        </p:nvSpPr>
        <p:spPr>
          <a:xfrm>
            <a:off x="8029575" y="1375116"/>
            <a:ext cx="142875" cy="96441"/>
          </a:xfrm>
          <a:prstGeom prst="rect">
            <a:avLst/>
          </a:prstGeom>
          <a:solidFill>
            <a:srgbClr val="002F5D"/>
          </a:solidFill>
          <a:ln/>
        </p:spPr>
      </p:sp>
      <p:sp>
        <p:nvSpPr>
          <p:cNvPr id="154" name="Text 149"/>
          <p:cNvSpPr/>
          <p:nvPr/>
        </p:nvSpPr>
        <p:spPr>
          <a:xfrm>
            <a:off x="8029575" y="1375116"/>
            <a:ext cx="142875" cy="96441"/>
          </a:xfrm>
          <a:prstGeom prst="rect">
            <a:avLst/>
          </a:prstGeom>
          <a:noFill/>
          <a:ln/>
        </p:spPr>
        <p:txBody>
          <a:bodyPr wrap="none" lIns="34036" tIns="17018" rIns="34036" bIns="17018" rtlCol="0" anchor="t">
            <a:spAutoFit/>
          </a:bodyPr>
          <a:lstStyle/>
          <a:p>
            <a:pPr algn="l" indent="0" marL="0">
              <a:lnSpc>
                <a:spcPts val="500"/>
              </a:lnSpc>
              <a:buNone/>
            </a:pPr>
            <a:r>
              <a:rPr lang="en-US" sz="386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Citi</a:t>
            </a:r>
            <a:endParaRPr lang="en-US" sz="386" dirty="0"/>
          </a:p>
        </p:txBody>
      </p:sp>
      <p:sp>
        <p:nvSpPr>
          <p:cNvPr id="155" name="Text 150"/>
          <p:cNvSpPr/>
          <p:nvPr/>
        </p:nvSpPr>
        <p:spPr>
          <a:xfrm>
            <a:off x="8215313" y="1352624"/>
            <a:ext cx="464344" cy="1414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35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CitiDirect V3</a:t>
            </a:r>
            <a:pPr algn="l" indent="0" marL="0">
              <a:lnSpc>
                <a:spcPts val="600"/>
              </a:lnSpc>
              <a:buNone/>
            </a:pPr>
            <a:r>
              <a:rPr lang="en-US" sz="435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
</a:t>
            </a:r>
            <a:pPr algn="l" indent="0" marL="0">
              <a:lnSpc>
                <a:spcPts val="600"/>
              </a:lnSpc>
              <a:buNone/>
            </a:pPr>
            <a:r>
              <a:rPr lang="en-US" sz="435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SRV3 Payments</a:t>
            </a:r>
            <a:endParaRPr lang="en-US" sz="435" dirty="0"/>
          </a:p>
        </p:txBody>
      </p:sp>
      <p:pic>
        <p:nvPicPr>
          <p:cNvPr id="15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8275" y="2291358"/>
            <a:ext cx="171450" cy="171450"/>
          </a:xfrm>
          <a:prstGeom prst="rect">
            <a:avLst/>
          </a:prstGeom>
        </p:spPr>
      </p:pic>
      <p:sp>
        <p:nvSpPr>
          <p:cNvPr id="157" name="Text 151"/>
          <p:cNvSpPr/>
          <p:nvPr/>
        </p:nvSpPr>
        <p:spPr>
          <a:xfrm>
            <a:off x="9001125" y="2469952"/>
            <a:ext cx="285750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435" b="1" dirty="0">
                <a:solidFill>
                  <a:srgbClr val="002F5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Citi Client</a:t>
            </a:r>
            <a:endParaRPr lang="en-US" sz="435" dirty="0"/>
          </a:p>
        </p:txBody>
      </p:sp>
      <p:sp>
        <p:nvSpPr>
          <p:cNvPr id="158" name="Shape 152"/>
          <p:cNvSpPr/>
          <p:nvPr/>
        </p:nvSpPr>
        <p:spPr>
          <a:xfrm>
            <a:off x="214313" y="4445198"/>
            <a:ext cx="8715375" cy="59114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59" name="Shape 153"/>
          <p:cNvSpPr/>
          <p:nvPr/>
        </p:nvSpPr>
        <p:spPr>
          <a:xfrm>
            <a:off x="214313" y="4445198"/>
            <a:ext cx="8715375" cy="7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60" name="Text 154"/>
          <p:cNvSpPr/>
          <p:nvPr/>
        </p:nvSpPr>
        <p:spPr>
          <a:xfrm>
            <a:off x="214313" y="4523780"/>
            <a:ext cx="2809866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u="sng" dirty="0">
                <a:solidFill>
                  <a:srgbClr val="002F5D"/>
                </a:solidFill>
                <a:uFill>
                  <a:solidFill>
                    <a:srgbClr val="002F5D"/>
                  </a:solidFill>
                </a:uFill>
                <a:latin typeface="Roboto" pitchFamily="34" charset="0"/>
                <a:ea typeface="Roboto" pitchFamily="34" charset="-122"/>
                <a:cs typeface="Roboto" pitchFamily="34" charset="-120"/>
              </a:rPr>
              <a:t>Timelines</a:t>
            </a:r>
            <a:endParaRPr lang="en-US" sz="485" dirty="0"/>
          </a:p>
        </p:txBody>
      </p:sp>
      <p:sp>
        <p:nvSpPr>
          <p:cNvPr id="161" name="Text 155"/>
          <p:cNvSpPr/>
          <p:nvPr/>
        </p:nvSpPr>
        <p:spPr>
          <a:xfrm>
            <a:off x="321469" y="4636294"/>
            <a:ext cx="270270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marL="127000" indent="-127000">
              <a:lnSpc>
                <a:spcPts val="800"/>
              </a:lnSpc>
              <a:buSzPct val="100000"/>
              <a:buChar char="•"/>
            </a:pPr>
            <a:r>
              <a:rPr lang="en-US" sz="516" dirty="0">
                <a:solidFill>
                  <a:srgbClr val="44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Reporting - 8 sprints</a:t>
            </a:r>
            <a:endParaRPr lang="en-US" sz="516" dirty="0"/>
          </a:p>
        </p:txBody>
      </p:sp>
      <p:sp>
        <p:nvSpPr>
          <p:cNvPr id="162" name="Text 156"/>
          <p:cNvSpPr/>
          <p:nvPr/>
        </p:nvSpPr>
        <p:spPr>
          <a:xfrm>
            <a:off x="321469" y="4736306"/>
            <a:ext cx="270270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marL="127000" indent="-127000">
              <a:lnSpc>
                <a:spcPts val="800"/>
              </a:lnSpc>
              <a:buSzPct val="100000"/>
              <a:buChar char="•"/>
            </a:pPr>
            <a:r>
              <a:rPr lang="en-US" sz="516" dirty="0">
                <a:solidFill>
                  <a:srgbClr val="44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Search - 8-10 sprints</a:t>
            </a:r>
            <a:endParaRPr lang="en-US" sz="516" dirty="0"/>
          </a:p>
        </p:txBody>
      </p:sp>
      <p:sp>
        <p:nvSpPr>
          <p:cNvPr id="163" name="Text 157"/>
          <p:cNvSpPr/>
          <p:nvPr/>
        </p:nvSpPr>
        <p:spPr>
          <a:xfrm>
            <a:off x="321469" y="4836319"/>
            <a:ext cx="270270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marL="127000" indent="-127000">
              <a:lnSpc>
                <a:spcPts val="800"/>
              </a:lnSpc>
              <a:buSzPct val="100000"/>
              <a:buChar char="•"/>
            </a:pPr>
            <a:r>
              <a:rPr lang="en-US" sz="516" dirty="0">
                <a:solidFill>
                  <a:srgbClr val="44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SRV3 Elastic - 6 sprints First UAT release (Jan-Mar)</a:t>
            </a:r>
            <a:endParaRPr lang="en-US" sz="516" dirty="0"/>
          </a:p>
        </p:txBody>
      </p:sp>
      <p:sp>
        <p:nvSpPr>
          <p:cNvPr id="164" name="Text 158"/>
          <p:cNvSpPr/>
          <p:nvPr/>
        </p:nvSpPr>
        <p:spPr>
          <a:xfrm>
            <a:off x="321469" y="4936331"/>
            <a:ext cx="270270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marL="127000" indent="-127000">
              <a:lnSpc>
                <a:spcPts val="800"/>
              </a:lnSpc>
              <a:buSzPct val="100000"/>
              <a:buChar char="•"/>
            </a:pPr>
            <a:r>
              <a:rPr lang="en-US" sz="516" dirty="0">
                <a:solidFill>
                  <a:srgbClr val="44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Mongo - 8 sprints</a:t>
            </a:r>
            <a:endParaRPr lang="en-US" sz="516" dirty="0"/>
          </a:p>
        </p:txBody>
      </p:sp>
      <p:sp>
        <p:nvSpPr>
          <p:cNvPr id="165" name="Text 159"/>
          <p:cNvSpPr/>
          <p:nvPr/>
        </p:nvSpPr>
        <p:spPr>
          <a:xfrm>
            <a:off x="3167053" y="4523780"/>
            <a:ext cx="2809866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u="sng" dirty="0">
                <a:solidFill>
                  <a:srgbClr val="002F5D"/>
                </a:solidFill>
                <a:uFill>
                  <a:solidFill>
                    <a:srgbClr val="002F5D"/>
                  </a:solidFill>
                </a:uFill>
                <a:latin typeface="Roboto" pitchFamily="34" charset="0"/>
                <a:ea typeface="Roboto" pitchFamily="34" charset="-122"/>
                <a:cs typeface="Roboto" pitchFamily="34" charset="-120"/>
              </a:rPr>
              <a:t>Dependencies</a:t>
            </a:r>
            <a:endParaRPr lang="en-US" sz="485" dirty="0"/>
          </a:p>
        </p:txBody>
      </p:sp>
      <p:sp>
        <p:nvSpPr>
          <p:cNvPr id="166" name="Text 160"/>
          <p:cNvSpPr/>
          <p:nvPr/>
        </p:nvSpPr>
        <p:spPr>
          <a:xfrm>
            <a:off x="3274209" y="4636294"/>
            <a:ext cx="270270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marL="127000" indent="-127000">
              <a:lnSpc>
                <a:spcPts val="800"/>
              </a:lnSpc>
              <a:buSzPct val="100000"/>
              <a:buChar char="•"/>
            </a:pPr>
            <a:r>
              <a:rPr lang="en-US" sz="516" dirty="0">
                <a:solidFill>
                  <a:srgbClr val="44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Payment CDM needs enhancement with Flex Posting events</a:t>
            </a:r>
            <a:endParaRPr lang="en-US" sz="516" dirty="0"/>
          </a:p>
        </p:txBody>
      </p:sp>
      <p:sp>
        <p:nvSpPr>
          <p:cNvPr id="167" name="Text 161"/>
          <p:cNvSpPr/>
          <p:nvPr/>
        </p:nvSpPr>
        <p:spPr>
          <a:xfrm>
            <a:off x="3274209" y="4736306"/>
            <a:ext cx="270270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marL="127000" indent="-127000">
              <a:lnSpc>
                <a:spcPts val="800"/>
              </a:lnSpc>
              <a:buSzPct val="100000"/>
              <a:buChar char="•"/>
            </a:pPr>
            <a:r>
              <a:rPr lang="en-US" sz="516" dirty="0">
                <a:solidFill>
                  <a:srgbClr val="44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Pending transactions should be part of payment CDM</a:t>
            </a:r>
            <a:endParaRPr lang="en-US" sz="516" dirty="0"/>
          </a:p>
        </p:txBody>
      </p:sp>
      <p:sp>
        <p:nvSpPr>
          <p:cNvPr id="168" name="Text 162"/>
          <p:cNvSpPr/>
          <p:nvPr/>
        </p:nvSpPr>
        <p:spPr>
          <a:xfrm>
            <a:off x="6119794" y="4523780"/>
            <a:ext cx="2809866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u="sng" dirty="0">
                <a:solidFill>
                  <a:srgbClr val="002F5D"/>
                </a:solidFill>
                <a:uFill>
                  <a:solidFill>
                    <a:srgbClr val="002F5D"/>
                  </a:solidFill>
                </a:uFill>
                <a:latin typeface="Roboto" pitchFamily="34" charset="0"/>
                <a:ea typeface="Roboto" pitchFamily="34" charset="-122"/>
                <a:cs typeface="Roboto" pitchFamily="34" charset="-120"/>
              </a:rPr>
              <a:t>Assumptions</a:t>
            </a:r>
            <a:endParaRPr lang="en-US" sz="485" dirty="0"/>
          </a:p>
        </p:txBody>
      </p:sp>
      <p:sp>
        <p:nvSpPr>
          <p:cNvPr id="169" name="Text 163"/>
          <p:cNvSpPr/>
          <p:nvPr/>
        </p:nvSpPr>
        <p:spPr>
          <a:xfrm>
            <a:off x="6226950" y="4636294"/>
            <a:ext cx="270270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marL="127000" indent="-127000">
              <a:lnSpc>
                <a:spcPts val="800"/>
              </a:lnSpc>
              <a:buSzPct val="100000"/>
              <a:buChar char="•"/>
            </a:pPr>
            <a:r>
              <a:rPr lang="en-US" sz="516" dirty="0">
                <a:solidFill>
                  <a:srgbClr val="44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Reporting - for existing pipelines</a:t>
            </a:r>
            <a:endParaRPr lang="en-US" sz="516" dirty="0"/>
          </a:p>
        </p:txBody>
      </p:sp>
      <p:sp>
        <p:nvSpPr>
          <p:cNvPr id="170" name="Text 164"/>
          <p:cNvSpPr/>
          <p:nvPr/>
        </p:nvSpPr>
        <p:spPr>
          <a:xfrm>
            <a:off x="6226950" y="4736306"/>
            <a:ext cx="270270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marL="127000" indent="-127000">
              <a:lnSpc>
                <a:spcPts val="800"/>
              </a:lnSpc>
              <a:buSzPct val="100000"/>
              <a:buChar char="•"/>
            </a:pPr>
            <a:r>
              <a:rPr lang="en-US" sz="516" dirty="0">
                <a:solidFill>
                  <a:srgbClr val="44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Search - POC successful, volume/fields agreed</a:t>
            </a:r>
            <a:endParaRPr lang="en-US" sz="516" dirty="0"/>
          </a:p>
        </p:txBody>
      </p:sp>
      <p:sp>
        <p:nvSpPr>
          <p:cNvPr id="171" name="Text 165"/>
          <p:cNvSpPr/>
          <p:nvPr/>
        </p:nvSpPr>
        <p:spPr>
          <a:xfrm>
            <a:off x="6226950" y="4836319"/>
            <a:ext cx="270270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marL="127000" indent="-127000">
              <a:lnSpc>
                <a:spcPts val="800"/>
              </a:lnSpc>
              <a:buSzPct val="100000"/>
              <a:buChar char="•"/>
            </a:pPr>
            <a:r>
              <a:rPr lang="en-US" sz="516" dirty="0">
                <a:solidFill>
                  <a:srgbClr val="44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SRV3 - Data available in Kafka topic</a:t>
            </a:r>
            <a:endParaRPr lang="en-US" sz="516" dirty="0"/>
          </a:p>
        </p:txBody>
      </p:sp>
      <p:sp>
        <p:nvSpPr>
          <p:cNvPr id="172" name="Text 166"/>
          <p:cNvSpPr/>
          <p:nvPr/>
        </p:nvSpPr>
        <p:spPr>
          <a:xfrm>
            <a:off x="6226950" y="4936331"/>
            <a:ext cx="270270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marL="127000" indent="-127000">
              <a:lnSpc>
                <a:spcPts val="800"/>
              </a:lnSpc>
              <a:buSzPct val="100000"/>
              <a:buChar char="•"/>
            </a:pPr>
            <a:r>
              <a:rPr lang="en-US" sz="516" dirty="0">
                <a:solidFill>
                  <a:srgbClr val="44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Mapping available for ISO tags</a:t>
            </a:r>
            <a:endParaRPr lang="en-US" sz="516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2026-03-06T17:46:33Z</dcterms:created>
  <dcterms:modified xsi:type="dcterms:W3CDTF">2026-03-06T17:46:33Z</dcterms:modified>
</cp:coreProperties>
</file>