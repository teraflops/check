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2857500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4" name="Text 1"/>
          <p:cNvSpPr/>
          <p:nvPr/>
        </p:nvSpPr>
        <p:spPr>
          <a:xfrm>
            <a:off x="2561927" y="982991"/>
            <a:ext cx="4020145" cy="891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3500"/>
              </a:lnSpc>
              <a:buNone/>
            </a:pPr>
            <a:r>
              <a:rPr lang="en-US" sz="2649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Couchbase Architecture</a:t>
            </a:r>
            <a:pPr algn="ctr" indent="0" marL="0">
              <a:lnSpc>
                <a:spcPts val="3500"/>
              </a:lnSpc>
              <a:buNone/>
            </a:pPr>
            <a:r>
              <a:rPr lang="en-US" sz="2649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
</a:t>
            </a:r>
            <a:pPr algn="ctr" indent="0" marL="0">
              <a:lnSpc>
                <a:spcPts val="3500"/>
              </a:lnSpc>
              <a:buNone/>
            </a:pPr>
            <a:r>
              <a:rPr lang="en-US" sz="2649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Current &amp; Future State</a:t>
            </a:r>
            <a:endParaRPr lang="en-US" sz="2649" dirty="0"/>
          </a:p>
        </p:txBody>
      </p:sp>
      <p:sp>
        <p:nvSpPr>
          <p:cNvPr id="5" name="Shape 2"/>
          <p:cNvSpPr/>
          <p:nvPr/>
        </p:nvSpPr>
        <p:spPr>
          <a:xfrm>
            <a:off x="0" y="2500313"/>
            <a:ext cx="9144000" cy="714375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6" name="Text 3"/>
          <p:cNvSpPr/>
          <p:nvPr/>
        </p:nvSpPr>
        <p:spPr>
          <a:xfrm>
            <a:off x="1790402" y="3600450"/>
            <a:ext cx="5563195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77" dirty="0">
                <a:solidFill>
                  <a:srgbClr val="0072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Bucket, Scope &amp; Collection Strategy with Downstream Consumption</a:t>
            </a:r>
            <a:endParaRPr lang="en-US" sz="1377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155" y="4038005"/>
            <a:ext cx="125016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333327" y="4033540"/>
            <a:ext cx="1010841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Buckets (Today)</a:t>
            </a:r>
            <a:endParaRPr lang="en-US" sz="942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1324" y="4030861"/>
            <a:ext cx="157163" cy="157163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5643" y="4038005"/>
            <a:ext cx="125016" cy="1428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947815" y="4033540"/>
            <a:ext cx="1030486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Buckets (Future)</a:t>
            </a:r>
            <a:endParaRPr lang="en-US" sz="942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5457" y="4030861"/>
            <a:ext cx="157163" cy="157163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776" y="4038005"/>
            <a:ext cx="178594" cy="14287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5635526" y="4033540"/>
            <a:ext cx="1407319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Downstream Consumers</a:t>
            </a:r>
            <a:endParaRPr lang="en-US" sz="94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64115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912614"/>
            <a:ext cx="8286750" cy="14288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3548658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2F5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Current State Architecture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428625" y="673298"/>
            <a:ext cx="354865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72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 Hierarchy: Buckets &gt; Scopes &gt; Collections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820620" y="651867"/>
            <a:ext cx="894755" cy="189309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" name="Text 5"/>
          <p:cNvSpPr/>
          <p:nvPr/>
        </p:nvSpPr>
        <p:spPr>
          <a:xfrm>
            <a:off x="7820620" y="651867"/>
            <a:ext cx="894755" cy="189309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5555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STATUS: AS-IS</a:t>
            </a:r>
            <a:endParaRPr lang="en-US" sz="683" dirty="0"/>
          </a:p>
        </p:txBody>
      </p:sp>
      <p:sp>
        <p:nvSpPr>
          <p:cNvPr id="9" name="Shape 6"/>
          <p:cNvSpPr/>
          <p:nvPr/>
        </p:nvSpPr>
        <p:spPr>
          <a:xfrm>
            <a:off x="428625" y="1397496"/>
            <a:ext cx="5253028" cy="3189684"/>
          </a:xfrm>
          <a:prstGeom prst="rect">
            <a:avLst/>
          </a:prstGeom>
          <a:solidFill>
            <a:srgbClr val="FFF5F5"/>
          </a:solidFill>
          <a:ln w="18288">
            <a:solidFill>
              <a:srgbClr val="D32F2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1500" y="1311771"/>
            <a:ext cx="1430536" cy="205383"/>
          </a:xfrm>
          <a:prstGeom prst="roundRect">
            <a:avLst/>
          </a:prstGeom>
          <a:solidFill>
            <a:srgbClr val="D32F2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357313"/>
            <a:ext cx="100013" cy="1143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85825" y="1347490"/>
            <a:ext cx="973336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Couchbase Cluster</a:t>
            </a:r>
            <a:endParaRPr lang="en-US" sz="784" dirty="0"/>
          </a:p>
        </p:txBody>
      </p:sp>
      <p:sp>
        <p:nvSpPr>
          <p:cNvPr id="13" name="Shape 9"/>
          <p:cNvSpPr/>
          <p:nvPr/>
        </p:nvSpPr>
        <p:spPr>
          <a:xfrm>
            <a:off x="571500" y="1704677"/>
            <a:ext cx="4952991" cy="841177"/>
          </a:xfrm>
          <a:prstGeom prst="rect">
            <a:avLst/>
          </a:prstGeom>
          <a:solidFill>
            <a:srgbClr val="FFFFFF"/>
          </a:solidFill>
          <a:ln w="18288">
            <a:solidFill>
              <a:srgbClr val="002F5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 rot="10800000">
            <a:off x="642938" y="1790402"/>
            <a:ext cx="285750" cy="669727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15" name="Text 11"/>
          <p:cNvSpPr/>
          <p:nvPr/>
        </p:nvSpPr>
        <p:spPr>
          <a:xfrm rot="10800000">
            <a:off x="642938" y="1790402"/>
            <a:ext cx="285750" cy="669727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LIQUIDITY</a:t>
            </a:r>
            <a:endParaRPr lang="en-US" sz="683" dirty="0"/>
          </a:p>
        </p:txBody>
      </p:sp>
      <p:sp>
        <p:nvSpPr>
          <p:cNvPr id="16" name="Shape 12"/>
          <p:cNvSpPr/>
          <p:nvPr/>
        </p:nvSpPr>
        <p:spPr>
          <a:xfrm>
            <a:off x="1035844" y="1790402"/>
            <a:ext cx="4417209" cy="669727"/>
          </a:xfrm>
          <a:prstGeom prst="rect">
            <a:avLst/>
          </a:prstGeom>
          <a:solidFill>
            <a:srgbClr val="E3F2FD"/>
          </a:solidFill>
          <a:ln w="9144">
            <a:solidFill>
              <a:srgbClr val="0072C6"/>
            </a:solidFill>
            <a:prstDash val="dash"/>
          </a:ln>
        </p:spPr>
      </p:sp>
      <p:sp>
        <p:nvSpPr>
          <p:cNvPr id="17" name="Text 13"/>
          <p:cNvSpPr/>
          <p:nvPr/>
        </p:nvSpPr>
        <p:spPr>
          <a:xfrm>
            <a:off x="1092994" y="1847552"/>
            <a:ext cx="430290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072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SCOPE: LIQ_CORE</a:t>
            </a:r>
            <a:endParaRPr lang="en-US" sz="534" dirty="0"/>
          </a:p>
        </p:txBody>
      </p:sp>
      <p:sp>
        <p:nvSpPr>
          <p:cNvPr id="18" name="Shape 14"/>
          <p:cNvSpPr/>
          <p:nvPr/>
        </p:nvSpPr>
        <p:spPr>
          <a:xfrm>
            <a:off x="1092994" y="1990427"/>
            <a:ext cx="2122894" cy="198239"/>
          </a:xfrm>
          <a:prstGeom prst="rect">
            <a:avLst/>
          </a:prstGeom>
          <a:solidFill>
            <a:srgbClr val="FFFFFF"/>
          </a:solidFill>
          <a:ln w="9144">
            <a:solidFill>
              <a:srgbClr val="90CAF9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2609" y="2042220"/>
            <a:ext cx="78581" cy="7858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981191" y="2033290"/>
            <a:ext cx="417909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cash_pos</a:t>
            </a:r>
            <a:endParaRPr lang="en-US" sz="568" dirty="0"/>
          </a:p>
        </p:txBody>
      </p:sp>
      <p:sp>
        <p:nvSpPr>
          <p:cNvPr id="21" name="Shape 16"/>
          <p:cNvSpPr/>
          <p:nvPr/>
        </p:nvSpPr>
        <p:spPr>
          <a:xfrm>
            <a:off x="3265894" y="1990427"/>
            <a:ext cx="2130037" cy="198239"/>
          </a:xfrm>
          <a:prstGeom prst="rect">
            <a:avLst/>
          </a:prstGeom>
          <a:solidFill>
            <a:srgbClr val="FFFFFF"/>
          </a:solidFill>
          <a:ln w="9144">
            <a:solidFill>
              <a:srgbClr val="90CAF9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3008" y="2042220"/>
            <a:ext cx="78581" cy="7858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141589" y="2033290"/>
            <a:ext cx="464344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forecasts</a:t>
            </a:r>
            <a:endParaRPr lang="en-US" sz="568" dirty="0"/>
          </a:p>
        </p:txBody>
      </p:sp>
      <p:sp>
        <p:nvSpPr>
          <p:cNvPr id="24" name="Shape 18"/>
          <p:cNvSpPr/>
          <p:nvPr/>
        </p:nvSpPr>
        <p:spPr>
          <a:xfrm>
            <a:off x="571500" y="2674441"/>
            <a:ext cx="4952991" cy="925116"/>
          </a:xfrm>
          <a:prstGeom prst="rect">
            <a:avLst/>
          </a:prstGeom>
          <a:solidFill>
            <a:srgbClr val="FFFFFF"/>
          </a:solidFill>
          <a:ln w="18288">
            <a:solidFill>
              <a:srgbClr val="002F5D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 rot="10800000">
            <a:off x="642938" y="2760166"/>
            <a:ext cx="285750" cy="753666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26" name="Text 20"/>
          <p:cNvSpPr/>
          <p:nvPr/>
        </p:nvSpPr>
        <p:spPr>
          <a:xfrm rot="10800000">
            <a:off x="642938" y="2760166"/>
            <a:ext cx="285750" cy="753666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REPORTING</a:t>
            </a:r>
            <a:endParaRPr lang="en-US" sz="683" dirty="0"/>
          </a:p>
        </p:txBody>
      </p:sp>
      <p:sp>
        <p:nvSpPr>
          <p:cNvPr id="27" name="Shape 21"/>
          <p:cNvSpPr/>
          <p:nvPr/>
        </p:nvSpPr>
        <p:spPr>
          <a:xfrm>
            <a:off x="1035844" y="2760166"/>
            <a:ext cx="4417209" cy="753666"/>
          </a:xfrm>
          <a:prstGeom prst="rect">
            <a:avLst/>
          </a:prstGeom>
          <a:solidFill>
            <a:srgbClr val="E3F2FD"/>
          </a:solidFill>
          <a:ln w="9144">
            <a:solidFill>
              <a:srgbClr val="0072C6"/>
            </a:solidFill>
            <a:prstDash val="dash"/>
          </a:ln>
        </p:spPr>
      </p:sp>
      <p:sp>
        <p:nvSpPr>
          <p:cNvPr id="28" name="Text 22"/>
          <p:cNvSpPr/>
          <p:nvPr/>
        </p:nvSpPr>
        <p:spPr>
          <a:xfrm>
            <a:off x="1092994" y="2817316"/>
            <a:ext cx="430290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072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SCOPE: REP_DAILY</a:t>
            </a:r>
            <a:endParaRPr lang="en-US" sz="534" dirty="0"/>
          </a:p>
        </p:txBody>
      </p:sp>
      <p:sp>
        <p:nvSpPr>
          <p:cNvPr id="29" name="Shape 23"/>
          <p:cNvSpPr/>
          <p:nvPr/>
        </p:nvSpPr>
        <p:spPr>
          <a:xfrm>
            <a:off x="1092994" y="2960191"/>
            <a:ext cx="1396212" cy="198239"/>
          </a:xfrm>
          <a:prstGeom prst="rect">
            <a:avLst/>
          </a:prstGeom>
          <a:solidFill>
            <a:srgbClr val="FFFFFF"/>
          </a:solidFill>
          <a:ln w="9144">
            <a:solidFill>
              <a:srgbClr val="90CAF9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8431" y="3011984"/>
            <a:ext cx="78581" cy="78581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547013" y="3003054"/>
            <a:ext cx="557213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agg_metrics</a:t>
            </a:r>
            <a:endParaRPr lang="en-US" sz="568" dirty="0"/>
          </a:p>
        </p:txBody>
      </p:sp>
      <p:sp>
        <p:nvSpPr>
          <p:cNvPr id="32" name="Shape 25"/>
          <p:cNvSpPr/>
          <p:nvPr/>
        </p:nvSpPr>
        <p:spPr>
          <a:xfrm>
            <a:off x="2536813" y="2960191"/>
            <a:ext cx="1400956" cy="198239"/>
          </a:xfrm>
          <a:prstGeom prst="rect">
            <a:avLst/>
          </a:prstGeom>
          <a:solidFill>
            <a:srgbClr val="FFFFFF"/>
          </a:solidFill>
          <a:ln w="9144">
            <a:solidFill>
              <a:srgbClr val="90CAF9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9045" y="3011984"/>
            <a:ext cx="78581" cy="78581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067627" y="3003054"/>
            <a:ext cx="417909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eod_snap</a:t>
            </a:r>
            <a:endParaRPr lang="en-US" sz="568" dirty="0"/>
          </a:p>
        </p:txBody>
      </p:sp>
      <p:sp>
        <p:nvSpPr>
          <p:cNvPr id="35" name="Shape 27"/>
          <p:cNvSpPr/>
          <p:nvPr/>
        </p:nvSpPr>
        <p:spPr>
          <a:xfrm>
            <a:off x="3990175" y="2960191"/>
            <a:ext cx="1405728" cy="198239"/>
          </a:xfrm>
          <a:prstGeom prst="rect">
            <a:avLst/>
          </a:prstGeom>
          <a:solidFill>
            <a:srgbClr val="FFFFFF"/>
          </a:solidFill>
          <a:ln w="9144">
            <a:solidFill>
              <a:srgbClr val="90CAF9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6362" y="3011984"/>
            <a:ext cx="78581" cy="78581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4504944" y="3003054"/>
            <a:ext cx="464344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audit_log</a:t>
            </a:r>
            <a:endParaRPr lang="en-US" sz="568" dirty="0"/>
          </a:p>
        </p:txBody>
      </p:sp>
      <p:sp>
        <p:nvSpPr>
          <p:cNvPr id="38" name="Shape 29"/>
          <p:cNvSpPr/>
          <p:nvPr/>
        </p:nvSpPr>
        <p:spPr>
          <a:xfrm>
            <a:off x="571500" y="3728145"/>
            <a:ext cx="4952991" cy="666155"/>
          </a:xfrm>
          <a:prstGeom prst="rect">
            <a:avLst/>
          </a:prstGeom>
          <a:solidFill>
            <a:srgbClr val="FFFFFF"/>
          </a:solidFill>
          <a:ln w="18288">
            <a:solidFill>
              <a:srgbClr val="002F5D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 rot="10800000">
            <a:off x="642938" y="3813870"/>
            <a:ext cx="285750" cy="494705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40" name="Text 31"/>
          <p:cNvSpPr/>
          <p:nvPr/>
        </p:nvSpPr>
        <p:spPr>
          <a:xfrm rot="10800000">
            <a:off x="642938" y="3813870"/>
            <a:ext cx="285750" cy="494705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TRADE</a:t>
            </a:r>
            <a:endParaRPr lang="en-US" sz="683" dirty="0"/>
          </a:p>
        </p:txBody>
      </p:sp>
      <p:sp>
        <p:nvSpPr>
          <p:cNvPr id="41" name="Shape 32"/>
          <p:cNvSpPr/>
          <p:nvPr/>
        </p:nvSpPr>
        <p:spPr>
          <a:xfrm>
            <a:off x="1035844" y="3813870"/>
            <a:ext cx="4417209" cy="494705"/>
          </a:xfrm>
          <a:prstGeom prst="rect">
            <a:avLst/>
          </a:prstGeom>
          <a:solidFill>
            <a:srgbClr val="E3F2FD"/>
          </a:solidFill>
          <a:ln w="9144">
            <a:solidFill>
              <a:srgbClr val="0072C6"/>
            </a:solidFill>
            <a:prstDash val="dash"/>
          </a:ln>
        </p:spPr>
      </p:sp>
      <p:sp>
        <p:nvSpPr>
          <p:cNvPr id="42" name="Text 33"/>
          <p:cNvSpPr/>
          <p:nvPr/>
        </p:nvSpPr>
        <p:spPr>
          <a:xfrm>
            <a:off x="1092994" y="3871020"/>
            <a:ext cx="430290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072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SCOPE: TRADE_OPS</a:t>
            </a:r>
            <a:endParaRPr lang="en-US" sz="534" dirty="0"/>
          </a:p>
        </p:txBody>
      </p:sp>
      <p:sp>
        <p:nvSpPr>
          <p:cNvPr id="43" name="Shape 34"/>
          <p:cNvSpPr/>
          <p:nvPr/>
        </p:nvSpPr>
        <p:spPr>
          <a:xfrm>
            <a:off x="1092994" y="4013895"/>
            <a:ext cx="2122894" cy="198239"/>
          </a:xfrm>
          <a:prstGeom prst="rect">
            <a:avLst/>
          </a:prstGeom>
          <a:solidFill>
            <a:srgbClr val="FFFFFF"/>
          </a:solidFill>
          <a:ln w="9144">
            <a:solidFill>
              <a:srgbClr val="90CAF9"/>
            </a:solidFill>
            <a:prstDash val="solid"/>
          </a:ln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72261" y="4065687"/>
            <a:ext cx="78581" cy="78581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2050842" y="4056757"/>
            <a:ext cx="278606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deals</a:t>
            </a:r>
            <a:endParaRPr lang="en-US" sz="568" dirty="0"/>
          </a:p>
        </p:txBody>
      </p:sp>
      <p:sp>
        <p:nvSpPr>
          <p:cNvPr id="46" name="Shape 36"/>
          <p:cNvSpPr/>
          <p:nvPr/>
        </p:nvSpPr>
        <p:spPr>
          <a:xfrm>
            <a:off x="3265894" y="4013895"/>
            <a:ext cx="2130037" cy="198239"/>
          </a:xfrm>
          <a:prstGeom prst="rect">
            <a:avLst/>
          </a:prstGeom>
          <a:solidFill>
            <a:srgbClr val="FFFFFF"/>
          </a:solidFill>
          <a:ln w="9144">
            <a:solidFill>
              <a:srgbClr val="90CAF9"/>
            </a:solidFill>
            <a:prstDash val="solid"/>
          </a:ln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16573" y="4065687"/>
            <a:ext cx="78581" cy="78581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4095155" y="4056757"/>
            <a:ext cx="557213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settlements</a:t>
            </a:r>
            <a:endParaRPr lang="en-US" sz="568" dirty="0"/>
          </a:p>
        </p:txBody>
      </p:sp>
      <p:sp>
        <p:nvSpPr>
          <p:cNvPr id="49" name="Shape 38"/>
          <p:cNvSpPr/>
          <p:nvPr/>
        </p:nvSpPr>
        <p:spPr>
          <a:xfrm>
            <a:off x="6238866" y="2263676"/>
            <a:ext cx="2476509" cy="585788"/>
          </a:xfrm>
          <a:prstGeom prst="rect">
            <a:avLst/>
          </a:prstGeom>
          <a:solidFill>
            <a:srgbClr val="E8F5E9"/>
          </a:solidFill>
          <a:ln w="18288">
            <a:solidFill>
              <a:srgbClr val="2E7D32"/>
            </a:solidFill>
            <a:prstDash val="solid"/>
          </a:ln>
        </p:spPr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22573" y="2426196"/>
            <a:ext cx="85725" cy="114300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7008298" y="2420838"/>
            <a:ext cx="1023342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Regulatory Reports</a:t>
            </a:r>
            <a:endParaRPr lang="en-US" sz="784" dirty="0"/>
          </a:p>
        </p:txBody>
      </p:sp>
      <p:sp>
        <p:nvSpPr>
          <p:cNvPr id="52" name="Text 40"/>
          <p:cNvSpPr/>
          <p:nvPr/>
        </p:nvSpPr>
        <p:spPr>
          <a:xfrm>
            <a:off x="6381741" y="2590502"/>
            <a:ext cx="2190759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Batch N1QL</a:t>
            </a:r>
            <a:endParaRPr lang="en-US" sz="621" dirty="0"/>
          </a:p>
        </p:txBody>
      </p:sp>
      <p:sp>
        <p:nvSpPr>
          <p:cNvPr id="53" name="Shape 41"/>
          <p:cNvSpPr/>
          <p:nvPr/>
        </p:nvSpPr>
        <p:spPr>
          <a:xfrm>
            <a:off x="6238866" y="3120926"/>
            <a:ext cx="2476509" cy="585788"/>
          </a:xfrm>
          <a:prstGeom prst="rect">
            <a:avLst/>
          </a:prstGeom>
          <a:solidFill>
            <a:srgbClr val="E8F5E9"/>
          </a:solidFill>
          <a:ln w="18288">
            <a:solidFill>
              <a:srgbClr val="2E7D32"/>
            </a:solidFill>
            <a:prstDash val="solid"/>
          </a:ln>
        </p:spPr>
      </p:sp>
      <p:pic>
        <p:nvPicPr>
          <p:cNvPr id="5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07405" y="3283446"/>
            <a:ext cx="128588" cy="114300"/>
          </a:xfrm>
          <a:prstGeom prst="rect">
            <a:avLst/>
          </a:prstGeom>
        </p:spPr>
      </p:pic>
      <p:sp>
        <p:nvSpPr>
          <p:cNvPr id="55" name="Text 42"/>
          <p:cNvSpPr/>
          <p:nvPr/>
        </p:nvSpPr>
        <p:spPr>
          <a:xfrm>
            <a:off x="7135992" y="3278088"/>
            <a:ext cx="810816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Ops Dashboard</a:t>
            </a:r>
            <a:endParaRPr lang="en-US" sz="784" dirty="0"/>
          </a:p>
        </p:txBody>
      </p:sp>
      <p:sp>
        <p:nvSpPr>
          <p:cNvPr id="56" name="Text 43"/>
          <p:cNvSpPr/>
          <p:nvPr/>
        </p:nvSpPr>
        <p:spPr>
          <a:xfrm>
            <a:off x="6381741" y="3447752"/>
            <a:ext cx="2190759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KV / View</a:t>
            </a:r>
            <a:endParaRPr lang="en-US" sz="62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64115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912614"/>
            <a:ext cx="8286750" cy="14288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3402211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2F5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Future State Architecture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428625" y="673298"/>
            <a:ext cx="340221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72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Expanded Hierarchy with New Transaction Bucket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686675" y="637580"/>
            <a:ext cx="1028700" cy="203597"/>
          </a:xfrm>
          <a:prstGeom prst="rect">
            <a:avLst/>
          </a:prstGeom>
          <a:solidFill>
            <a:srgbClr val="E8F5E9"/>
          </a:solidFill>
          <a:ln w="9144">
            <a:solidFill>
              <a:srgbClr val="2E7D3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6675" y="637580"/>
            <a:ext cx="1028700" cy="203597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STATUS: TARGET</a:t>
            </a:r>
            <a:endParaRPr lang="en-US" sz="683" dirty="0"/>
          </a:p>
        </p:txBody>
      </p:sp>
      <p:sp>
        <p:nvSpPr>
          <p:cNvPr id="9" name="Shape 6"/>
          <p:cNvSpPr/>
          <p:nvPr/>
        </p:nvSpPr>
        <p:spPr>
          <a:xfrm>
            <a:off x="428625" y="1055489"/>
            <a:ext cx="3929063" cy="3802261"/>
          </a:xfrm>
          <a:prstGeom prst="rect">
            <a:avLst/>
          </a:prstGeom>
          <a:solidFill>
            <a:srgbClr val="FFF5F5"/>
          </a:solidFill>
          <a:ln w="18288">
            <a:solidFill>
              <a:srgbClr val="D32F2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1500" y="948333"/>
            <a:ext cx="1282303" cy="189309"/>
          </a:xfrm>
          <a:prstGeom prst="roundRect">
            <a:avLst/>
          </a:prstGeom>
          <a:solidFill>
            <a:srgbClr val="D32F2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992981"/>
            <a:ext cx="87511" cy="10001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59036" y="984052"/>
            <a:ext cx="85189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Couchbase Cluster</a:t>
            </a:r>
            <a:endParaRPr lang="en-US" sz="683" dirty="0"/>
          </a:p>
        </p:txBody>
      </p:sp>
      <p:sp>
        <p:nvSpPr>
          <p:cNvPr id="13" name="Shape 9"/>
          <p:cNvSpPr/>
          <p:nvPr/>
        </p:nvSpPr>
        <p:spPr>
          <a:xfrm>
            <a:off x="535781" y="1269802"/>
            <a:ext cx="3714750" cy="487561"/>
          </a:xfrm>
          <a:prstGeom prst="rect">
            <a:avLst/>
          </a:prstGeom>
          <a:solidFill>
            <a:srgbClr val="FFFFFF"/>
          </a:solidFill>
          <a:ln w="9144">
            <a:solidFill>
              <a:srgbClr val="002F5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 rot="10800000">
            <a:off x="592931" y="1326952"/>
            <a:ext cx="214313" cy="358973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15" name="Text 11"/>
          <p:cNvSpPr/>
          <p:nvPr/>
        </p:nvSpPr>
        <p:spPr>
          <a:xfrm rot="10800000">
            <a:off x="592931" y="1326952"/>
            <a:ext cx="214312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spc="1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LIQ</a:t>
            </a:r>
            <a:endParaRPr lang="en-US" sz="534" dirty="0"/>
          </a:p>
        </p:txBody>
      </p:sp>
      <p:sp>
        <p:nvSpPr>
          <p:cNvPr id="16" name="Shape 12"/>
          <p:cNvSpPr/>
          <p:nvPr/>
        </p:nvSpPr>
        <p:spPr>
          <a:xfrm>
            <a:off x="878681" y="1326952"/>
            <a:ext cx="3314700" cy="358973"/>
          </a:xfrm>
          <a:prstGeom prst="rect">
            <a:avLst/>
          </a:prstGeom>
          <a:solidFill>
            <a:srgbClr val="E3F2FD"/>
          </a:solidFill>
          <a:ln w="9144">
            <a:solidFill>
              <a:srgbClr val="0072C6"/>
            </a:solidFill>
            <a:prstDash val="dash"/>
          </a:ln>
        </p:spPr>
      </p:sp>
      <p:sp>
        <p:nvSpPr>
          <p:cNvPr id="17" name="Text 13"/>
          <p:cNvSpPr/>
          <p:nvPr/>
        </p:nvSpPr>
        <p:spPr>
          <a:xfrm>
            <a:off x="914400" y="1362670"/>
            <a:ext cx="3243263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072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SCOPE: LIQ_CORE</a:t>
            </a:r>
            <a:endParaRPr lang="en-US" sz="485" dirty="0"/>
          </a:p>
        </p:txBody>
      </p:sp>
      <p:sp>
        <p:nvSpPr>
          <p:cNvPr id="18" name="Shape 14"/>
          <p:cNvSpPr/>
          <p:nvPr/>
        </p:nvSpPr>
        <p:spPr>
          <a:xfrm>
            <a:off x="914400" y="1475184"/>
            <a:ext cx="1603772" cy="160734"/>
          </a:xfrm>
          <a:prstGeom prst="rect">
            <a:avLst/>
          </a:prstGeom>
          <a:solidFill>
            <a:srgbClr val="FFFFFF"/>
          </a:solidFill>
          <a:ln w="9144">
            <a:solidFill>
              <a:srgbClr val="90CAF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14400" y="1475184"/>
            <a:ext cx="1603772" cy="160734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cash_pos</a:t>
            </a:r>
            <a:endParaRPr lang="en-US" sz="516" dirty="0"/>
          </a:p>
        </p:txBody>
      </p:sp>
      <p:sp>
        <p:nvSpPr>
          <p:cNvPr id="20" name="Shape 16"/>
          <p:cNvSpPr/>
          <p:nvPr/>
        </p:nvSpPr>
        <p:spPr>
          <a:xfrm>
            <a:off x="2546747" y="1475184"/>
            <a:ext cx="1610916" cy="160734"/>
          </a:xfrm>
          <a:prstGeom prst="rect">
            <a:avLst/>
          </a:prstGeom>
          <a:solidFill>
            <a:srgbClr val="FFFFFF"/>
          </a:solidFill>
          <a:ln w="9144">
            <a:solidFill>
              <a:srgbClr val="90CAF9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546747" y="1475184"/>
            <a:ext cx="1610916" cy="160734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forecasts</a:t>
            </a:r>
            <a:endParaRPr lang="en-US" sz="516" dirty="0"/>
          </a:p>
        </p:txBody>
      </p:sp>
      <p:sp>
        <p:nvSpPr>
          <p:cNvPr id="22" name="Shape 18"/>
          <p:cNvSpPr/>
          <p:nvPr/>
        </p:nvSpPr>
        <p:spPr>
          <a:xfrm>
            <a:off x="535781" y="1800225"/>
            <a:ext cx="3714750" cy="487561"/>
          </a:xfrm>
          <a:prstGeom prst="rect">
            <a:avLst/>
          </a:prstGeom>
          <a:solidFill>
            <a:srgbClr val="FFFFFF"/>
          </a:solidFill>
          <a:ln w="9144">
            <a:solidFill>
              <a:srgbClr val="002F5D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 rot="10800000">
            <a:off x="592931" y="1857375"/>
            <a:ext cx="214313" cy="358973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24" name="Text 20"/>
          <p:cNvSpPr/>
          <p:nvPr/>
        </p:nvSpPr>
        <p:spPr>
          <a:xfrm rot="10800000">
            <a:off x="592931" y="1857375"/>
            <a:ext cx="214312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spc="1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</a:t>
            </a:r>
            <a:endParaRPr lang="en-US" sz="534" dirty="0"/>
          </a:p>
        </p:txBody>
      </p:sp>
      <p:sp>
        <p:nvSpPr>
          <p:cNvPr id="25" name="Shape 21"/>
          <p:cNvSpPr/>
          <p:nvPr/>
        </p:nvSpPr>
        <p:spPr>
          <a:xfrm>
            <a:off x="878681" y="1857375"/>
            <a:ext cx="3314700" cy="358973"/>
          </a:xfrm>
          <a:prstGeom prst="rect">
            <a:avLst/>
          </a:prstGeom>
          <a:solidFill>
            <a:srgbClr val="E3F2FD"/>
          </a:solidFill>
          <a:ln w="9144">
            <a:solidFill>
              <a:srgbClr val="0072C6"/>
            </a:solidFill>
            <a:prstDash val="dash"/>
          </a:ln>
        </p:spPr>
      </p:sp>
      <p:sp>
        <p:nvSpPr>
          <p:cNvPr id="26" name="Text 22"/>
          <p:cNvSpPr/>
          <p:nvPr/>
        </p:nvSpPr>
        <p:spPr>
          <a:xfrm>
            <a:off x="914400" y="1893094"/>
            <a:ext cx="3243263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072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SCOPE: REP_DAILY</a:t>
            </a:r>
            <a:endParaRPr lang="en-US" sz="485" dirty="0"/>
          </a:p>
        </p:txBody>
      </p:sp>
      <p:sp>
        <p:nvSpPr>
          <p:cNvPr id="27" name="Shape 23"/>
          <p:cNvSpPr/>
          <p:nvPr/>
        </p:nvSpPr>
        <p:spPr>
          <a:xfrm>
            <a:off x="914400" y="2005608"/>
            <a:ext cx="1603772" cy="160734"/>
          </a:xfrm>
          <a:prstGeom prst="rect">
            <a:avLst/>
          </a:prstGeom>
          <a:solidFill>
            <a:srgbClr val="FFFFFF"/>
          </a:solidFill>
          <a:ln w="9144">
            <a:solidFill>
              <a:srgbClr val="90CAF9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914400" y="2005608"/>
            <a:ext cx="1603772" cy="160734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agg_metrics</a:t>
            </a:r>
            <a:endParaRPr lang="en-US" sz="516" dirty="0"/>
          </a:p>
        </p:txBody>
      </p:sp>
      <p:sp>
        <p:nvSpPr>
          <p:cNvPr id="29" name="Shape 25"/>
          <p:cNvSpPr/>
          <p:nvPr/>
        </p:nvSpPr>
        <p:spPr>
          <a:xfrm>
            <a:off x="2546747" y="2005608"/>
            <a:ext cx="1610916" cy="160734"/>
          </a:xfrm>
          <a:prstGeom prst="rect">
            <a:avLst/>
          </a:prstGeom>
          <a:solidFill>
            <a:srgbClr val="FFFFFF"/>
          </a:solidFill>
          <a:ln w="9144">
            <a:solidFill>
              <a:srgbClr val="90CAF9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546747" y="2005608"/>
            <a:ext cx="1610916" cy="160734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eod_snap</a:t>
            </a:r>
            <a:endParaRPr lang="en-US" sz="516" dirty="0"/>
          </a:p>
        </p:txBody>
      </p:sp>
      <p:sp>
        <p:nvSpPr>
          <p:cNvPr id="31" name="Shape 27"/>
          <p:cNvSpPr/>
          <p:nvPr/>
        </p:nvSpPr>
        <p:spPr>
          <a:xfrm>
            <a:off x="535781" y="2330648"/>
            <a:ext cx="3714750" cy="487561"/>
          </a:xfrm>
          <a:prstGeom prst="rect">
            <a:avLst/>
          </a:prstGeom>
          <a:solidFill>
            <a:srgbClr val="FFFFFF"/>
          </a:solidFill>
          <a:ln w="9144">
            <a:solidFill>
              <a:srgbClr val="002F5D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 rot="10800000">
            <a:off x="592931" y="2387798"/>
            <a:ext cx="214313" cy="358973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33" name="Text 29"/>
          <p:cNvSpPr/>
          <p:nvPr/>
        </p:nvSpPr>
        <p:spPr>
          <a:xfrm rot="10800000">
            <a:off x="592931" y="2387798"/>
            <a:ext cx="214312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spc="1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TRD</a:t>
            </a:r>
            <a:endParaRPr lang="en-US" sz="534" dirty="0"/>
          </a:p>
        </p:txBody>
      </p:sp>
      <p:sp>
        <p:nvSpPr>
          <p:cNvPr id="34" name="Shape 30"/>
          <p:cNvSpPr/>
          <p:nvPr/>
        </p:nvSpPr>
        <p:spPr>
          <a:xfrm>
            <a:off x="878681" y="2387798"/>
            <a:ext cx="3314700" cy="358973"/>
          </a:xfrm>
          <a:prstGeom prst="rect">
            <a:avLst/>
          </a:prstGeom>
          <a:solidFill>
            <a:srgbClr val="E3F2FD"/>
          </a:solidFill>
          <a:ln w="9144">
            <a:solidFill>
              <a:srgbClr val="0072C6"/>
            </a:solidFill>
            <a:prstDash val="dash"/>
          </a:ln>
        </p:spPr>
      </p:sp>
      <p:sp>
        <p:nvSpPr>
          <p:cNvPr id="35" name="Text 31"/>
          <p:cNvSpPr/>
          <p:nvPr/>
        </p:nvSpPr>
        <p:spPr>
          <a:xfrm>
            <a:off x="914400" y="2423517"/>
            <a:ext cx="3243263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072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SCOPE: TRADE_OPS</a:t>
            </a:r>
            <a:endParaRPr lang="en-US" sz="485" dirty="0"/>
          </a:p>
        </p:txBody>
      </p:sp>
      <p:sp>
        <p:nvSpPr>
          <p:cNvPr id="36" name="Shape 32"/>
          <p:cNvSpPr/>
          <p:nvPr/>
        </p:nvSpPr>
        <p:spPr>
          <a:xfrm>
            <a:off x="914400" y="2536031"/>
            <a:ext cx="1603772" cy="160734"/>
          </a:xfrm>
          <a:prstGeom prst="rect">
            <a:avLst/>
          </a:prstGeom>
          <a:solidFill>
            <a:srgbClr val="FFFFFF"/>
          </a:solidFill>
          <a:ln w="9144">
            <a:solidFill>
              <a:srgbClr val="90CAF9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914400" y="2536031"/>
            <a:ext cx="1603772" cy="160734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deals</a:t>
            </a:r>
            <a:endParaRPr lang="en-US" sz="516" dirty="0"/>
          </a:p>
        </p:txBody>
      </p:sp>
      <p:sp>
        <p:nvSpPr>
          <p:cNvPr id="38" name="Shape 34"/>
          <p:cNvSpPr/>
          <p:nvPr/>
        </p:nvSpPr>
        <p:spPr>
          <a:xfrm>
            <a:off x="2546747" y="2536031"/>
            <a:ext cx="1610916" cy="160734"/>
          </a:xfrm>
          <a:prstGeom prst="rect">
            <a:avLst/>
          </a:prstGeom>
          <a:solidFill>
            <a:srgbClr val="FFFFFF"/>
          </a:solidFill>
          <a:ln w="9144">
            <a:solidFill>
              <a:srgbClr val="90CAF9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2546747" y="2536031"/>
            <a:ext cx="1610916" cy="160734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settlements</a:t>
            </a:r>
            <a:endParaRPr lang="en-US" sz="516" dirty="0"/>
          </a:p>
        </p:txBody>
      </p:sp>
      <p:sp>
        <p:nvSpPr>
          <p:cNvPr id="40" name="Shape 36"/>
          <p:cNvSpPr/>
          <p:nvPr/>
        </p:nvSpPr>
        <p:spPr>
          <a:xfrm>
            <a:off x="535781" y="2861072"/>
            <a:ext cx="3714750" cy="501848"/>
          </a:xfrm>
          <a:prstGeom prst="rect">
            <a:avLst/>
          </a:prstGeom>
          <a:solidFill>
            <a:srgbClr val="F1F8E9"/>
          </a:solidFill>
          <a:ln w="18288">
            <a:solidFill>
              <a:srgbClr val="2E7D32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 rot="10800000">
            <a:off x="592931" y="2918222"/>
            <a:ext cx="214313" cy="358973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2" name="Text 38"/>
          <p:cNvSpPr/>
          <p:nvPr/>
        </p:nvSpPr>
        <p:spPr>
          <a:xfrm rot="10800000">
            <a:off x="592931" y="2918222"/>
            <a:ext cx="214312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spc="1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TXN</a:t>
            </a:r>
            <a:endParaRPr lang="en-US" sz="534" dirty="0"/>
          </a:p>
        </p:txBody>
      </p:sp>
      <p:sp>
        <p:nvSpPr>
          <p:cNvPr id="43" name="Shape 39"/>
          <p:cNvSpPr/>
          <p:nvPr/>
        </p:nvSpPr>
        <p:spPr>
          <a:xfrm>
            <a:off x="878681" y="2918222"/>
            <a:ext cx="3314700" cy="358973"/>
          </a:xfrm>
          <a:prstGeom prst="rect">
            <a:avLst/>
          </a:prstGeom>
          <a:solidFill>
            <a:srgbClr val="DCEDC8"/>
          </a:solidFill>
          <a:ln w="9144">
            <a:solidFill>
              <a:srgbClr val="2E7D32"/>
            </a:solidFill>
            <a:prstDash val="dash"/>
          </a:ln>
        </p:spPr>
      </p:sp>
      <p:sp>
        <p:nvSpPr>
          <p:cNvPr id="44" name="Text 40"/>
          <p:cNvSpPr/>
          <p:nvPr/>
        </p:nvSpPr>
        <p:spPr>
          <a:xfrm>
            <a:off x="914400" y="2953941"/>
            <a:ext cx="3243263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SCOPE: TRANS_LOG</a:t>
            </a:r>
            <a:endParaRPr lang="en-US" sz="485" dirty="0"/>
          </a:p>
        </p:txBody>
      </p:sp>
      <p:sp>
        <p:nvSpPr>
          <p:cNvPr id="45" name="Shape 41"/>
          <p:cNvSpPr/>
          <p:nvPr/>
        </p:nvSpPr>
        <p:spPr>
          <a:xfrm>
            <a:off x="914400" y="3066455"/>
            <a:ext cx="1057275" cy="160734"/>
          </a:xfrm>
          <a:prstGeom prst="rect">
            <a:avLst/>
          </a:prstGeom>
          <a:solidFill>
            <a:srgbClr val="FFFFFF"/>
          </a:solidFill>
          <a:ln w="9144">
            <a:solidFill>
              <a:srgbClr val="AED581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914400" y="3066455"/>
            <a:ext cx="1057275" cy="160734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audit_trail</a:t>
            </a:r>
            <a:endParaRPr lang="en-US" sz="516" dirty="0"/>
          </a:p>
        </p:txBody>
      </p:sp>
      <p:sp>
        <p:nvSpPr>
          <p:cNvPr id="47" name="Shape 43"/>
          <p:cNvSpPr/>
          <p:nvPr/>
        </p:nvSpPr>
        <p:spPr>
          <a:xfrm>
            <a:off x="1997878" y="3066455"/>
            <a:ext cx="1062047" cy="160734"/>
          </a:xfrm>
          <a:prstGeom prst="rect">
            <a:avLst/>
          </a:prstGeom>
          <a:solidFill>
            <a:srgbClr val="FFFFFF"/>
          </a:solidFill>
          <a:ln w="9144">
            <a:solidFill>
              <a:srgbClr val="AED581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1997878" y="3066455"/>
            <a:ext cx="1062047" cy="160734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events</a:t>
            </a:r>
            <a:endParaRPr lang="en-US" sz="516" dirty="0"/>
          </a:p>
        </p:txBody>
      </p:sp>
      <p:sp>
        <p:nvSpPr>
          <p:cNvPr id="49" name="Shape 45"/>
          <p:cNvSpPr/>
          <p:nvPr/>
        </p:nvSpPr>
        <p:spPr>
          <a:xfrm>
            <a:off x="3090844" y="3066455"/>
            <a:ext cx="1066791" cy="160734"/>
          </a:xfrm>
          <a:prstGeom prst="rect">
            <a:avLst/>
          </a:prstGeom>
          <a:solidFill>
            <a:srgbClr val="FFFFFF"/>
          </a:solidFill>
          <a:ln w="9144">
            <a:solidFill>
              <a:srgbClr val="AED581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3090844" y="3066455"/>
            <a:ext cx="1066791" cy="160734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metadata</a:t>
            </a:r>
            <a:endParaRPr lang="en-US" sz="516" dirty="0"/>
          </a:p>
        </p:txBody>
      </p:sp>
      <p:sp>
        <p:nvSpPr>
          <p:cNvPr id="51" name="Text 47"/>
          <p:cNvSpPr/>
          <p:nvPr/>
        </p:nvSpPr>
        <p:spPr>
          <a:xfrm>
            <a:off x="4650581" y="2235101"/>
            <a:ext cx="1707356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9999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CONSUMPTION</a:t>
            </a:r>
            <a:endParaRPr lang="en-US" sz="534" dirty="0"/>
          </a:p>
        </p:txBody>
      </p:sp>
      <p:sp>
        <p:nvSpPr>
          <p:cNvPr id="52" name="Shape 48"/>
          <p:cNvSpPr/>
          <p:nvPr/>
        </p:nvSpPr>
        <p:spPr>
          <a:xfrm>
            <a:off x="4650581" y="2435126"/>
            <a:ext cx="1707356" cy="342900"/>
          </a:xfrm>
          <a:prstGeom prst="rect">
            <a:avLst/>
          </a:prstGeom>
          <a:solidFill>
            <a:srgbClr val="E3F2FD"/>
          </a:solidFill>
          <a:ln w="9144">
            <a:solidFill>
              <a:srgbClr val="0072C6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4722019" y="2513707"/>
            <a:ext cx="1564481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72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 Gateway</a:t>
            </a:r>
            <a:endParaRPr lang="en-US" sz="584" dirty="0"/>
          </a:p>
        </p:txBody>
      </p:sp>
      <p:sp>
        <p:nvSpPr>
          <p:cNvPr id="54" name="Text 50"/>
          <p:cNvSpPr/>
          <p:nvPr/>
        </p:nvSpPr>
        <p:spPr>
          <a:xfrm>
            <a:off x="4722019" y="2615505"/>
            <a:ext cx="1564481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Microservices</a:t>
            </a:r>
            <a:endParaRPr lang="en-US" sz="516" dirty="0"/>
          </a:p>
        </p:txBody>
      </p:sp>
      <p:sp>
        <p:nvSpPr>
          <p:cNvPr id="55" name="Shape 51"/>
          <p:cNvSpPr/>
          <p:nvPr/>
        </p:nvSpPr>
        <p:spPr>
          <a:xfrm>
            <a:off x="4650581" y="2878038"/>
            <a:ext cx="1707356" cy="342900"/>
          </a:xfrm>
          <a:prstGeom prst="rect">
            <a:avLst/>
          </a:prstGeom>
          <a:solidFill>
            <a:srgbClr val="E8F5E9"/>
          </a:solidFill>
          <a:ln w="9144">
            <a:solidFill>
              <a:srgbClr val="2E7D32"/>
            </a:solidFill>
            <a:prstDash val="dash"/>
          </a:ln>
        </p:spPr>
      </p:sp>
      <p:sp>
        <p:nvSpPr>
          <p:cNvPr id="56" name="Text 52"/>
          <p:cNvSpPr/>
          <p:nvPr/>
        </p:nvSpPr>
        <p:spPr>
          <a:xfrm>
            <a:off x="4722019" y="2956620"/>
            <a:ext cx="1564481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Kafka Stream </a:t>
            </a:r>
            <a:pPr algn="ctr" indent="0" marL="0">
              <a:lnSpc>
                <a:spcPts val="800"/>
              </a:lnSpc>
              <a:buNone/>
            </a:pPr>
            <a:r>
              <a:rPr lang="en-US" sz="43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</a:t>
            </a:r>
            <a:endParaRPr lang="en-US" sz="584" dirty="0"/>
          </a:p>
        </p:txBody>
      </p:sp>
      <p:sp>
        <p:nvSpPr>
          <p:cNvPr id="57" name="Text 53"/>
          <p:cNvSpPr/>
          <p:nvPr/>
        </p:nvSpPr>
        <p:spPr>
          <a:xfrm>
            <a:off x="4722019" y="3058418"/>
            <a:ext cx="1564481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CDC from 'TXN'</a:t>
            </a:r>
            <a:endParaRPr lang="en-US" sz="516" dirty="0"/>
          </a:p>
        </p:txBody>
      </p:sp>
      <p:sp>
        <p:nvSpPr>
          <p:cNvPr id="58" name="Shape 54"/>
          <p:cNvSpPr/>
          <p:nvPr/>
        </p:nvSpPr>
        <p:spPr>
          <a:xfrm>
            <a:off x="4650581" y="3320951"/>
            <a:ext cx="1707356" cy="342900"/>
          </a:xfrm>
          <a:prstGeom prst="rect">
            <a:avLst/>
          </a:prstGeom>
          <a:solidFill>
            <a:srgbClr val="E3F2FD"/>
          </a:solidFill>
          <a:ln w="9144">
            <a:solidFill>
              <a:srgbClr val="0072C6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4722019" y="3399532"/>
            <a:ext cx="1564481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72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Analytics</a:t>
            </a:r>
            <a:endParaRPr lang="en-US" sz="584" dirty="0"/>
          </a:p>
        </p:txBody>
      </p:sp>
      <p:sp>
        <p:nvSpPr>
          <p:cNvPr id="60" name="Text 56"/>
          <p:cNvSpPr/>
          <p:nvPr/>
        </p:nvSpPr>
        <p:spPr>
          <a:xfrm>
            <a:off x="4722019" y="3501330"/>
            <a:ext cx="1564481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Cross-Bucket Joins</a:t>
            </a:r>
            <a:endParaRPr lang="en-US" sz="516" dirty="0"/>
          </a:p>
        </p:txBody>
      </p:sp>
      <p:sp>
        <p:nvSpPr>
          <p:cNvPr id="61" name="Shape 57"/>
          <p:cNvSpPr/>
          <p:nvPr/>
        </p:nvSpPr>
        <p:spPr>
          <a:xfrm>
            <a:off x="6572250" y="1055489"/>
            <a:ext cx="2143125" cy="3802261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2" name="Shape 58"/>
          <p:cNvSpPr/>
          <p:nvPr/>
        </p:nvSpPr>
        <p:spPr>
          <a:xfrm>
            <a:off x="6572250" y="1055489"/>
            <a:ext cx="28575" cy="3802261"/>
          </a:xfrm>
          <a:prstGeom prst="rect">
            <a:avLst/>
          </a:prstGeom>
          <a:solidFill>
            <a:srgbClr val="002F5D"/>
          </a:solidFill>
          <a:ln/>
        </p:spPr>
      </p:sp>
      <p:pic>
        <p:nvPicPr>
          <p:cNvPr id="6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406" y="1171575"/>
            <a:ext cx="87511" cy="100013"/>
          </a:xfrm>
          <a:prstGeom prst="rect">
            <a:avLst/>
          </a:prstGeom>
        </p:spPr>
      </p:pic>
      <p:sp>
        <p:nvSpPr>
          <p:cNvPr id="64" name="Text 59"/>
          <p:cNvSpPr/>
          <p:nvPr/>
        </p:nvSpPr>
        <p:spPr>
          <a:xfrm>
            <a:off x="6824067" y="1162645"/>
            <a:ext cx="43041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2F5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Roadmap</a:t>
            </a:r>
            <a:endParaRPr lang="en-US" sz="683" dirty="0"/>
          </a:p>
        </p:txBody>
      </p:sp>
      <p:sp>
        <p:nvSpPr>
          <p:cNvPr id="65" name="Shape 60"/>
          <p:cNvSpPr/>
          <p:nvPr/>
        </p:nvSpPr>
        <p:spPr>
          <a:xfrm>
            <a:off x="6679406" y="1373386"/>
            <a:ext cx="35719" cy="35719"/>
          </a:xfrm>
          <a:prstGeom prst="ellipse">
            <a:avLst/>
          </a:prstGeom>
          <a:solidFill>
            <a:srgbClr val="0072C6"/>
          </a:solidFill>
          <a:ln/>
        </p:spPr>
      </p:sp>
      <p:sp>
        <p:nvSpPr>
          <p:cNvPr id="66" name="Text 61"/>
          <p:cNvSpPr/>
          <p:nvPr/>
        </p:nvSpPr>
        <p:spPr>
          <a:xfrm>
            <a:off x="6765131" y="1337667"/>
            <a:ext cx="241102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Q3 '24:</a:t>
            </a:r>
            <a:endParaRPr lang="en-US" sz="534" dirty="0"/>
          </a:p>
        </p:txBody>
      </p:sp>
      <p:sp>
        <p:nvSpPr>
          <p:cNvPr id="67" name="Text 62"/>
          <p:cNvSpPr/>
          <p:nvPr/>
        </p:nvSpPr>
        <p:spPr>
          <a:xfrm>
            <a:off x="7006233" y="1337667"/>
            <a:ext cx="726877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Bucket/Scope Setup</a:t>
            </a:r>
            <a:endParaRPr lang="en-US" sz="568" dirty="0"/>
          </a:p>
        </p:txBody>
      </p:sp>
      <p:sp>
        <p:nvSpPr>
          <p:cNvPr id="68" name="Shape 63"/>
          <p:cNvSpPr/>
          <p:nvPr/>
        </p:nvSpPr>
        <p:spPr>
          <a:xfrm>
            <a:off x="6679406" y="1509117"/>
            <a:ext cx="35719" cy="35719"/>
          </a:xfrm>
          <a:prstGeom prst="ellipse">
            <a:avLst/>
          </a:prstGeom>
          <a:solidFill>
            <a:srgbClr val="0072C6"/>
          </a:solidFill>
          <a:ln/>
        </p:spPr>
      </p:sp>
      <p:sp>
        <p:nvSpPr>
          <p:cNvPr id="69" name="Text 64"/>
          <p:cNvSpPr/>
          <p:nvPr/>
        </p:nvSpPr>
        <p:spPr>
          <a:xfrm>
            <a:off x="6765131" y="1473398"/>
            <a:ext cx="241102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Q4 '24:</a:t>
            </a:r>
            <a:endParaRPr lang="en-US" sz="534" dirty="0"/>
          </a:p>
        </p:txBody>
      </p:sp>
      <p:sp>
        <p:nvSpPr>
          <p:cNvPr id="70" name="Text 65"/>
          <p:cNvSpPr/>
          <p:nvPr/>
        </p:nvSpPr>
        <p:spPr>
          <a:xfrm>
            <a:off x="7006233" y="1473398"/>
            <a:ext cx="759023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Migration (TXN)</a:t>
            </a:r>
            <a:endParaRPr lang="en-US" sz="568" dirty="0"/>
          </a:p>
        </p:txBody>
      </p:sp>
      <p:sp>
        <p:nvSpPr>
          <p:cNvPr id="71" name="Shape 66"/>
          <p:cNvSpPr/>
          <p:nvPr/>
        </p:nvSpPr>
        <p:spPr>
          <a:xfrm>
            <a:off x="6679406" y="1644848"/>
            <a:ext cx="35719" cy="35719"/>
          </a:xfrm>
          <a:prstGeom prst="ellipse">
            <a:avLst/>
          </a:prstGeom>
          <a:solidFill>
            <a:srgbClr val="0072C6"/>
          </a:solidFill>
          <a:ln/>
        </p:spPr>
      </p:sp>
      <p:sp>
        <p:nvSpPr>
          <p:cNvPr id="72" name="Text 67"/>
          <p:cNvSpPr/>
          <p:nvPr/>
        </p:nvSpPr>
        <p:spPr>
          <a:xfrm>
            <a:off x="6765131" y="1609130"/>
            <a:ext cx="241102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Q1 '25:</a:t>
            </a:r>
            <a:endParaRPr lang="en-US" sz="534" dirty="0"/>
          </a:p>
        </p:txBody>
      </p:sp>
      <p:sp>
        <p:nvSpPr>
          <p:cNvPr id="73" name="Text 68"/>
          <p:cNvSpPr/>
          <p:nvPr/>
        </p:nvSpPr>
        <p:spPr>
          <a:xfrm>
            <a:off x="7006233" y="1609130"/>
            <a:ext cx="555427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 Integration</a:t>
            </a:r>
            <a:endParaRPr lang="en-US" sz="568" dirty="0"/>
          </a:p>
        </p:txBody>
      </p:sp>
      <p:sp>
        <p:nvSpPr>
          <p:cNvPr id="74" name="Shape 69"/>
          <p:cNvSpPr/>
          <p:nvPr/>
        </p:nvSpPr>
        <p:spPr>
          <a:xfrm>
            <a:off x="6679406" y="1780580"/>
            <a:ext cx="35719" cy="35719"/>
          </a:xfrm>
          <a:prstGeom prst="ellipse">
            <a:avLst/>
          </a:prstGeom>
          <a:solidFill>
            <a:srgbClr val="0072C6"/>
          </a:solidFill>
          <a:ln/>
        </p:spPr>
      </p:sp>
      <p:sp>
        <p:nvSpPr>
          <p:cNvPr id="75" name="Text 70"/>
          <p:cNvSpPr/>
          <p:nvPr/>
        </p:nvSpPr>
        <p:spPr>
          <a:xfrm>
            <a:off x="6765131" y="1744861"/>
            <a:ext cx="241102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Q2 '25:</a:t>
            </a:r>
            <a:endParaRPr lang="en-US" sz="534" dirty="0"/>
          </a:p>
        </p:txBody>
      </p:sp>
      <p:sp>
        <p:nvSpPr>
          <p:cNvPr id="76" name="Text 71"/>
          <p:cNvSpPr/>
          <p:nvPr/>
        </p:nvSpPr>
        <p:spPr>
          <a:xfrm>
            <a:off x="7006233" y="1744861"/>
            <a:ext cx="546497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Decommission</a:t>
            </a:r>
            <a:endParaRPr lang="en-US" sz="568" dirty="0"/>
          </a:p>
        </p:txBody>
      </p:sp>
      <p:pic>
        <p:nvPicPr>
          <p:cNvPr id="7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9406" y="2032397"/>
            <a:ext cx="75009" cy="100013"/>
          </a:xfrm>
          <a:prstGeom prst="rect">
            <a:avLst/>
          </a:prstGeom>
        </p:spPr>
      </p:pic>
      <p:sp>
        <p:nvSpPr>
          <p:cNvPr id="78" name="Text 72"/>
          <p:cNvSpPr/>
          <p:nvPr/>
        </p:nvSpPr>
        <p:spPr>
          <a:xfrm>
            <a:off x="6811566" y="2023467"/>
            <a:ext cx="596503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2F5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Assumptions</a:t>
            </a:r>
            <a:endParaRPr lang="en-US" sz="683" dirty="0"/>
          </a:p>
        </p:txBody>
      </p:sp>
      <p:sp>
        <p:nvSpPr>
          <p:cNvPr id="79" name="Text 73"/>
          <p:cNvSpPr/>
          <p:nvPr/>
        </p:nvSpPr>
        <p:spPr>
          <a:xfrm>
            <a:off x="6679406" y="2198489"/>
            <a:ext cx="1928813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20% Bandwidth Growth</a:t>
            </a:r>
            <a:endParaRPr lang="en-US" sz="568" dirty="0"/>
          </a:p>
        </p:txBody>
      </p:sp>
      <p:sp>
        <p:nvSpPr>
          <p:cNvPr id="80" name="Text 74"/>
          <p:cNvSpPr/>
          <p:nvPr/>
        </p:nvSpPr>
        <p:spPr>
          <a:xfrm>
            <a:off x="6679406" y="2291358"/>
            <a:ext cx="1928813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SDK 3.0+ Upgrade</a:t>
            </a:r>
            <a:endParaRPr lang="en-US" sz="568" dirty="0"/>
          </a:p>
        </p:txBody>
      </p:sp>
      <p:sp>
        <p:nvSpPr>
          <p:cNvPr id="81" name="Text 75"/>
          <p:cNvSpPr/>
          <p:nvPr/>
        </p:nvSpPr>
        <p:spPr>
          <a:xfrm>
            <a:off x="6679406" y="2384227"/>
            <a:ext cx="1928813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Security Policies OK</a:t>
            </a:r>
            <a:endParaRPr lang="en-US" sz="568" dirty="0"/>
          </a:p>
        </p:txBody>
      </p:sp>
      <p:sp>
        <p:nvSpPr>
          <p:cNvPr id="82" name="Text 76"/>
          <p:cNvSpPr/>
          <p:nvPr/>
        </p:nvSpPr>
        <p:spPr>
          <a:xfrm>
            <a:off x="6679406" y="2477095"/>
            <a:ext cx="1928813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No Schema Changes</a:t>
            </a:r>
            <a:endParaRPr lang="en-US" sz="56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2026-03-04T13:31:42Z</dcterms:created>
  <dcterms:modified xsi:type="dcterms:W3CDTF">2026-03-04T13:31:42Z</dcterms:modified>
</cp:coreProperties>
</file>