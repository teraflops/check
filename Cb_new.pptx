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857500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4" name="Text 1"/>
          <p:cNvSpPr/>
          <p:nvPr/>
        </p:nvSpPr>
        <p:spPr>
          <a:xfrm>
            <a:off x="2561927" y="982991"/>
            <a:ext cx="4020145" cy="89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Architecture</a:t>
            </a:r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&amp; Future State</a:t>
            </a:r>
            <a:endParaRPr lang="en-US" sz="2649" dirty="0"/>
          </a:p>
        </p:txBody>
      </p:sp>
      <p:sp>
        <p:nvSpPr>
          <p:cNvPr id="5" name="Shape 2"/>
          <p:cNvSpPr/>
          <p:nvPr/>
        </p:nvSpPr>
        <p:spPr>
          <a:xfrm>
            <a:off x="0" y="2500313"/>
            <a:ext cx="9144000" cy="714375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6" name="Text 3"/>
          <p:cNvSpPr/>
          <p:nvPr/>
        </p:nvSpPr>
        <p:spPr>
          <a:xfrm>
            <a:off x="1790402" y="3600450"/>
            <a:ext cx="5563195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77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Bucket, Scope &amp; Collection Strategy with Downstream Consumption</a:t>
            </a:r>
            <a:endParaRPr lang="en-US" sz="1377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155" y="4038005"/>
            <a:ext cx="12501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3327" y="4033540"/>
            <a:ext cx="101084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Buckets (Today)</a:t>
            </a:r>
            <a:endParaRPr lang="en-US" sz="942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324" y="4030861"/>
            <a:ext cx="157163" cy="15716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643" y="4038005"/>
            <a:ext cx="125016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47815" y="4033540"/>
            <a:ext cx="103048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Buckets (Future)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5457" y="4030861"/>
            <a:ext cx="157163" cy="157163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776" y="4038005"/>
            <a:ext cx="178594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635526" y="4033540"/>
            <a:ext cx="140731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Downstream Consumers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142875"/>
            <a:ext cx="8572500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460772"/>
            <a:ext cx="85725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2875"/>
            <a:ext cx="4186238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– Current Data Flow (Overall)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8099227" y="266105"/>
            <a:ext cx="759023" cy="1589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4"/>
          <p:cNvSpPr/>
          <p:nvPr/>
        </p:nvSpPr>
        <p:spPr>
          <a:xfrm>
            <a:off x="8099227" y="266105"/>
            <a:ext cx="759023" cy="158948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STATUS: AS-IS</a:t>
            </a:r>
            <a:endParaRPr lang="en-US" sz="584" dirty="0"/>
          </a:p>
        </p:txBody>
      </p:sp>
      <p:sp>
        <p:nvSpPr>
          <p:cNvPr id="8" name="Shape 5"/>
          <p:cNvSpPr/>
          <p:nvPr/>
        </p:nvSpPr>
        <p:spPr>
          <a:xfrm>
            <a:off x="285750" y="567928"/>
            <a:ext cx="4686300" cy="4286250"/>
          </a:xfrm>
          <a:prstGeom prst="rect">
            <a:avLst/>
          </a:prstGeom>
          <a:solidFill>
            <a:srgbClr val="FFEBEE"/>
          </a:solidFill>
          <a:ln w="18288">
            <a:solidFill>
              <a:srgbClr val="D32F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8625" y="482203"/>
            <a:ext cx="1030486" cy="144661"/>
          </a:xfrm>
          <a:prstGeom prst="roundRect">
            <a:avLst/>
          </a:prstGeom>
          <a:solidFill>
            <a:srgbClr val="D32F2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511671"/>
            <a:ext cx="85725" cy="857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2938" y="503634"/>
            <a:ext cx="730448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Cluster</a:t>
            </a:r>
            <a:endParaRPr lang="en-US" sz="584" dirty="0"/>
          </a:p>
        </p:txBody>
      </p:sp>
      <p:sp>
        <p:nvSpPr>
          <p:cNvPr id="12" name="Shape 8"/>
          <p:cNvSpPr/>
          <p:nvPr/>
        </p:nvSpPr>
        <p:spPr>
          <a:xfrm>
            <a:off x="357188" y="746522"/>
            <a:ext cx="2597534" cy="4036219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4338" y="682228"/>
            <a:ext cx="755452" cy="98227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692944"/>
            <a:ext cx="62508" cy="714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3995" y="689372"/>
            <a:ext cx="578644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NGRAW</a:t>
            </a:r>
            <a:endParaRPr lang="en-US" sz="485" dirty="0"/>
          </a:p>
        </p:txBody>
      </p:sp>
      <p:sp>
        <p:nvSpPr>
          <p:cNvPr id="16" name="Shape 11"/>
          <p:cNvSpPr/>
          <p:nvPr/>
        </p:nvSpPr>
        <p:spPr>
          <a:xfrm>
            <a:off x="414338" y="889397"/>
            <a:ext cx="248323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457200" y="832247"/>
            <a:ext cx="65008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57200" y="832247"/>
            <a:ext cx="65008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CD FACT</a:t>
            </a:r>
            <a:endParaRPr lang="en-US" sz="435" dirty="0"/>
          </a:p>
        </p:txBody>
      </p:sp>
      <p:sp>
        <p:nvSpPr>
          <p:cNvPr id="19" name="Shape 14"/>
          <p:cNvSpPr/>
          <p:nvPr/>
        </p:nvSpPr>
        <p:spPr>
          <a:xfrm>
            <a:off x="442913" y="1003697"/>
            <a:ext cx="1218400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42913" y="1003697"/>
            <a:ext cx="1218400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PTPN</a:t>
            </a:r>
            <a:endParaRPr lang="en-US" sz="463" dirty="0"/>
          </a:p>
        </p:txBody>
      </p:sp>
      <p:sp>
        <p:nvSpPr>
          <p:cNvPr id="21" name="Shape 16"/>
          <p:cNvSpPr/>
          <p:nvPr/>
        </p:nvSpPr>
        <p:spPr>
          <a:xfrm>
            <a:off x="1682744" y="1003697"/>
            <a:ext cx="1186253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682744" y="1003697"/>
            <a:ext cx="1186253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FIF</a:t>
            </a:r>
            <a:endParaRPr lang="en-US" sz="463" dirty="0"/>
          </a:p>
        </p:txBody>
      </p:sp>
      <p:sp>
        <p:nvSpPr>
          <p:cNvPr id="23" name="Shape 18"/>
          <p:cNvSpPr/>
          <p:nvPr/>
        </p:nvSpPr>
        <p:spPr>
          <a:xfrm>
            <a:off x="414338" y="1184077"/>
            <a:ext cx="248323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457200" y="1126927"/>
            <a:ext cx="61079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7200" y="1126927"/>
            <a:ext cx="61079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CD DIM</a:t>
            </a:r>
            <a:endParaRPr lang="en-US" sz="435" dirty="0"/>
          </a:p>
        </p:txBody>
      </p:sp>
      <p:sp>
        <p:nvSpPr>
          <p:cNvPr id="26" name="Shape 21"/>
          <p:cNvSpPr/>
          <p:nvPr/>
        </p:nvSpPr>
        <p:spPr>
          <a:xfrm>
            <a:off x="442913" y="1298377"/>
            <a:ext cx="671764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42913" y="1298377"/>
            <a:ext cx="671764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PARTY</a:t>
            </a:r>
            <a:endParaRPr lang="en-US" sz="463" dirty="0"/>
          </a:p>
        </p:txBody>
      </p:sp>
      <p:sp>
        <p:nvSpPr>
          <p:cNvPr id="28" name="Shape 23"/>
          <p:cNvSpPr/>
          <p:nvPr/>
        </p:nvSpPr>
        <p:spPr>
          <a:xfrm>
            <a:off x="1133735" y="1298377"/>
            <a:ext cx="951570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133735" y="1298377"/>
            <a:ext cx="951570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ACCOUNT_SCPN</a:t>
            </a:r>
            <a:endParaRPr lang="en-US" sz="463" dirty="0"/>
          </a:p>
        </p:txBody>
      </p:sp>
      <p:sp>
        <p:nvSpPr>
          <p:cNvPr id="30" name="Shape 25"/>
          <p:cNvSpPr/>
          <p:nvPr/>
        </p:nvSpPr>
        <p:spPr>
          <a:xfrm>
            <a:off x="2109136" y="1298377"/>
            <a:ext cx="759889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109136" y="1298377"/>
            <a:ext cx="759889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USR_TBL</a:t>
            </a:r>
            <a:endParaRPr lang="en-US" sz="463" dirty="0"/>
          </a:p>
        </p:txBody>
      </p:sp>
      <p:sp>
        <p:nvSpPr>
          <p:cNvPr id="32" name="Shape 27"/>
          <p:cNvSpPr/>
          <p:nvPr/>
        </p:nvSpPr>
        <p:spPr>
          <a:xfrm>
            <a:off x="414338" y="1478756"/>
            <a:ext cx="248323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33" name="Shape 28"/>
          <p:cNvSpPr/>
          <p:nvPr/>
        </p:nvSpPr>
        <p:spPr>
          <a:xfrm>
            <a:off x="457200" y="1421606"/>
            <a:ext cx="61079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57200" y="1421606"/>
            <a:ext cx="61079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CD REF</a:t>
            </a:r>
            <a:endParaRPr lang="en-US" sz="435" dirty="0"/>
          </a:p>
        </p:txBody>
      </p:sp>
      <p:sp>
        <p:nvSpPr>
          <p:cNvPr id="35" name="Shape 30"/>
          <p:cNvSpPr/>
          <p:nvPr/>
        </p:nvSpPr>
        <p:spPr>
          <a:xfrm>
            <a:off x="442913" y="1593056"/>
            <a:ext cx="281620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42913" y="1593056"/>
            <a:ext cx="281620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Curr</a:t>
            </a:r>
            <a:endParaRPr lang="en-US" sz="463" dirty="0"/>
          </a:p>
        </p:txBody>
      </p:sp>
      <p:sp>
        <p:nvSpPr>
          <p:cNvPr id="37" name="Shape 32"/>
          <p:cNvSpPr/>
          <p:nvPr/>
        </p:nvSpPr>
        <p:spPr>
          <a:xfrm>
            <a:off x="741666" y="1593056"/>
            <a:ext cx="323757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41666" y="1593056"/>
            <a:ext cx="323757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cntry</a:t>
            </a:r>
            <a:endParaRPr lang="en-US" sz="463" dirty="0"/>
          </a:p>
        </p:txBody>
      </p:sp>
      <p:sp>
        <p:nvSpPr>
          <p:cNvPr id="39" name="Shape 34"/>
          <p:cNvSpPr/>
          <p:nvPr/>
        </p:nvSpPr>
        <p:spPr>
          <a:xfrm>
            <a:off x="1085459" y="1593056"/>
            <a:ext cx="601666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1085459" y="1593056"/>
            <a:ext cx="601666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payment_type</a:t>
            </a:r>
            <a:endParaRPr lang="en-US" sz="463" dirty="0"/>
          </a:p>
        </p:txBody>
      </p:sp>
      <p:sp>
        <p:nvSpPr>
          <p:cNvPr id="41" name="Shape 36"/>
          <p:cNvSpPr/>
          <p:nvPr/>
        </p:nvSpPr>
        <p:spPr>
          <a:xfrm>
            <a:off x="1709951" y="1593056"/>
            <a:ext cx="565221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1709951" y="1593056"/>
            <a:ext cx="565221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type_values</a:t>
            </a:r>
            <a:endParaRPr lang="en-US" sz="463" dirty="0"/>
          </a:p>
        </p:txBody>
      </p:sp>
      <p:sp>
        <p:nvSpPr>
          <p:cNvPr id="43" name="Shape 38"/>
          <p:cNvSpPr/>
          <p:nvPr/>
        </p:nvSpPr>
        <p:spPr>
          <a:xfrm>
            <a:off x="2300957" y="1593056"/>
            <a:ext cx="568096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2300957" y="1593056"/>
            <a:ext cx="568096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be_type_val</a:t>
            </a:r>
            <a:endParaRPr lang="en-US" sz="463" dirty="0"/>
          </a:p>
        </p:txBody>
      </p:sp>
      <p:sp>
        <p:nvSpPr>
          <p:cNvPr id="45" name="Shape 40"/>
          <p:cNvSpPr/>
          <p:nvPr/>
        </p:nvSpPr>
        <p:spPr>
          <a:xfrm>
            <a:off x="414338" y="1773436"/>
            <a:ext cx="248323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46" name="Shape 41"/>
          <p:cNvSpPr/>
          <p:nvPr/>
        </p:nvSpPr>
        <p:spPr>
          <a:xfrm>
            <a:off x="457200" y="1716286"/>
            <a:ext cx="689372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457200" y="1716286"/>
            <a:ext cx="689372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LIQ FACT</a:t>
            </a:r>
            <a:endParaRPr lang="en-US" sz="435" dirty="0"/>
          </a:p>
        </p:txBody>
      </p:sp>
      <p:sp>
        <p:nvSpPr>
          <p:cNvPr id="48" name="Shape 43"/>
          <p:cNvSpPr/>
          <p:nvPr/>
        </p:nvSpPr>
        <p:spPr>
          <a:xfrm>
            <a:off x="442913" y="1887736"/>
            <a:ext cx="2426084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42913" y="1887736"/>
            <a:ext cx="2426084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GCE</a:t>
            </a:r>
            <a:endParaRPr lang="en-US" sz="463" dirty="0"/>
          </a:p>
        </p:txBody>
      </p:sp>
      <p:sp>
        <p:nvSpPr>
          <p:cNvPr id="50" name="Shape 45"/>
          <p:cNvSpPr/>
          <p:nvPr/>
        </p:nvSpPr>
        <p:spPr>
          <a:xfrm>
            <a:off x="414338" y="2068116"/>
            <a:ext cx="248323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51" name="Shape 46"/>
          <p:cNvSpPr/>
          <p:nvPr/>
        </p:nvSpPr>
        <p:spPr>
          <a:xfrm>
            <a:off x="457200" y="2010966"/>
            <a:ext cx="65008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457200" y="2010966"/>
            <a:ext cx="65008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LIQ DIM</a:t>
            </a:r>
            <a:endParaRPr lang="en-US" sz="435" dirty="0"/>
          </a:p>
        </p:txBody>
      </p:sp>
      <p:sp>
        <p:nvSpPr>
          <p:cNvPr id="53" name="Shape 48"/>
          <p:cNvSpPr/>
          <p:nvPr/>
        </p:nvSpPr>
        <p:spPr>
          <a:xfrm>
            <a:off x="442913" y="2182416"/>
            <a:ext cx="815839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42913" y="2182416"/>
            <a:ext cx="815839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bank_br</a:t>
            </a:r>
            <a:endParaRPr lang="en-US" sz="463" dirty="0"/>
          </a:p>
        </p:txBody>
      </p:sp>
      <p:sp>
        <p:nvSpPr>
          <p:cNvPr id="55" name="Shape 50"/>
          <p:cNvSpPr/>
          <p:nvPr/>
        </p:nvSpPr>
        <p:spPr>
          <a:xfrm>
            <a:off x="1277810" y="2182416"/>
            <a:ext cx="702739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1277810" y="2182416"/>
            <a:ext cx="702739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ecif</a:t>
            </a:r>
            <a:endParaRPr lang="en-US" sz="463" dirty="0"/>
          </a:p>
        </p:txBody>
      </p:sp>
      <p:sp>
        <p:nvSpPr>
          <p:cNvPr id="57" name="Shape 52"/>
          <p:cNvSpPr/>
          <p:nvPr/>
        </p:nvSpPr>
        <p:spPr>
          <a:xfrm>
            <a:off x="2004324" y="2182416"/>
            <a:ext cx="864645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2004324" y="2182416"/>
            <a:ext cx="864645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Acct_rec</a:t>
            </a:r>
            <a:endParaRPr lang="en-US" sz="463" dirty="0"/>
          </a:p>
        </p:txBody>
      </p:sp>
      <p:sp>
        <p:nvSpPr>
          <p:cNvPr id="59" name="Shape 54"/>
          <p:cNvSpPr/>
          <p:nvPr/>
        </p:nvSpPr>
        <p:spPr>
          <a:xfrm>
            <a:off x="414338" y="2362795"/>
            <a:ext cx="248323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60" name="Shape 55"/>
          <p:cNvSpPr/>
          <p:nvPr/>
        </p:nvSpPr>
        <p:spPr>
          <a:xfrm>
            <a:off x="457200" y="2305645"/>
            <a:ext cx="65008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457200" y="2305645"/>
            <a:ext cx="65008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LIQ REF</a:t>
            </a:r>
            <a:endParaRPr lang="en-US" sz="435" dirty="0"/>
          </a:p>
        </p:txBody>
      </p:sp>
      <p:sp>
        <p:nvSpPr>
          <p:cNvPr id="62" name="Shape 57"/>
          <p:cNvSpPr/>
          <p:nvPr/>
        </p:nvSpPr>
        <p:spPr>
          <a:xfrm>
            <a:off x="414338" y="2619970"/>
            <a:ext cx="248323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63" name="Shape 58"/>
          <p:cNvSpPr/>
          <p:nvPr/>
        </p:nvSpPr>
        <p:spPr>
          <a:xfrm>
            <a:off x="457200" y="2562820"/>
            <a:ext cx="76795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457200" y="2562820"/>
            <a:ext cx="76795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TRADE FACT</a:t>
            </a:r>
            <a:endParaRPr lang="en-US" sz="435" dirty="0"/>
          </a:p>
        </p:txBody>
      </p:sp>
      <p:sp>
        <p:nvSpPr>
          <p:cNvPr id="65" name="Shape 60"/>
          <p:cNvSpPr/>
          <p:nvPr/>
        </p:nvSpPr>
        <p:spPr>
          <a:xfrm>
            <a:off x="414338" y="2877145"/>
            <a:ext cx="248323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66" name="Shape 61"/>
          <p:cNvSpPr/>
          <p:nvPr/>
        </p:nvSpPr>
        <p:spPr>
          <a:xfrm>
            <a:off x="457200" y="2819995"/>
            <a:ext cx="72866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457200" y="2819995"/>
            <a:ext cx="72866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TRADE DIM</a:t>
            </a:r>
            <a:endParaRPr lang="en-US" sz="435" dirty="0"/>
          </a:p>
        </p:txBody>
      </p:sp>
      <p:sp>
        <p:nvSpPr>
          <p:cNvPr id="68" name="Shape 63"/>
          <p:cNvSpPr/>
          <p:nvPr/>
        </p:nvSpPr>
        <p:spPr>
          <a:xfrm>
            <a:off x="414338" y="3134320"/>
            <a:ext cx="248323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69" name="Shape 64"/>
          <p:cNvSpPr/>
          <p:nvPr/>
        </p:nvSpPr>
        <p:spPr>
          <a:xfrm>
            <a:off x="457200" y="3077170"/>
            <a:ext cx="72866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457200" y="3077170"/>
            <a:ext cx="72866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TRADE REF</a:t>
            </a:r>
            <a:endParaRPr lang="en-US" sz="435" dirty="0"/>
          </a:p>
        </p:txBody>
      </p:sp>
      <p:sp>
        <p:nvSpPr>
          <p:cNvPr id="71" name="Shape 66"/>
          <p:cNvSpPr/>
          <p:nvPr/>
        </p:nvSpPr>
        <p:spPr>
          <a:xfrm>
            <a:off x="3026159" y="746522"/>
            <a:ext cx="1855394" cy="1214438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3083309" y="682228"/>
            <a:ext cx="726877" cy="98227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7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459" y="692944"/>
            <a:ext cx="62508" cy="71438"/>
          </a:xfrm>
          <a:prstGeom prst="rect">
            <a:avLst/>
          </a:prstGeom>
        </p:spPr>
      </p:pic>
      <p:sp>
        <p:nvSpPr>
          <p:cNvPr id="74" name="Text 68"/>
          <p:cNvSpPr/>
          <p:nvPr/>
        </p:nvSpPr>
        <p:spPr>
          <a:xfrm>
            <a:off x="3202967" y="689372"/>
            <a:ext cx="550069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TRADE</a:t>
            </a:r>
            <a:endParaRPr lang="en-US" sz="485" dirty="0"/>
          </a:p>
        </p:txBody>
      </p:sp>
      <p:sp>
        <p:nvSpPr>
          <p:cNvPr id="75" name="Shape 69"/>
          <p:cNvSpPr/>
          <p:nvPr/>
        </p:nvSpPr>
        <p:spPr>
          <a:xfrm>
            <a:off x="3083309" y="889397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76" name="Shape 70"/>
          <p:cNvSpPr/>
          <p:nvPr/>
        </p:nvSpPr>
        <p:spPr>
          <a:xfrm>
            <a:off x="3126172" y="832247"/>
            <a:ext cx="492919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77" name="Text 71"/>
          <p:cNvSpPr/>
          <p:nvPr/>
        </p:nvSpPr>
        <p:spPr>
          <a:xfrm>
            <a:off x="3126172" y="832247"/>
            <a:ext cx="492919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RCF</a:t>
            </a:r>
            <a:endParaRPr lang="en-US" sz="435" dirty="0"/>
          </a:p>
        </p:txBody>
      </p:sp>
      <p:sp>
        <p:nvSpPr>
          <p:cNvPr id="78" name="Shape 72"/>
          <p:cNvSpPr/>
          <p:nvPr/>
        </p:nvSpPr>
        <p:spPr>
          <a:xfrm>
            <a:off x="3083309" y="1146572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79" name="Shape 73"/>
          <p:cNvSpPr/>
          <p:nvPr/>
        </p:nvSpPr>
        <p:spPr>
          <a:xfrm>
            <a:off x="3126172" y="1089422"/>
            <a:ext cx="492919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80" name="Text 74"/>
          <p:cNvSpPr/>
          <p:nvPr/>
        </p:nvSpPr>
        <p:spPr>
          <a:xfrm>
            <a:off x="3126172" y="1089422"/>
            <a:ext cx="492919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CSF</a:t>
            </a:r>
            <a:endParaRPr lang="en-US" sz="435" dirty="0"/>
          </a:p>
        </p:txBody>
      </p:sp>
      <p:sp>
        <p:nvSpPr>
          <p:cNvPr id="81" name="Shape 75"/>
          <p:cNvSpPr/>
          <p:nvPr/>
        </p:nvSpPr>
        <p:spPr>
          <a:xfrm>
            <a:off x="3083309" y="1403747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82" name="Shape 76"/>
          <p:cNvSpPr/>
          <p:nvPr/>
        </p:nvSpPr>
        <p:spPr>
          <a:xfrm>
            <a:off x="3126172" y="1346597"/>
            <a:ext cx="964406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83" name="Text 77"/>
          <p:cNvSpPr/>
          <p:nvPr/>
        </p:nvSpPr>
        <p:spPr>
          <a:xfrm>
            <a:off x="3126172" y="1346597"/>
            <a:ext cx="964406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TRADE REPORTING</a:t>
            </a:r>
            <a:endParaRPr lang="en-US" sz="435" dirty="0"/>
          </a:p>
        </p:txBody>
      </p:sp>
      <p:sp>
        <p:nvSpPr>
          <p:cNvPr id="84" name="Shape 78"/>
          <p:cNvSpPr/>
          <p:nvPr/>
        </p:nvSpPr>
        <p:spPr>
          <a:xfrm>
            <a:off x="3083309" y="1660922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85" name="Shape 79"/>
          <p:cNvSpPr/>
          <p:nvPr/>
        </p:nvSpPr>
        <p:spPr>
          <a:xfrm>
            <a:off x="3126172" y="1603772"/>
            <a:ext cx="76795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86" name="Text 80"/>
          <p:cNvSpPr/>
          <p:nvPr/>
        </p:nvSpPr>
        <p:spPr>
          <a:xfrm>
            <a:off x="3126172" y="1603772"/>
            <a:ext cx="76795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CORE TRADE</a:t>
            </a:r>
            <a:endParaRPr lang="en-US" sz="435" dirty="0"/>
          </a:p>
        </p:txBody>
      </p:sp>
      <p:sp>
        <p:nvSpPr>
          <p:cNvPr id="87" name="Shape 81"/>
          <p:cNvSpPr/>
          <p:nvPr/>
        </p:nvSpPr>
        <p:spPr>
          <a:xfrm>
            <a:off x="3026159" y="2003822"/>
            <a:ext cx="1855394" cy="832247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88" name="Shape 82"/>
          <p:cNvSpPr/>
          <p:nvPr/>
        </p:nvSpPr>
        <p:spPr>
          <a:xfrm>
            <a:off x="3083309" y="1939528"/>
            <a:ext cx="894755" cy="98227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8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0459" y="1950244"/>
            <a:ext cx="62508" cy="71438"/>
          </a:xfrm>
          <a:prstGeom prst="rect">
            <a:avLst/>
          </a:prstGeom>
        </p:spPr>
      </p:pic>
      <p:sp>
        <p:nvSpPr>
          <p:cNvPr id="90" name="Text 83"/>
          <p:cNvSpPr/>
          <p:nvPr/>
        </p:nvSpPr>
        <p:spPr>
          <a:xfrm>
            <a:off x="3202967" y="1946672"/>
            <a:ext cx="717947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REPORTING</a:t>
            </a:r>
            <a:endParaRPr lang="en-US" sz="485" dirty="0"/>
          </a:p>
        </p:txBody>
      </p:sp>
      <p:sp>
        <p:nvSpPr>
          <p:cNvPr id="91" name="Shape 84"/>
          <p:cNvSpPr/>
          <p:nvPr/>
        </p:nvSpPr>
        <p:spPr>
          <a:xfrm>
            <a:off x="3083309" y="2146697"/>
            <a:ext cx="174109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92" name="Shape 85"/>
          <p:cNvSpPr/>
          <p:nvPr/>
        </p:nvSpPr>
        <p:spPr>
          <a:xfrm>
            <a:off x="3126172" y="2089547"/>
            <a:ext cx="65008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93" name="Text 86"/>
          <p:cNvSpPr/>
          <p:nvPr/>
        </p:nvSpPr>
        <p:spPr>
          <a:xfrm>
            <a:off x="3126172" y="2089547"/>
            <a:ext cx="65008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DEFAULT</a:t>
            </a:r>
            <a:endParaRPr lang="en-US" sz="435" dirty="0"/>
          </a:p>
        </p:txBody>
      </p:sp>
      <p:sp>
        <p:nvSpPr>
          <p:cNvPr id="94" name="Shape 87"/>
          <p:cNvSpPr/>
          <p:nvPr/>
        </p:nvSpPr>
        <p:spPr>
          <a:xfrm>
            <a:off x="3111884" y="2260997"/>
            <a:ext cx="319627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95" name="Text 88"/>
          <p:cNvSpPr/>
          <p:nvPr/>
        </p:nvSpPr>
        <p:spPr>
          <a:xfrm>
            <a:off x="3111884" y="2260997"/>
            <a:ext cx="319627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TI</a:t>
            </a:r>
            <a:endParaRPr lang="en-US" sz="463" dirty="0"/>
          </a:p>
        </p:txBody>
      </p:sp>
      <p:sp>
        <p:nvSpPr>
          <p:cNvPr id="96" name="Shape 89"/>
          <p:cNvSpPr/>
          <p:nvPr/>
        </p:nvSpPr>
        <p:spPr>
          <a:xfrm>
            <a:off x="3450543" y="2260997"/>
            <a:ext cx="363662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97" name="Text 90"/>
          <p:cNvSpPr/>
          <p:nvPr/>
        </p:nvSpPr>
        <p:spPr>
          <a:xfrm>
            <a:off x="3450543" y="2260997"/>
            <a:ext cx="363662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GPR</a:t>
            </a:r>
            <a:endParaRPr lang="en-US" sz="463" dirty="0"/>
          </a:p>
        </p:txBody>
      </p:sp>
      <p:sp>
        <p:nvSpPr>
          <p:cNvPr id="98" name="Shape 91"/>
          <p:cNvSpPr/>
          <p:nvPr/>
        </p:nvSpPr>
        <p:spPr>
          <a:xfrm>
            <a:off x="3838035" y="2260997"/>
            <a:ext cx="957793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99" name="Text 92"/>
          <p:cNvSpPr/>
          <p:nvPr/>
        </p:nvSpPr>
        <p:spPr>
          <a:xfrm>
            <a:off x="3838035" y="2260997"/>
            <a:ext cx="957793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MExico Divestiture</a:t>
            </a:r>
            <a:endParaRPr lang="en-US" sz="463" dirty="0"/>
          </a:p>
        </p:txBody>
      </p:sp>
      <p:sp>
        <p:nvSpPr>
          <p:cNvPr id="100" name="Shape 93"/>
          <p:cNvSpPr/>
          <p:nvPr/>
        </p:nvSpPr>
        <p:spPr>
          <a:xfrm>
            <a:off x="3083309" y="2441377"/>
            <a:ext cx="174109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01" name="Shape 94"/>
          <p:cNvSpPr/>
          <p:nvPr/>
        </p:nvSpPr>
        <p:spPr>
          <a:xfrm>
            <a:off x="3126172" y="2384227"/>
            <a:ext cx="72866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02" name="Text 95"/>
          <p:cNvSpPr/>
          <p:nvPr/>
        </p:nvSpPr>
        <p:spPr>
          <a:xfrm>
            <a:off x="3126172" y="2384227"/>
            <a:ext cx="72866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STMT PREF</a:t>
            </a:r>
            <a:endParaRPr lang="en-US" sz="435" dirty="0"/>
          </a:p>
        </p:txBody>
      </p:sp>
      <p:sp>
        <p:nvSpPr>
          <p:cNvPr id="103" name="Shape 96"/>
          <p:cNvSpPr/>
          <p:nvPr/>
        </p:nvSpPr>
        <p:spPr>
          <a:xfrm>
            <a:off x="3111884" y="2555677"/>
            <a:ext cx="1683944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04" name="Text 97"/>
          <p:cNvSpPr/>
          <p:nvPr/>
        </p:nvSpPr>
        <p:spPr>
          <a:xfrm>
            <a:off x="3111884" y="2555677"/>
            <a:ext cx="1683944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CD PREF</a:t>
            </a:r>
            <a:endParaRPr lang="en-US" sz="463" dirty="0"/>
          </a:p>
        </p:txBody>
      </p:sp>
      <p:sp>
        <p:nvSpPr>
          <p:cNvPr id="105" name="Shape 98"/>
          <p:cNvSpPr/>
          <p:nvPr/>
        </p:nvSpPr>
        <p:spPr>
          <a:xfrm>
            <a:off x="3026159" y="2821781"/>
            <a:ext cx="1855394" cy="1728788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3083309" y="2757488"/>
            <a:ext cx="835819" cy="98227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10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0459" y="2768203"/>
            <a:ext cx="62508" cy="71438"/>
          </a:xfrm>
          <a:prstGeom prst="rect">
            <a:avLst/>
          </a:prstGeom>
        </p:spPr>
      </p:pic>
      <p:sp>
        <p:nvSpPr>
          <p:cNvPr id="108" name="Text 100"/>
          <p:cNvSpPr/>
          <p:nvPr/>
        </p:nvSpPr>
        <p:spPr>
          <a:xfrm>
            <a:off x="3202967" y="2764631"/>
            <a:ext cx="65901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LIQUIDITY</a:t>
            </a:r>
            <a:endParaRPr lang="en-US" sz="485" dirty="0"/>
          </a:p>
        </p:txBody>
      </p:sp>
      <p:sp>
        <p:nvSpPr>
          <p:cNvPr id="109" name="Shape 101"/>
          <p:cNvSpPr/>
          <p:nvPr/>
        </p:nvSpPr>
        <p:spPr>
          <a:xfrm>
            <a:off x="3083309" y="2964656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10" name="Shape 102"/>
          <p:cNvSpPr/>
          <p:nvPr/>
        </p:nvSpPr>
        <p:spPr>
          <a:xfrm>
            <a:off x="3126172" y="2907506"/>
            <a:ext cx="65008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11" name="Text 103"/>
          <p:cNvSpPr/>
          <p:nvPr/>
        </p:nvSpPr>
        <p:spPr>
          <a:xfrm>
            <a:off x="3126172" y="2907506"/>
            <a:ext cx="65008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BALANCE</a:t>
            </a:r>
            <a:endParaRPr lang="en-US" sz="435" dirty="0"/>
          </a:p>
        </p:txBody>
      </p:sp>
      <p:sp>
        <p:nvSpPr>
          <p:cNvPr id="112" name="Shape 104"/>
          <p:cNvSpPr/>
          <p:nvPr/>
        </p:nvSpPr>
        <p:spPr>
          <a:xfrm>
            <a:off x="3083309" y="3221831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13" name="Shape 105"/>
          <p:cNvSpPr/>
          <p:nvPr/>
        </p:nvSpPr>
        <p:spPr>
          <a:xfrm>
            <a:off x="3126172" y="3164681"/>
            <a:ext cx="76795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14" name="Text 106"/>
          <p:cNvSpPr/>
          <p:nvPr/>
        </p:nvSpPr>
        <p:spPr>
          <a:xfrm>
            <a:off x="3126172" y="3164681"/>
            <a:ext cx="76795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DIMENSIONS</a:t>
            </a:r>
            <a:endParaRPr lang="en-US" sz="435" dirty="0"/>
          </a:p>
        </p:txBody>
      </p:sp>
      <p:sp>
        <p:nvSpPr>
          <p:cNvPr id="115" name="Shape 107"/>
          <p:cNvSpPr/>
          <p:nvPr/>
        </p:nvSpPr>
        <p:spPr>
          <a:xfrm>
            <a:off x="3083309" y="3479006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16" name="Shape 108"/>
          <p:cNvSpPr/>
          <p:nvPr/>
        </p:nvSpPr>
        <p:spPr>
          <a:xfrm>
            <a:off x="3126172" y="3421856"/>
            <a:ext cx="76795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17" name="Text 109"/>
          <p:cNvSpPr/>
          <p:nvPr/>
        </p:nvSpPr>
        <p:spPr>
          <a:xfrm>
            <a:off x="3126172" y="3421856"/>
            <a:ext cx="76795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STRUCTURES</a:t>
            </a:r>
            <a:endParaRPr lang="en-US" sz="435" dirty="0"/>
          </a:p>
        </p:txBody>
      </p:sp>
      <p:sp>
        <p:nvSpPr>
          <p:cNvPr id="118" name="Shape 110"/>
          <p:cNvSpPr/>
          <p:nvPr/>
        </p:nvSpPr>
        <p:spPr>
          <a:xfrm>
            <a:off x="3083309" y="3736181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19" name="Shape 111"/>
          <p:cNvSpPr/>
          <p:nvPr/>
        </p:nvSpPr>
        <p:spPr>
          <a:xfrm>
            <a:off x="3126172" y="3679031"/>
            <a:ext cx="885825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20" name="Text 112"/>
          <p:cNvSpPr/>
          <p:nvPr/>
        </p:nvSpPr>
        <p:spPr>
          <a:xfrm>
            <a:off x="3126172" y="3679031"/>
            <a:ext cx="885825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INTEREST RATE</a:t>
            </a:r>
            <a:endParaRPr lang="en-US" sz="435" dirty="0"/>
          </a:p>
        </p:txBody>
      </p:sp>
      <p:sp>
        <p:nvSpPr>
          <p:cNvPr id="121" name="Shape 113"/>
          <p:cNvSpPr/>
          <p:nvPr/>
        </p:nvSpPr>
        <p:spPr>
          <a:xfrm>
            <a:off x="3083309" y="3993356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22" name="Shape 114"/>
          <p:cNvSpPr/>
          <p:nvPr/>
        </p:nvSpPr>
        <p:spPr>
          <a:xfrm>
            <a:off x="3126172" y="3936206"/>
            <a:ext cx="65008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23" name="Text 115"/>
          <p:cNvSpPr/>
          <p:nvPr/>
        </p:nvSpPr>
        <p:spPr>
          <a:xfrm>
            <a:off x="3126172" y="3936206"/>
            <a:ext cx="65008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CONTROL</a:t>
            </a:r>
            <a:endParaRPr lang="en-US" sz="435" dirty="0"/>
          </a:p>
        </p:txBody>
      </p:sp>
      <p:sp>
        <p:nvSpPr>
          <p:cNvPr id="124" name="Shape 116"/>
          <p:cNvSpPr/>
          <p:nvPr/>
        </p:nvSpPr>
        <p:spPr>
          <a:xfrm>
            <a:off x="3083309" y="4250531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25" name="Shape 117"/>
          <p:cNvSpPr/>
          <p:nvPr/>
        </p:nvSpPr>
        <p:spPr>
          <a:xfrm>
            <a:off x="3126172" y="4193381"/>
            <a:ext cx="76795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26" name="Text 118"/>
          <p:cNvSpPr/>
          <p:nvPr/>
        </p:nvSpPr>
        <p:spPr>
          <a:xfrm>
            <a:off x="3126172" y="4193381"/>
            <a:ext cx="76795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REFERENCES</a:t>
            </a:r>
            <a:endParaRPr lang="en-US" sz="435" dirty="0"/>
          </a:p>
        </p:txBody>
      </p:sp>
      <p:sp>
        <p:nvSpPr>
          <p:cNvPr id="127" name="Shape 119"/>
          <p:cNvSpPr/>
          <p:nvPr/>
        </p:nvSpPr>
        <p:spPr>
          <a:xfrm>
            <a:off x="5750719" y="925116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128" name="Text 120"/>
          <p:cNvSpPr/>
          <p:nvPr/>
        </p:nvSpPr>
        <p:spPr>
          <a:xfrm>
            <a:off x="5828407" y="1062633"/>
            <a:ext cx="344686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OPENSHIFT</a:t>
            </a:r>
            <a:endParaRPr lang="en-US" sz="435" dirty="0"/>
          </a:p>
        </p:txBody>
      </p:sp>
      <p:sp>
        <p:nvSpPr>
          <p:cNvPr id="129" name="Text 121"/>
          <p:cNvSpPr/>
          <p:nvPr/>
        </p:nvSpPr>
        <p:spPr>
          <a:xfrm>
            <a:off x="5899845" y="1212652"/>
            <a:ext cx="20181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(REST)</a:t>
            </a:r>
            <a:endParaRPr lang="en-US" sz="435" dirty="0"/>
          </a:p>
        </p:txBody>
      </p:sp>
      <p:sp>
        <p:nvSpPr>
          <p:cNvPr id="130" name="Shape 122"/>
          <p:cNvSpPr/>
          <p:nvPr/>
        </p:nvSpPr>
        <p:spPr>
          <a:xfrm>
            <a:off x="5750719" y="1710928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131" name="Text 123"/>
          <p:cNvSpPr/>
          <p:nvPr/>
        </p:nvSpPr>
        <p:spPr>
          <a:xfrm>
            <a:off x="5881092" y="1848445"/>
            <a:ext cx="239316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</a:t>
            </a:r>
            <a:endParaRPr lang="en-US" sz="435" dirty="0"/>
          </a:p>
        </p:txBody>
      </p:sp>
      <p:sp>
        <p:nvSpPr>
          <p:cNvPr id="132" name="Text 124"/>
          <p:cNvSpPr/>
          <p:nvPr/>
        </p:nvSpPr>
        <p:spPr>
          <a:xfrm>
            <a:off x="5915025" y="1998464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</a:t>
            </a:r>
            <a:endParaRPr lang="en-US" sz="435" dirty="0"/>
          </a:p>
        </p:txBody>
      </p:sp>
      <p:sp>
        <p:nvSpPr>
          <p:cNvPr id="133" name="Shape 125"/>
          <p:cNvSpPr/>
          <p:nvPr/>
        </p:nvSpPr>
        <p:spPr>
          <a:xfrm>
            <a:off x="7048481" y="925116"/>
            <a:ext cx="1809741" cy="212527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34" name="Text 126"/>
          <p:cNvSpPr/>
          <p:nvPr/>
        </p:nvSpPr>
        <p:spPr>
          <a:xfrm>
            <a:off x="7048481" y="925116"/>
            <a:ext cx="1809741" cy="21252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CitiDirect V3</a:t>
            </a:r>
            <a:endParaRPr lang="en-US" sz="516" dirty="0"/>
          </a:p>
        </p:txBody>
      </p:sp>
      <p:sp>
        <p:nvSpPr>
          <p:cNvPr id="135" name="Shape 127"/>
          <p:cNvSpPr/>
          <p:nvPr/>
        </p:nvSpPr>
        <p:spPr>
          <a:xfrm>
            <a:off x="7048481" y="1230511"/>
            <a:ext cx="1809741" cy="212527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36" name="Text 128"/>
          <p:cNvSpPr/>
          <p:nvPr/>
        </p:nvSpPr>
        <p:spPr>
          <a:xfrm>
            <a:off x="7048481" y="1230511"/>
            <a:ext cx="1809741" cy="21252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 Connect Files</a:t>
            </a:r>
            <a:endParaRPr lang="en-US" sz="516" dirty="0"/>
          </a:p>
        </p:txBody>
      </p:sp>
      <p:pic>
        <p:nvPicPr>
          <p:cNvPr id="1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6182" y="1678781"/>
            <a:ext cx="214313" cy="214313"/>
          </a:xfrm>
          <a:prstGeom prst="rect">
            <a:avLst/>
          </a:prstGeom>
        </p:spPr>
      </p:pic>
      <p:sp>
        <p:nvSpPr>
          <p:cNvPr id="138" name="Text 129"/>
          <p:cNvSpPr/>
          <p:nvPr/>
        </p:nvSpPr>
        <p:spPr>
          <a:xfrm>
            <a:off x="7048481" y="1894880"/>
            <a:ext cx="180974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 Client</a:t>
            </a:r>
            <a:endParaRPr lang="en-US" sz="4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6411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12614"/>
            <a:ext cx="828675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3402211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State Architecture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673298"/>
            <a:ext cx="340221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Expanded Hierarchy with New Transaction Bucket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686675" y="637580"/>
            <a:ext cx="1028700" cy="203597"/>
          </a:xfrm>
          <a:prstGeom prst="rect">
            <a:avLst/>
          </a:prstGeom>
          <a:solidFill>
            <a:srgbClr val="E8F5E9"/>
          </a:solidFill>
          <a:ln w="9144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6675" y="637580"/>
            <a:ext cx="1028700" cy="203597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STATUS: TARGET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428625" y="1055489"/>
            <a:ext cx="3929063" cy="3802261"/>
          </a:xfrm>
          <a:prstGeom prst="rect">
            <a:avLst/>
          </a:prstGeom>
          <a:solidFill>
            <a:srgbClr val="FFF5F5"/>
          </a:solidFill>
          <a:ln w="18288">
            <a:solidFill>
              <a:srgbClr val="D32F2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" y="948333"/>
            <a:ext cx="1282303" cy="189309"/>
          </a:xfrm>
          <a:prstGeom prst="roundRect">
            <a:avLst/>
          </a:prstGeom>
          <a:solidFill>
            <a:srgbClr val="D32F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992981"/>
            <a:ext cx="87511" cy="1000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9036" y="984052"/>
            <a:ext cx="85189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Cluster</a:t>
            </a:r>
            <a:endParaRPr lang="en-US" sz="683" dirty="0"/>
          </a:p>
        </p:txBody>
      </p:sp>
      <p:sp>
        <p:nvSpPr>
          <p:cNvPr id="13" name="Shape 9"/>
          <p:cNvSpPr/>
          <p:nvPr/>
        </p:nvSpPr>
        <p:spPr>
          <a:xfrm>
            <a:off x="535781" y="1269802"/>
            <a:ext cx="3714750" cy="487561"/>
          </a:xfrm>
          <a:prstGeom prst="rect">
            <a:avLst/>
          </a:prstGeom>
          <a:solidFill>
            <a:srgbClr val="FFFFFF"/>
          </a:solidFill>
          <a:ln w="9144">
            <a:solidFill>
              <a:srgbClr val="002F5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rot="10800000">
            <a:off x="592931" y="1326952"/>
            <a:ext cx="214313" cy="35897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5" name="Text 11"/>
          <p:cNvSpPr/>
          <p:nvPr/>
        </p:nvSpPr>
        <p:spPr>
          <a:xfrm rot="10800000">
            <a:off x="592931" y="1326952"/>
            <a:ext cx="214312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LIQ</a:t>
            </a:r>
            <a:endParaRPr lang="en-US" sz="534" dirty="0"/>
          </a:p>
        </p:txBody>
      </p:sp>
      <p:sp>
        <p:nvSpPr>
          <p:cNvPr id="16" name="Shape 12"/>
          <p:cNvSpPr/>
          <p:nvPr/>
        </p:nvSpPr>
        <p:spPr>
          <a:xfrm>
            <a:off x="878681" y="1326952"/>
            <a:ext cx="3314700" cy="358973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914400" y="1362670"/>
            <a:ext cx="324326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LIQ_CORE</a:t>
            </a:r>
            <a:endParaRPr lang="en-US" sz="485" dirty="0"/>
          </a:p>
        </p:txBody>
      </p:sp>
      <p:sp>
        <p:nvSpPr>
          <p:cNvPr id="18" name="Shape 14"/>
          <p:cNvSpPr/>
          <p:nvPr/>
        </p:nvSpPr>
        <p:spPr>
          <a:xfrm>
            <a:off x="914400" y="1475184"/>
            <a:ext cx="1603772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1475184"/>
            <a:ext cx="1603772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cash_pos</a:t>
            </a:r>
            <a:endParaRPr lang="en-US" sz="516" dirty="0"/>
          </a:p>
        </p:txBody>
      </p:sp>
      <p:sp>
        <p:nvSpPr>
          <p:cNvPr id="20" name="Shape 16"/>
          <p:cNvSpPr/>
          <p:nvPr/>
        </p:nvSpPr>
        <p:spPr>
          <a:xfrm>
            <a:off x="2546747" y="1475184"/>
            <a:ext cx="1610916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46747" y="1475184"/>
            <a:ext cx="1610916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forecasts</a:t>
            </a:r>
            <a:endParaRPr lang="en-US" sz="516" dirty="0"/>
          </a:p>
        </p:txBody>
      </p:sp>
      <p:sp>
        <p:nvSpPr>
          <p:cNvPr id="22" name="Shape 18"/>
          <p:cNvSpPr/>
          <p:nvPr/>
        </p:nvSpPr>
        <p:spPr>
          <a:xfrm>
            <a:off x="535781" y="1800225"/>
            <a:ext cx="3714750" cy="487561"/>
          </a:xfrm>
          <a:prstGeom prst="rect">
            <a:avLst/>
          </a:prstGeom>
          <a:solidFill>
            <a:srgbClr val="FFFFFF"/>
          </a:solidFill>
          <a:ln w="9144">
            <a:solidFill>
              <a:srgbClr val="002F5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 rot="10800000">
            <a:off x="592931" y="1857375"/>
            <a:ext cx="214313" cy="35897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4" name="Text 20"/>
          <p:cNvSpPr/>
          <p:nvPr/>
        </p:nvSpPr>
        <p:spPr>
          <a:xfrm rot="10800000">
            <a:off x="592931" y="1857375"/>
            <a:ext cx="214312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</a:t>
            </a:r>
            <a:endParaRPr lang="en-US" sz="534" dirty="0"/>
          </a:p>
        </p:txBody>
      </p:sp>
      <p:sp>
        <p:nvSpPr>
          <p:cNvPr id="25" name="Shape 21"/>
          <p:cNvSpPr/>
          <p:nvPr/>
        </p:nvSpPr>
        <p:spPr>
          <a:xfrm>
            <a:off x="878681" y="1857375"/>
            <a:ext cx="3314700" cy="358973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dash"/>
          </a:ln>
        </p:spPr>
      </p:sp>
      <p:sp>
        <p:nvSpPr>
          <p:cNvPr id="26" name="Text 22"/>
          <p:cNvSpPr/>
          <p:nvPr/>
        </p:nvSpPr>
        <p:spPr>
          <a:xfrm>
            <a:off x="914400" y="1893094"/>
            <a:ext cx="324326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REP_DAILY</a:t>
            </a:r>
            <a:endParaRPr lang="en-US" sz="485" dirty="0"/>
          </a:p>
        </p:txBody>
      </p:sp>
      <p:sp>
        <p:nvSpPr>
          <p:cNvPr id="27" name="Shape 23"/>
          <p:cNvSpPr/>
          <p:nvPr/>
        </p:nvSpPr>
        <p:spPr>
          <a:xfrm>
            <a:off x="914400" y="2005608"/>
            <a:ext cx="1603772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14400" y="2005608"/>
            <a:ext cx="1603772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agg_metrics</a:t>
            </a:r>
            <a:endParaRPr lang="en-US" sz="516" dirty="0"/>
          </a:p>
        </p:txBody>
      </p:sp>
      <p:sp>
        <p:nvSpPr>
          <p:cNvPr id="29" name="Shape 25"/>
          <p:cNvSpPr/>
          <p:nvPr/>
        </p:nvSpPr>
        <p:spPr>
          <a:xfrm>
            <a:off x="2546747" y="2005608"/>
            <a:ext cx="1610916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546747" y="2005608"/>
            <a:ext cx="1610916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eod_snap</a:t>
            </a:r>
            <a:endParaRPr lang="en-US" sz="516" dirty="0"/>
          </a:p>
        </p:txBody>
      </p:sp>
      <p:sp>
        <p:nvSpPr>
          <p:cNvPr id="31" name="Shape 27"/>
          <p:cNvSpPr/>
          <p:nvPr/>
        </p:nvSpPr>
        <p:spPr>
          <a:xfrm>
            <a:off x="535781" y="2330648"/>
            <a:ext cx="3714750" cy="487561"/>
          </a:xfrm>
          <a:prstGeom prst="rect">
            <a:avLst/>
          </a:prstGeom>
          <a:solidFill>
            <a:srgbClr val="FFFFFF"/>
          </a:solidFill>
          <a:ln w="9144">
            <a:solidFill>
              <a:srgbClr val="002F5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 rot="10800000">
            <a:off x="592931" y="2387798"/>
            <a:ext cx="214313" cy="35897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33" name="Text 29"/>
          <p:cNvSpPr/>
          <p:nvPr/>
        </p:nvSpPr>
        <p:spPr>
          <a:xfrm rot="10800000">
            <a:off x="592931" y="2387798"/>
            <a:ext cx="214312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TRD</a:t>
            </a:r>
            <a:endParaRPr lang="en-US" sz="534" dirty="0"/>
          </a:p>
        </p:txBody>
      </p:sp>
      <p:sp>
        <p:nvSpPr>
          <p:cNvPr id="34" name="Shape 30"/>
          <p:cNvSpPr/>
          <p:nvPr/>
        </p:nvSpPr>
        <p:spPr>
          <a:xfrm>
            <a:off x="878681" y="2387798"/>
            <a:ext cx="3314700" cy="358973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dash"/>
          </a:ln>
        </p:spPr>
      </p:sp>
      <p:sp>
        <p:nvSpPr>
          <p:cNvPr id="35" name="Text 31"/>
          <p:cNvSpPr/>
          <p:nvPr/>
        </p:nvSpPr>
        <p:spPr>
          <a:xfrm>
            <a:off x="914400" y="2423517"/>
            <a:ext cx="324326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TRADE_OPS</a:t>
            </a:r>
            <a:endParaRPr lang="en-US" sz="485" dirty="0"/>
          </a:p>
        </p:txBody>
      </p:sp>
      <p:sp>
        <p:nvSpPr>
          <p:cNvPr id="36" name="Shape 32"/>
          <p:cNvSpPr/>
          <p:nvPr/>
        </p:nvSpPr>
        <p:spPr>
          <a:xfrm>
            <a:off x="914400" y="2536031"/>
            <a:ext cx="1603772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14400" y="2536031"/>
            <a:ext cx="1603772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deals</a:t>
            </a:r>
            <a:endParaRPr lang="en-US" sz="516" dirty="0"/>
          </a:p>
        </p:txBody>
      </p:sp>
      <p:sp>
        <p:nvSpPr>
          <p:cNvPr id="38" name="Shape 34"/>
          <p:cNvSpPr/>
          <p:nvPr/>
        </p:nvSpPr>
        <p:spPr>
          <a:xfrm>
            <a:off x="2546747" y="2536031"/>
            <a:ext cx="1610916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546747" y="2536031"/>
            <a:ext cx="1610916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settlements</a:t>
            </a:r>
            <a:endParaRPr lang="en-US" sz="516" dirty="0"/>
          </a:p>
        </p:txBody>
      </p:sp>
      <p:sp>
        <p:nvSpPr>
          <p:cNvPr id="40" name="Shape 36"/>
          <p:cNvSpPr/>
          <p:nvPr/>
        </p:nvSpPr>
        <p:spPr>
          <a:xfrm>
            <a:off x="535781" y="2861072"/>
            <a:ext cx="3714750" cy="501848"/>
          </a:xfrm>
          <a:prstGeom prst="rect">
            <a:avLst/>
          </a:prstGeom>
          <a:solidFill>
            <a:srgbClr val="F1F8E9"/>
          </a:solidFill>
          <a:ln w="18288">
            <a:solidFill>
              <a:srgbClr val="2E7D32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 rot="10800000">
            <a:off x="592931" y="2918222"/>
            <a:ext cx="214313" cy="358973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Text 38"/>
          <p:cNvSpPr/>
          <p:nvPr/>
        </p:nvSpPr>
        <p:spPr>
          <a:xfrm rot="10800000">
            <a:off x="592931" y="2918222"/>
            <a:ext cx="214312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TXN</a:t>
            </a:r>
            <a:endParaRPr lang="en-US" sz="534" dirty="0"/>
          </a:p>
        </p:txBody>
      </p:sp>
      <p:sp>
        <p:nvSpPr>
          <p:cNvPr id="43" name="Shape 39"/>
          <p:cNvSpPr/>
          <p:nvPr/>
        </p:nvSpPr>
        <p:spPr>
          <a:xfrm>
            <a:off x="878681" y="2918222"/>
            <a:ext cx="3314700" cy="358973"/>
          </a:xfrm>
          <a:prstGeom prst="rect">
            <a:avLst/>
          </a:prstGeom>
          <a:solidFill>
            <a:srgbClr val="DCEDC8"/>
          </a:solidFill>
          <a:ln w="9144">
            <a:solidFill>
              <a:srgbClr val="2E7D32"/>
            </a:solidFill>
            <a:prstDash val="dash"/>
          </a:ln>
        </p:spPr>
      </p:sp>
      <p:sp>
        <p:nvSpPr>
          <p:cNvPr id="44" name="Text 40"/>
          <p:cNvSpPr/>
          <p:nvPr/>
        </p:nvSpPr>
        <p:spPr>
          <a:xfrm>
            <a:off x="914400" y="2953941"/>
            <a:ext cx="324326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TRANS_LOG</a:t>
            </a:r>
            <a:endParaRPr lang="en-US" sz="485" dirty="0"/>
          </a:p>
        </p:txBody>
      </p:sp>
      <p:sp>
        <p:nvSpPr>
          <p:cNvPr id="45" name="Shape 41"/>
          <p:cNvSpPr/>
          <p:nvPr/>
        </p:nvSpPr>
        <p:spPr>
          <a:xfrm>
            <a:off x="914400" y="3066455"/>
            <a:ext cx="1057275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AED581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14400" y="3066455"/>
            <a:ext cx="1057275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audit_trail</a:t>
            </a:r>
            <a:endParaRPr lang="en-US" sz="516" dirty="0"/>
          </a:p>
        </p:txBody>
      </p:sp>
      <p:sp>
        <p:nvSpPr>
          <p:cNvPr id="47" name="Shape 43"/>
          <p:cNvSpPr/>
          <p:nvPr/>
        </p:nvSpPr>
        <p:spPr>
          <a:xfrm>
            <a:off x="1997878" y="3066455"/>
            <a:ext cx="1062047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AED581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997878" y="3066455"/>
            <a:ext cx="1062047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events</a:t>
            </a:r>
            <a:endParaRPr lang="en-US" sz="516" dirty="0"/>
          </a:p>
        </p:txBody>
      </p:sp>
      <p:sp>
        <p:nvSpPr>
          <p:cNvPr id="49" name="Shape 45"/>
          <p:cNvSpPr/>
          <p:nvPr/>
        </p:nvSpPr>
        <p:spPr>
          <a:xfrm>
            <a:off x="3090844" y="3066455"/>
            <a:ext cx="1066791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AED581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090844" y="3066455"/>
            <a:ext cx="1066791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metadata</a:t>
            </a:r>
            <a:endParaRPr lang="en-US" sz="516" dirty="0"/>
          </a:p>
        </p:txBody>
      </p:sp>
      <p:sp>
        <p:nvSpPr>
          <p:cNvPr id="51" name="Text 47"/>
          <p:cNvSpPr/>
          <p:nvPr/>
        </p:nvSpPr>
        <p:spPr>
          <a:xfrm>
            <a:off x="4650581" y="2235101"/>
            <a:ext cx="170735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CONSUMPTION</a:t>
            </a:r>
            <a:endParaRPr lang="en-US" sz="534" dirty="0"/>
          </a:p>
        </p:txBody>
      </p:sp>
      <p:sp>
        <p:nvSpPr>
          <p:cNvPr id="52" name="Shape 48"/>
          <p:cNvSpPr/>
          <p:nvPr/>
        </p:nvSpPr>
        <p:spPr>
          <a:xfrm>
            <a:off x="4650581" y="2435126"/>
            <a:ext cx="1707356" cy="342900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722019" y="2513707"/>
            <a:ext cx="156448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Gateway</a:t>
            </a:r>
            <a:endParaRPr lang="en-US" sz="584" dirty="0"/>
          </a:p>
        </p:txBody>
      </p:sp>
      <p:sp>
        <p:nvSpPr>
          <p:cNvPr id="54" name="Text 50"/>
          <p:cNvSpPr/>
          <p:nvPr/>
        </p:nvSpPr>
        <p:spPr>
          <a:xfrm>
            <a:off x="4722019" y="2615505"/>
            <a:ext cx="156448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Microservices</a:t>
            </a:r>
            <a:endParaRPr lang="en-US" sz="516" dirty="0"/>
          </a:p>
        </p:txBody>
      </p:sp>
      <p:sp>
        <p:nvSpPr>
          <p:cNvPr id="55" name="Shape 51"/>
          <p:cNvSpPr/>
          <p:nvPr/>
        </p:nvSpPr>
        <p:spPr>
          <a:xfrm>
            <a:off x="4650581" y="2878038"/>
            <a:ext cx="1707356" cy="342900"/>
          </a:xfrm>
          <a:prstGeom prst="rect">
            <a:avLst/>
          </a:prstGeom>
          <a:solidFill>
            <a:srgbClr val="E8F5E9"/>
          </a:solidFill>
          <a:ln w="9144">
            <a:solidFill>
              <a:srgbClr val="2E7D32"/>
            </a:solidFill>
            <a:prstDash val="dash"/>
          </a:ln>
        </p:spPr>
      </p:sp>
      <p:sp>
        <p:nvSpPr>
          <p:cNvPr id="56" name="Text 52"/>
          <p:cNvSpPr/>
          <p:nvPr/>
        </p:nvSpPr>
        <p:spPr>
          <a:xfrm>
            <a:off x="4722019" y="2956620"/>
            <a:ext cx="156448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Kafka Stream </a:t>
            </a:r>
            <a:pPr algn="ctr" indent="0" marL="0">
              <a:lnSpc>
                <a:spcPts val="8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</a:t>
            </a:r>
            <a:endParaRPr lang="en-US" sz="584" dirty="0"/>
          </a:p>
        </p:txBody>
      </p:sp>
      <p:sp>
        <p:nvSpPr>
          <p:cNvPr id="57" name="Text 53"/>
          <p:cNvSpPr/>
          <p:nvPr/>
        </p:nvSpPr>
        <p:spPr>
          <a:xfrm>
            <a:off x="4722019" y="3058418"/>
            <a:ext cx="156448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CDC from 'TXN'</a:t>
            </a:r>
            <a:endParaRPr lang="en-US" sz="516" dirty="0"/>
          </a:p>
        </p:txBody>
      </p:sp>
      <p:sp>
        <p:nvSpPr>
          <p:cNvPr id="58" name="Shape 54"/>
          <p:cNvSpPr/>
          <p:nvPr/>
        </p:nvSpPr>
        <p:spPr>
          <a:xfrm>
            <a:off x="4650581" y="3320951"/>
            <a:ext cx="1707356" cy="342900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722019" y="3399532"/>
            <a:ext cx="156448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Analytics</a:t>
            </a:r>
            <a:endParaRPr lang="en-US" sz="584" dirty="0"/>
          </a:p>
        </p:txBody>
      </p:sp>
      <p:sp>
        <p:nvSpPr>
          <p:cNvPr id="60" name="Text 56"/>
          <p:cNvSpPr/>
          <p:nvPr/>
        </p:nvSpPr>
        <p:spPr>
          <a:xfrm>
            <a:off x="4722019" y="3501330"/>
            <a:ext cx="156448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Cross-Bucket Joins</a:t>
            </a:r>
            <a:endParaRPr lang="en-US" sz="516" dirty="0"/>
          </a:p>
        </p:txBody>
      </p:sp>
      <p:sp>
        <p:nvSpPr>
          <p:cNvPr id="61" name="Shape 57"/>
          <p:cNvSpPr/>
          <p:nvPr/>
        </p:nvSpPr>
        <p:spPr>
          <a:xfrm>
            <a:off x="6572250" y="1055489"/>
            <a:ext cx="2143125" cy="380226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2" name="Shape 58"/>
          <p:cNvSpPr/>
          <p:nvPr/>
        </p:nvSpPr>
        <p:spPr>
          <a:xfrm>
            <a:off x="6572250" y="1055489"/>
            <a:ext cx="28575" cy="3802261"/>
          </a:xfrm>
          <a:prstGeom prst="rect">
            <a:avLst/>
          </a:prstGeom>
          <a:solidFill>
            <a:srgbClr val="002F5D"/>
          </a:solidFill>
          <a:ln/>
        </p:spPr>
      </p:sp>
      <p:pic>
        <p:nvPicPr>
          <p:cNvPr id="6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406" y="1171575"/>
            <a:ext cx="87511" cy="100013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6824067" y="1162645"/>
            <a:ext cx="43041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Roadmap</a:t>
            </a:r>
            <a:endParaRPr lang="en-US" sz="683" dirty="0"/>
          </a:p>
        </p:txBody>
      </p:sp>
      <p:sp>
        <p:nvSpPr>
          <p:cNvPr id="65" name="Shape 60"/>
          <p:cNvSpPr/>
          <p:nvPr/>
        </p:nvSpPr>
        <p:spPr>
          <a:xfrm>
            <a:off x="6679406" y="1373386"/>
            <a:ext cx="35719" cy="35719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66" name="Text 61"/>
          <p:cNvSpPr/>
          <p:nvPr/>
        </p:nvSpPr>
        <p:spPr>
          <a:xfrm>
            <a:off x="6765131" y="1337667"/>
            <a:ext cx="24110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Q3 '24:</a:t>
            </a:r>
            <a:endParaRPr lang="en-US" sz="534" dirty="0"/>
          </a:p>
        </p:txBody>
      </p:sp>
      <p:sp>
        <p:nvSpPr>
          <p:cNvPr id="67" name="Text 62"/>
          <p:cNvSpPr/>
          <p:nvPr/>
        </p:nvSpPr>
        <p:spPr>
          <a:xfrm>
            <a:off x="7006233" y="1337667"/>
            <a:ext cx="72687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Bucket/Scope Setup</a:t>
            </a:r>
            <a:endParaRPr lang="en-US" sz="568" dirty="0"/>
          </a:p>
        </p:txBody>
      </p:sp>
      <p:sp>
        <p:nvSpPr>
          <p:cNvPr id="68" name="Shape 63"/>
          <p:cNvSpPr/>
          <p:nvPr/>
        </p:nvSpPr>
        <p:spPr>
          <a:xfrm>
            <a:off x="6679406" y="1509117"/>
            <a:ext cx="35719" cy="35719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69" name="Text 64"/>
          <p:cNvSpPr/>
          <p:nvPr/>
        </p:nvSpPr>
        <p:spPr>
          <a:xfrm>
            <a:off x="6765131" y="1473398"/>
            <a:ext cx="24110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Q4 '24:</a:t>
            </a:r>
            <a:endParaRPr lang="en-US" sz="534" dirty="0"/>
          </a:p>
        </p:txBody>
      </p:sp>
      <p:sp>
        <p:nvSpPr>
          <p:cNvPr id="70" name="Text 65"/>
          <p:cNvSpPr/>
          <p:nvPr/>
        </p:nvSpPr>
        <p:spPr>
          <a:xfrm>
            <a:off x="7006233" y="1473398"/>
            <a:ext cx="75902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Migration (TXN)</a:t>
            </a:r>
            <a:endParaRPr lang="en-US" sz="568" dirty="0"/>
          </a:p>
        </p:txBody>
      </p:sp>
      <p:sp>
        <p:nvSpPr>
          <p:cNvPr id="71" name="Shape 66"/>
          <p:cNvSpPr/>
          <p:nvPr/>
        </p:nvSpPr>
        <p:spPr>
          <a:xfrm>
            <a:off x="6679406" y="1644848"/>
            <a:ext cx="35719" cy="35719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72" name="Text 67"/>
          <p:cNvSpPr/>
          <p:nvPr/>
        </p:nvSpPr>
        <p:spPr>
          <a:xfrm>
            <a:off x="6765131" y="1609130"/>
            <a:ext cx="24110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Q1 '25:</a:t>
            </a:r>
            <a:endParaRPr lang="en-US" sz="534" dirty="0"/>
          </a:p>
        </p:txBody>
      </p:sp>
      <p:sp>
        <p:nvSpPr>
          <p:cNvPr id="73" name="Text 68"/>
          <p:cNvSpPr/>
          <p:nvPr/>
        </p:nvSpPr>
        <p:spPr>
          <a:xfrm>
            <a:off x="7006233" y="1609130"/>
            <a:ext cx="55542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Integration</a:t>
            </a:r>
            <a:endParaRPr lang="en-US" sz="568" dirty="0"/>
          </a:p>
        </p:txBody>
      </p:sp>
      <p:sp>
        <p:nvSpPr>
          <p:cNvPr id="74" name="Shape 69"/>
          <p:cNvSpPr/>
          <p:nvPr/>
        </p:nvSpPr>
        <p:spPr>
          <a:xfrm>
            <a:off x="6679406" y="1780580"/>
            <a:ext cx="35719" cy="35719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75" name="Text 70"/>
          <p:cNvSpPr/>
          <p:nvPr/>
        </p:nvSpPr>
        <p:spPr>
          <a:xfrm>
            <a:off x="6765131" y="1744861"/>
            <a:ext cx="24110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Q2 '25:</a:t>
            </a:r>
            <a:endParaRPr lang="en-US" sz="534" dirty="0"/>
          </a:p>
        </p:txBody>
      </p:sp>
      <p:sp>
        <p:nvSpPr>
          <p:cNvPr id="76" name="Text 71"/>
          <p:cNvSpPr/>
          <p:nvPr/>
        </p:nvSpPr>
        <p:spPr>
          <a:xfrm>
            <a:off x="7006233" y="1744861"/>
            <a:ext cx="54649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Decommission</a:t>
            </a:r>
            <a:endParaRPr lang="en-US" sz="568" dirty="0"/>
          </a:p>
        </p:txBody>
      </p:sp>
      <p:pic>
        <p:nvPicPr>
          <p:cNvPr id="7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406" y="2032397"/>
            <a:ext cx="75009" cy="100013"/>
          </a:xfrm>
          <a:prstGeom prst="rect">
            <a:avLst/>
          </a:prstGeom>
        </p:spPr>
      </p:pic>
      <p:sp>
        <p:nvSpPr>
          <p:cNvPr id="78" name="Text 72"/>
          <p:cNvSpPr/>
          <p:nvPr/>
        </p:nvSpPr>
        <p:spPr>
          <a:xfrm>
            <a:off x="6811566" y="2023467"/>
            <a:ext cx="59650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Assumptions</a:t>
            </a:r>
            <a:endParaRPr lang="en-US" sz="683" dirty="0"/>
          </a:p>
        </p:txBody>
      </p:sp>
      <p:sp>
        <p:nvSpPr>
          <p:cNvPr id="79" name="Text 73"/>
          <p:cNvSpPr/>
          <p:nvPr/>
        </p:nvSpPr>
        <p:spPr>
          <a:xfrm>
            <a:off x="6679406" y="2198489"/>
            <a:ext cx="192881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20% Bandwidth Growth</a:t>
            </a:r>
            <a:endParaRPr lang="en-US" sz="568" dirty="0"/>
          </a:p>
        </p:txBody>
      </p:sp>
      <p:sp>
        <p:nvSpPr>
          <p:cNvPr id="80" name="Text 74"/>
          <p:cNvSpPr/>
          <p:nvPr/>
        </p:nvSpPr>
        <p:spPr>
          <a:xfrm>
            <a:off x="6679406" y="2291358"/>
            <a:ext cx="192881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SDK 3.0+ Upgrade</a:t>
            </a:r>
            <a:endParaRPr lang="en-US" sz="568" dirty="0"/>
          </a:p>
        </p:txBody>
      </p:sp>
      <p:sp>
        <p:nvSpPr>
          <p:cNvPr id="81" name="Text 75"/>
          <p:cNvSpPr/>
          <p:nvPr/>
        </p:nvSpPr>
        <p:spPr>
          <a:xfrm>
            <a:off x="6679406" y="2384227"/>
            <a:ext cx="192881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Security Policies OK</a:t>
            </a:r>
            <a:endParaRPr lang="en-US" sz="568" dirty="0"/>
          </a:p>
        </p:txBody>
      </p:sp>
      <p:sp>
        <p:nvSpPr>
          <p:cNvPr id="82" name="Text 76"/>
          <p:cNvSpPr/>
          <p:nvPr/>
        </p:nvSpPr>
        <p:spPr>
          <a:xfrm>
            <a:off x="6679406" y="2477095"/>
            <a:ext cx="192881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No Schema Changes</a:t>
            </a:r>
            <a:endParaRPr lang="en-US" sz="56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2026-03-05T03:14:19Z</dcterms:created>
  <dcterms:modified xsi:type="dcterms:W3CDTF">2026-03-05T03:14:19Z</dcterms:modified>
</cp:coreProperties>
</file>