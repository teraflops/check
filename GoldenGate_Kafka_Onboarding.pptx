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1396826"/>
            <a:ext cx="6429375" cy="219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Automated Table Onboarding to Kafka Using Oracle GoldenGate REST APIs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857250" y="3762747"/>
            <a:ext cx="64293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72C6"/>
                </a:solidFill>
              </a:rPr>
              <a:t>A Step-by-Step API Workflow for Real-Time Data Replication</a:t>
            </a:r>
            <a:endParaRPr lang="en-US" sz="170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43025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GoldenGate Microservices Architecture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Enabling Full API Automation Across All Services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628775"/>
            <a:ext cx="8001000" cy="1857375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678" y="1628775"/>
            <a:ext cx="3326616" cy="185734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71500" y="3600450"/>
            <a:ext cx="2609841" cy="709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6"/>
          <p:cNvSpPr/>
          <p:nvPr/>
        </p:nvSpPr>
        <p:spPr>
          <a:xfrm>
            <a:off x="571500" y="3600450"/>
            <a:ext cx="28575" cy="709352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1" name="Text 7"/>
          <p:cNvSpPr/>
          <p:nvPr/>
        </p:nvSpPr>
        <p:spPr>
          <a:xfrm>
            <a:off x="657225" y="3686175"/>
            <a:ext cx="24383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2F5D"/>
                </a:solidFill>
              </a:rPr>
              <a:t>Service Manager (9100)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657225" y="3904059"/>
            <a:ext cx="243839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Central orchestration point for all services and deployments.</a:t>
            </a:r>
            <a:endParaRPr lang="en-US" sz="834" dirty="0"/>
          </a:p>
        </p:txBody>
      </p:sp>
      <p:sp>
        <p:nvSpPr>
          <p:cNvPr id="13" name="Shape 9"/>
          <p:cNvSpPr/>
          <p:nvPr/>
        </p:nvSpPr>
        <p:spPr>
          <a:xfrm>
            <a:off x="3267066" y="3600450"/>
            <a:ext cx="2609841" cy="709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0"/>
          <p:cNvSpPr/>
          <p:nvPr/>
        </p:nvSpPr>
        <p:spPr>
          <a:xfrm>
            <a:off x="3267066" y="3600450"/>
            <a:ext cx="28575" cy="709352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5" name="Text 11"/>
          <p:cNvSpPr/>
          <p:nvPr/>
        </p:nvSpPr>
        <p:spPr>
          <a:xfrm>
            <a:off x="3352791" y="3686175"/>
            <a:ext cx="24383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2F5D"/>
                </a:solidFill>
              </a:rPr>
              <a:t>Admin Service (10100)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3352791" y="3904059"/>
            <a:ext cx="243839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Manages Extract &amp; Replicat processes via REST API.</a:t>
            </a:r>
            <a:endParaRPr lang="en-US" sz="834" dirty="0"/>
          </a:p>
        </p:txBody>
      </p:sp>
      <p:sp>
        <p:nvSpPr>
          <p:cNvPr id="17" name="Shape 13"/>
          <p:cNvSpPr/>
          <p:nvPr/>
        </p:nvSpPr>
        <p:spPr>
          <a:xfrm>
            <a:off x="5962631" y="3600450"/>
            <a:ext cx="2609869" cy="709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Shape 14"/>
          <p:cNvSpPr/>
          <p:nvPr/>
        </p:nvSpPr>
        <p:spPr>
          <a:xfrm>
            <a:off x="5962631" y="3600450"/>
            <a:ext cx="28575" cy="709352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9" name="Text 15"/>
          <p:cNvSpPr/>
          <p:nvPr/>
        </p:nvSpPr>
        <p:spPr>
          <a:xfrm>
            <a:off x="6048356" y="3686175"/>
            <a:ext cx="24384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2F5D"/>
                </a:solidFill>
              </a:rPr>
              <a:t>Distribution (10101)</a:t>
            </a:r>
            <a:endParaRPr lang="en-US" sz="885" dirty="0"/>
          </a:p>
        </p:txBody>
      </p:sp>
      <p:sp>
        <p:nvSpPr>
          <p:cNvPr id="20" name="Text 16"/>
          <p:cNvSpPr/>
          <p:nvPr/>
        </p:nvSpPr>
        <p:spPr>
          <a:xfrm>
            <a:off x="6048356" y="3904059"/>
            <a:ext cx="24384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Routes trail files from source to target deployments.</a:t>
            </a:r>
            <a:endParaRPr lang="en-US" sz="834" dirty="0"/>
          </a:p>
        </p:txBody>
      </p:sp>
      <p:sp>
        <p:nvSpPr>
          <p:cNvPr id="21" name="Shape 17"/>
          <p:cNvSpPr/>
          <p:nvPr/>
        </p:nvSpPr>
        <p:spPr>
          <a:xfrm>
            <a:off x="571500" y="4509827"/>
            <a:ext cx="8001000" cy="360759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2" name="Text 18"/>
          <p:cNvSpPr/>
          <p:nvPr/>
        </p:nvSpPr>
        <p:spPr>
          <a:xfrm>
            <a:off x="571500" y="4509827"/>
            <a:ext cx="8001000" cy="3607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Flow: Source DB Deployment → Distribution → Big Data Deployment → Kafka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6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43025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Complete API Workflow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9 Sequential Steps for Automated Table Onboarding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557338"/>
            <a:ext cx="8001000" cy="2571750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950" y="1557338"/>
            <a:ext cx="4606100" cy="257172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71500" y="4271963"/>
            <a:ext cx="2590781" cy="63400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6"/>
          <p:cNvSpPr/>
          <p:nvPr/>
        </p:nvSpPr>
        <p:spPr>
          <a:xfrm>
            <a:off x="571500" y="4271963"/>
            <a:ext cx="28575" cy="634008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11" name="Text 7"/>
          <p:cNvSpPr/>
          <p:nvPr/>
        </p:nvSpPr>
        <p:spPr>
          <a:xfrm>
            <a:off x="657225" y="4357688"/>
            <a:ext cx="24193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2F5D"/>
                </a:solidFill>
              </a:rPr>
              <a:t>Source Admin Service (10100)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657225" y="4548783"/>
            <a:ext cx="24193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Steps 1-4: Credential, Validation, TRANDATA, Extract</a:t>
            </a:r>
            <a:endParaRPr lang="en-US" sz="727" dirty="0"/>
          </a:p>
        </p:txBody>
      </p:sp>
      <p:sp>
        <p:nvSpPr>
          <p:cNvPr id="13" name="Shape 9"/>
          <p:cNvSpPr/>
          <p:nvPr/>
        </p:nvSpPr>
        <p:spPr>
          <a:xfrm>
            <a:off x="3276581" y="4271963"/>
            <a:ext cx="2590809" cy="498277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0"/>
          <p:cNvSpPr/>
          <p:nvPr/>
        </p:nvSpPr>
        <p:spPr>
          <a:xfrm>
            <a:off x="3276581" y="4271963"/>
            <a:ext cx="28575" cy="498277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15" name="Text 11"/>
          <p:cNvSpPr/>
          <p:nvPr/>
        </p:nvSpPr>
        <p:spPr>
          <a:xfrm>
            <a:off x="3362306" y="4357688"/>
            <a:ext cx="24193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2F5D"/>
                </a:solidFill>
              </a:rPr>
              <a:t>Distribution Service (10101)</a:t>
            </a:r>
            <a:endParaRPr lang="en-US" sz="784" dirty="0"/>
          </a:p>
        </p:txBody>
      </p:sp>
      <p:sp>
        <p:nvSpPr>
          <p:cNvPr id="16" name="Text 12"/>
          <p:cNvSpPr/>
          <p:nvPr/>
        </p:nvSpPr>
        <p:spPr>
          <a:xfrm>
            <a:off x="3362306" y="4548783"/>
            <a:ext cx="24193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Step 5: Distribution Path Configuration</a:t>
            </a:r>
            <a:endParaRPr lang="en-US" sz="727" dirty="0"/>
          </a:p>
        </p:txBody>
      </p:sp>
      <p:sp>
        <p:nvSpPr>
          <p:cNvPr id="17" name="Shape 13"/>
          <p:cNvSpPr/>
          <p:nvPr/>
        </p:nvSpPr>
        <p:spPr>
          <a:xfrm>
            <a:off x="5981691" y="4271963"/>
            <a:ext cx="2590781" cy="498277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Shape 14"/>
          <p:cNvSpPr/>
          <p:nvPr/>
        </p:nvSpPr>
        <p:spPr>
          <a:xfrm>
            <a:off x="5981691" y="4271963"/>
            <a:ext cx="28575" cy="498277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19" name="Text 15"/>
          <p:cNvSpPr/>
          <p:nvPr/>
        </p:nvSpPr>
        <p:spPr>
          <a:xfrm>
            <a:off x="6067416" y="4357688"/>
            <a:ext cx="24193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2F5D"/>
                </a:solidFill>
              </a:rPr>
              <a:t>Big Data Admin Service (10200)</a:t>
            </a:r>
            <a:endParaRPr lang="en-US" sz="784" dirty="0"/>
          </a:p>
        </p:txBody>
      </p:sp>
      <p:sp>
        <p:nvSpPr>
          <p:cNvPr id="20" name="Text 16"/>
          <p:cNvSpPr/>
          <p:nvPr/>
        </p:nvSpPr>
        <p:spPr>
          <a:xfrm>
            <a:off x="6067416" y="4548783"/>
            <a:ext cx="24193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Steps 6-8: Kafka Config, Handler, Replicat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322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46584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2F5D"/>
                </a:solidFill>
              </a:rPr>
              <a:t>Step 1 - Create Database Credential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909042"/>
            <a:ext cx="800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2C6"/>
                </a:solidFill>
              </a:rPr>
              <a:t>Administration Service (Source) • Port 10100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571500" y="1460897"/>
            <a:ext cx="8001000" cy="428625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60897"/>
            <a:ext cx="42863" cy="428625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1568053"/>
            <a:ext cx="4014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2F5D"/>
                </a:solidFill>
              </a:rPr>
              <a:t>POST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1222949" y="1568053"/>
            <a:ext cx="299632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/services/v2/credentials/{domain}/{alias}</a:t>
            </a:r>
            <a:endParaRPr lang="en-US" sz="1159" dirty="0"/>
          </a:p>
        </p:txBody>
      </p:sp>
      <p:sp>
        <p:nvSpPr>
          <p:cNvPr id="11" name="Shape 8"/>
          <p:cNvSpPr/>
          <p:nvPr/>
        </p:nvSpPr>
        <p:spPr>
          <a:xfrm>
            <a:off x="571500" y="2103834"/>
            <a:ext cx="750512" cy="32682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103834"/>
            <a:ext cx="750512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Parameter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1322012" y="2103834"/>
            <a:ext cx="659625" cy="32682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4" name="Text 11"/>
          <p:cNvSpPr/>
          <p:nvPr/>
        </p:nvSpPr>
        <p:spPr>
          <a:xfrm>
            <a:off x="1322012" y="2103834"/>
            <a:ext cx="659625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Location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1981637" y="2103834"/>
            <a:ext cx="665708" cy="32682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6" name="Text 13"/>
          <p:cNvSpPr/>
          <p:nvPr/>
        </p:nvSpPr>
        <p:spPr>
          <a:xfrm>
            <a:off x="1981637" y="2103834"/>
            <a:ext cx="665708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Required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2647345" y="2103834"/>
            <a:ext cx="2424689" cy="32682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8" name="Text 15"/>
          <p:cNvSpPr/>
          <p:nvPr/>
        </p:nvSpPr>
        <p:spPr>
          <a:xfrm>
            <a:off x="2647345" y="2103834"/>
            <a:ext cx="2424689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Description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71500" y="2430661"/>
            <a:ext cx="750512" cy="48577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2C6"/>
                </a:solidFill>
              </a:rPr>
              <a:t>domain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1322012" y="2430661"/>
            <a:ext cx="659625" cy="48577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URL Path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1981637" y="2430661"/>
            <a:ext cx="665708" cy="48577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Yes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2647345" y="2430661"/>
            <a:ext cx="2424689" cy="48577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Credential domain (e.g., OracleGoldenGate)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571500" y="2916436"/>
            <a:ext cx="4500535" cy="489347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" y="2916436"/>
            <a:ext cx="750512" cy="48934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2C6"/>
                </a:solidFill>
              </a:rPr>
              <a:t>alias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1322012" y="2916436"/>
            <a:ext cx="659625" cy="48934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URL Path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1981637" y="2916436"/>
            <a:ext cx="665708" cy="48934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Yes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2647345" y="2916436"/>
            <a:ext cx="2424689" cy="48934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Unique credential name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571500" y="3405783"/>
            <a:ext cx="750512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2C6"/>
                </a:solidFill>
              </a:rPr>
              <a:t>userid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1322012" y="3405783"/>
            <a:ext cx="659625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Body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1981637" y="3405783"/>
            <a:ext cx="665708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Yes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2647345" y="3405783"/>
            <a:ext cx="2424689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DB user with connect string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571500" y="3739753"/>
            <a:ext cx="4500535" cy="33397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3" name="Text 30"/>
          <p:cNvSpPr/>
          <p:nvPr/>
        </p:nvSpPr>
        <p:spPr>
          <a:xfrm>
            <a:off x="571500" y="3739753"/>
            <a:ext cx="750512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2C6"/>
                </a:solidFill>
              </a:rPr>
              <a:t>password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1322012" y="3739753"/>
            <a:ext cx="659625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Body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1981637" y="3739753"/>
            <a:ext cx="665708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Yes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2647345" y="3739753"/>
            <a:ext cx="2424689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Database password</a:t>
            </a:r>
            <a:endParaRPr lang="en-US" sz="834" dirty="0"/>
          </a:p>
        </p:txBody>
      </p:sp>
      <p:sp>
        <p:nvSpPr>
          <p:cNvPr id="37" name="Shape 34"/>
          <p:cNvSpPr/>
          <p:nvPr/>
        </p:nvSpPr>
        <p:spPr>
          <a:xfrm>
            <a:off x="5357785" y="2103834"/>
            <a:ext cx="3214688" cy="5857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38" name="Shape 35"/>
          <p:cNvSpPr/>
          <p:nvPr/>
        </p:nvSpPr>
        <p:spPr>
          <a:xfrm>
            <a:off x="7455061" y="2103834"/>
            <a:ext cx="1117411" cy="185738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39" name="Text 36"/>
          <p:cNvSpPr/>
          <p:nvPr/>
        </p:nvSpPr>
        <p:spPr>
          <a:xfrm>
            <a:off x="7455061" y="2103834"/>
            <a:ext cx="1117411" cy="18573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Sample Request Body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5500660" y="2253853"/>
            <a:ext cx="23779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{ "userid": "c##ggadmin@ORCLPDB1", "password":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5500660" y="2403872"/>
            <a:ext cx="8155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"Welcome#123" }</a:t>
            </a:r>
            <a:endParaRPr lang="en-US" sz="727" dirty="0"/>
          </a:p>
        </p:txBody>
      </p:sp>
      <p:sp>
        <p:nvSpPr>
          <p:cNvPr id="42" name="Shape 39"/>
          <p:cNvSpPr/>
          <p:nvPr/>
        </p:nvSpPr>
        <p:spPr>
          <a:xfrm>
            <a:off x="5357785" y="2832497"/>
            <a:ext cx="3214688" cy="575072"/>
          </a:xfrm>
          <a:prstGeom prst="rect">
            <a:avLst/>
          </a:prstGeom>
          <a:solidFill>
            <a:srgbClr val="F0F4F8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64941" y="2939653"/>
            <a:ext cx="3000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</a:rPr>
              <a:t>Expected Response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5464941" y="3111103"/>
            <a:ext cx="3000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E7D32"/>
                </a:solidFill>
              </a:rPr>
              <a:t>HTTP 201 Created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4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43025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Step 2 - Validate Database Connection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Verify connectivity before proceeding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557338"/>
            <a:ext cx="8001000" cy="551855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57338"/>
            <a:ext cx="42863" cy="551855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1700213"/>
            <a:ext cx="479217" cy="266105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1700213"/>
            <a:ext cx="479217" cy="266105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GET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336467" y="1735931"/>
            <a:ext cx="30914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2F5D"/>
                </a:solidFill>
              </a:rPr>
              <a:t>/services/v2/credentials/{domain}/{alias}/valid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394942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Service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571500" y="2587823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2F5D"/>
                </a:solidFill>
              </a:rPr>
              <a:t>Administration Service (Source)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571500" y="2996803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Port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71500" y="3189684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2F5D"/>
                </a:solidFill>
              </a:rPr>
              <a:t>10100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571500" y="3598664"/>
            <a:ext cx="3786188" cy="1057275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3598664"/>
            <a:ext cx="28575" cy="1057275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8" name="Text 15"/>
          <p:cNvSpPr/>
          <p:nvPr/>
        </p:nvSpPr>
        <p:spPr>
          <a:xfrm>
            <a:off x="714375" y="3741539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2F5D"/>
                </a:solidFill>
              </a:rPr>
              <a:t>Purpose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714375" y="3934420"/>
            <a:ext cx="35004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02F5D"/>
                </a:solidFill>
              </a:rPr>
              <a:t>Confirms that the credential created in Step 1 can successfully authenticate and connect to the source Oracle database. This step prevents downstream failures.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786313" y="2394942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Request Parameters (URL Path)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4786313" y="2587823"/>
            <a:ext cx="1051833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2" name="Text 19"/>
          <p:cNvSpPr/>
          <p:nvPr/>
        </p:nvSpPr>
        <p:spPr>
          <a:xfrm>
            <a:off x="4786313" y="2587823"/>
            <a:ext cx="1051833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Parameter</a:t>
            </a:r>
            <a:endParaRPr lang="en-US" sz="683" dirty="0"/>
          </a:p>
        </p:txBody>
      </p:sp>
      <p:sp>
        <p:nvSpPr>
          <p:cNvPr id="23" name="Shape 20"/>
          <p:cNvSpPr/>
          <p:nvPr/>
        </p:nvSpPr>
        <p:spPr>
          <a:xfrm>
            <a:off x="5838146" y="2587823"/>
            <a:ext cx="936752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4" name="Text 21"/>
          <p:cNvSpPr/>
          <p:nvPr/>
        </p:nvSpPr>
        <p:spPr>
          <a:xfrm>
            <a:off x="5838146" y="2587823"/>
            <a:ext cx="936752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Required</a:t>
            </a:r>
            <a:endParaRPr lang="en-US" sz="683" dirty="0"/>
          </a:p>
        </p:txBody>
      </p:sp>
      <p:sp>
        <p:nvSpPr>
          <p:cNvPr id="25" name="Shape 22"/>
          <p:cNvSpPr/>
          <p:nvPr/>
        </p:nvSpPr>
        <p:spPr>
          <a:xfrm>
            <a:off x="6774898" y="2587823"/>
            <a:ext cx="1797602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6" name="Text 23"/>
          <p:cNvSpPr/>
          <p:nvPr/>
        </p:nvSpPr>
        <p:spPr>
          <a:xfrm>
            <a:off x="6774898" y="2587823"/>
            <a:ext cx="1797602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Example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786313" y="2895005"/>
            <a:ext cx="1051833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domain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5838146" y="2895005"/>
            <a:ext cx="936752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Yes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6774898" y="2895005"/>
            <a:ext cx="1797602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OracleGoldenGate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4786313" y="3225403"/>
            <a:ext cx="1051833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alias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5838146" y="3225403"/>
            <a:ext cx="936752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Yes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6774898" y="3225403"/>
            <a:ext cx="1797602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OGG_SOURCE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4786313" y="3777258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Expected Response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4786313" y="3970139"/>
            <a:ext cx="3786188" cy="7518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5" name="Shape 32"/>
          <p:cNvSpPr/>
          <p:nvPr/>
        </p:nvSpPr>
        <p:spPr>
          <a:xfrm>
            <a:off x="8227033" y="3970139"/>
            <a:ext cx="345467" cy="173236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36" name="Text 33"/>
          <p:cNvSpPr/>
          <p:nvPr/>
        </p:nvSpPr>
        <p:spPr>
          <a:xfrm>
            <a:off x="8227033" y="3970139"/>
            <a:ext cx="345467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JSON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4929188" y="4113014"/>
            <a:ext cx="3500438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{</a:t>
            </a:r>
            <a:endParaRPr lang="en-US" sz="834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"valid": true</a:t>
            </a:r>
            <a:endParaRPr lang="en-US" sz="834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}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965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10866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5623024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2F5D"/>
                </a:solidFill>
              </a:rPr>
              <a:t>Step 3 - Enable Supplemental Logging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873323"/>
            <a:ext cx="56230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72C6"/>
                </a:solidFill>
              </a:rPr>
              <a:t>Ensure all column changes are captured for replication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730194" y="798314"/>
            <a:ext cx="1842306" cy="26967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8" name="Text 5"/>
          <p:cNvSpPr/>
          <p:nvPr/>
        </p:nvSpPr>
        <p:spPr>
          <a:xfrm>
            <a:off x="6730194" y="798314"/>
            <a:ext cx="1842306" cy="269677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Admin Service (Source): 10100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1425178"/>
            <a:ext cx="8001000" cy="4089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1425178"/>
            <a:ext cx="42863" cy="408980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1532334"/>
            <a:ext cx="3649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2C6"/>
                </a:solidFill>
              </a:rPr>
              <a:t>POST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186449" y="1532334"/>
            <a:ext cx="37687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/services/v2/connections/{connection}/trandata/schema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1500" y="2048470"/>
            <a:ext cx="899666" cy="32682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048470"/>
            <a:ext cx="899666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Parameter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1471166" y="2048470"/>
            <a:ext cx="763600" cy="32682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6" name="Text 13"/>
          <p:cNvSpPr/>
          <p:nvPr/>
        </p:nvSpPr>
        <p:spPr>
          <a:xfrm>
            <a:off x="1471166" y="2048470"/>
            <a:ext cx="763600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Location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2234766" y="2048470"/>
            <a:ext cx="769153" cy="32682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8" name="Text 15"/>
          <p:cNvSpPr/>
          <p:nvPr/>
        </p:nvSpPr>
        <p:spPr>
          <a:xfrm>
            <a:off x="2234766" y="2048470"/>
            <a:ext cx="769153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Required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3003919" y="2048470"/>
            <a:ext cx="2196731" cy="32682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0" name="Text 17"/>
          <p:cNvSpPr/>
          <p:nvPr/>
        </p:nvSpPr>
        <p:spPr>
          <a:xfrm>
            <a:off x="3003919" y="2048470"/>
            <a:ext cx="2196731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Description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571500" y="2375297"/>
            <a:ext cx="899666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63384"/>
                </a:solidFill>
              </a:rPr>
              <a:t>connection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1471166" y="2375297"/>
            <a:ext cx="763600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URL Path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2234766" y="2375297"/>
            <a:ext cx="769153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Yes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3003919" y="2375297"/>
            <a:ext cx="2196731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Connection name (domain.alias)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571500" y="2705695"/>
            <a:ext cx="4629150" cy="33397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2705695"/>
            <a:ext cx="899666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63384"/>
                </a:solidFill>
              </a:rPr>
              <a:t>operation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1471166" y="2705695"/>
            <a:ext cx="763600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Body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2234766" y="2705695"/>
            <a:ext cx="769153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Yes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3003919" y="2705695"/>
            <a:ext cx="2196731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Action: 'add' or 'delete'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571500" y="3039666"/>
            <a:ext cx="899666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63384"/>
                </a:solidFill>
              </a:rPr>
              <a:t>schemaName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1471166" y="3039666"/>
            <a:ext cx="763600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Body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2234766" y="3039666"/>
            <a:ext cx="769153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Yes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3003919" y="3039666"/>
            <a:ext cx="2196731" cy="33397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Target schema name</a:t>
            </a:r>
            <a:endParaRPr lang="en-US" sz="834" dirty="0"/>
          </a:p>
        </p:txBody>
      </p:sp>
      <p:sp>
        <p:nvSpPr>
          <p:cNvPr id="34" name="Shape 31"/>
          <p:cNvSpPr/>
          <p:nvPr/>
        </p:nvSpPr>
        <p:spPr>
          <a:xfrm>
            <a:off x="571500" y="3520083"/>
            <a:ext cx="4629150" cy="671513"/>
          </a:xfrm>
          <a:prstGeom prst="rect">
            <a:avLst/>
          </a:prstGeom>
          <a:solidFill>
            <a:srgbClr val="E3F2FD"/>
          </a:solidFill>
          <a:ln w="9144">
            <a:solidFill>
              <a:srgbClr val="BBDEF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8656" y="3627239"/>
            <a:ext cx="44148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D47A1"/>
                </a:solidFill>
              </a:rPr>
              <a:t>Alternative: Single Table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678656" y="3798689"/>
            <a:ext cx="47748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D47A1"/>
                </a:solidFill>
              </a:rPr>
              <a:t>Endpoint: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1156143" y="3798689"/>
            <a:ext cx="79390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D47A1"/>
                </a:solidFill>
              </a:rPr>
              <a:t>.../trandata/table</a:t>
            </a:r>
            <a:endParaRPr lang="en-US" sz="727" dirty="0"/>
          </a:p>
        </p:txBody>
      </p:sp>
      <p:sp>
        <p:nvSpPr>
          <p:cNvPr id="38" name="Text 35"/>
          <p:cNvSpPr/>
          <p:nvPr/>
        </p:nvSpPr>
        <p:spPr>
          <a:xfrm>
            <a:off x="678656" y="3934420"/>
            <a:ext cx="2908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D47A1"/>
                </a:solidFill>
              </a:rPr>
              <a:t>Body: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969513" y="3934420"/>
            <a:ext cx="24242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D47A1"/>
                </a:solidFill>
              </a:rPr>
              <a:t>{"operation": "add", "tableName": "HR.EMPLOYEES"}</a:t>
            </a:r>
            <a:endParaRPr lang="en-US" sz="727" dirty="0"/>
          </a:p>
        </p:txBody>
      </p:sp>
      <p:sp>
        <p:nvSpPr>
          <p:cNvPr id="40" name="Shape 37"/>
          <p:cNvSpPr/>
          <p:nvPr/>
        </p:nvSpPr>
        <p:spPr>
          <a:xfrm>
            <a:off x="5486400" y="2048470"/>
            <a:ext cx="3086100" cy="107870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1" name="Text 38"/>
          <p:cNvSpPr/>
          <p:nvPr/>
        </p:nvSpPr>
        <p:spPr>
          <a:xfrm>
            <a:off x="5629275" y="2191345"/>
            <a:ext cx="2800350" cy="17859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Sample Request Body</a:t>
            </a:r>
            <a:endParaRPr lang="en-US" sz="727" dirty="0"/>
          </a:p>
        </p:txBody>
      </p:sp>
      <p:sp>
        <p:nvSpPr>
          <p:cNvPr id="42" name="Text 39"/>
          <p:cNvSpPr/>
          <p:nvPr/>
        </p:nvSpPr>
        <p:spPr>
          <a:xfrm>
            <a:off x="5629275" y="2441377"/>
            <a:ext cx="28003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{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"operation"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"add"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"schemaName"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"HR"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}</a:t>
            </a:r>
            <a:endParaRPr lang="en-US" sz="727" dirty="0"/>
          </a:p>
        </p:txBody>
      </p:sp>
      <p:sp>
        <p:nvSpPr>
          <p:cNvPr id="43" name="Text 40"/>
          <p:cNvSpPr/>
          <p:nvPr/>
        </p:nvSpPr>
        <p:spPr>
          <a:xfrm>
            <a:off x="5486400" y="3270052"/>
            <a:ext cx="30861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Why this is needed: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 Supplemental logging (TRANDATA) ensures that the database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logs the necessary columns to identify rows for updates and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deletes, which is critical for data integrity in the target system.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43025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Step 4: Create Extract Process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Administration Service (Source) - Port 10100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557338"/>
            <a:ext cx="3214688" cy="705445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57338"/>
            <a:ext cx="28575" cy="705445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1700213"/>
            <a:ext cx="367233" cy="1928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1700213"/>
            <a:ext cx="367233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POST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714375" y="1964531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/services/v2/extracts/{extract}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71500" y="2477095"/>
            <a:ext cx="1283364" cy="278606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2477095"/>
            <a:ext cx="1283364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Parameter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1854864" y="2477095"/>
            <a:ext cx="1931324" cy="278606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5" name="Text 12"/>
          <p:cNvSpPr/>
          <p:nvPr/>
        </p:nvSpPr>
        <p:spPr>
          <a:xfrm>
            <a:off x="1854864" y="2477095"/>
            <a:ext cx="1931324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Description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71500" y="2755702"/>
            <a:ext cx="128336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2C6"/>
                </a:solidFill>
              </a:rPr>
              <a:t>extract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854864" y="2755702"/>
            <a:ext cx="193132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Process name (URL Path)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571500" y="3037880"/>
            <a:ext cx="1283364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2C6"/>
                </a:solidFill>
              </a:rPr>
              <a:t>config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1854864" y="3037880"/>
            <a:ext cx="1931324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Parameter file content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571500" y="3323630"/>
            <a:ext cx="1283364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2C6"/>
                </a:solidFill>
              </a:rPr>
              <a:t>source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1854864" y="3323630"/>
            <a:ext cx="1931324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Capture type ("tranlogs")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571500" y="3609380"/>
            <a:ext cx="1283364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2C6"/>
                </a:solidFill>
              </a:rPr>
              <a:t>credentials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1854864" y="3609380"/>
            <a:ext cx="1931324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DB credential alias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571500" y="3895130"/>
            <a:ext cx="1283364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2C6"/>
                </a:solidFill>
              </a:rPr>
              <a:t>registration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1854864" y="3895130"/>
            <a:ext cx="1931324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PDB containers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4071938" y="1557338"/>
            <a:ext cx="4500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2F5D"/>
                </a:solidFill>
              </a:rPr>
              <a:t>Sample Request Payload</a:t>
            </a:r>
            <a:endParaRPr lang="en-US" sz="784" dirty="0"/>
          </a:p>
        </p:txBody>
      </p:sp>
      <p:sp>
        <p:nvSpPr>
          <p:cNvPr id="27" name="Shape 24"/>
          <p:cNvSpPr/>
          <p:nvPr/>
        </p:nvSpPr>
        <p:spPr>
          <a:xfrm>
            <a:off x="4071938" y="1784152"/>
            <a:ext cx="4500563" cy="293072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71938" y="1784152"/>
            <a:ext cx="28575" cy="2930723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29" name="Text 26"/>
          <p:cNvSpPr/>
          <p:nvPr/>
        </p:nvSpPr>
        <p:spPr>
          <a:xfrm>
            <a:off x="4071938" y="1784152"/>
            <a:ext cx="4500563" cy="2930723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{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"config"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[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"EXTRACT EXT_ORA"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"USERIDALIAS OGG_SOURCE DOMAIN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OracleGoldenGate"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"EXTTRAIL ex"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"TABLE HR.*;"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],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"source"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"tranlogs"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"credentials"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{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"alias"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"OGG_SOURCE"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},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"registration"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{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"containers"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[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"ORCLPDB1"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] },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"begin"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"now"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"targets"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[ {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"name"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"ex"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} ] }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43025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Step 5 - Create Distribution Path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Establish Trail File Transfer to Big Data Deployment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557338"/>
            <a:ext cx="8001000" cy="441127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57338"/>
            <a:ext cx="42863" cy="441127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1664494"/>
            <a:ext cx="460521" cy="226814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1664494"/>
            <a:ext cx="460521" cy="226814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POST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1282052" y="1680567"/>
            <a:ext cx="523201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/services/v2/sources/{path}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068" y="1720751"/>
            <a:ext cx="114300" cy="114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99805" y="1700213"/>
            <a:ext cx="17298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Distribution Service (Port 10101)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571500" y="2212777"/>
            <a:ext cx="46291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22" b="1" dirty="0">
                <a:solidFill>
                  <a:srgbClr val="333333"/>
                </a:solidFill>
              </a:rPr>
              <a:t>Request Parameters</a:t>
            </a:r>
            <a:endParaRPr lang="en-US" sz="922" dirty="0"/>
          </a:p>
        </p:txBody>
      </p:sp>
      <p:sp>
        <p:nvSpPr>
          <p:cNvPr id="15" name="Shape 11"/>
          <p:cNvSpPr/>
          <p:nvPr/>
        </p:nvSpPr>
        <p:spPr>
          <a:xfrm>
            <a:off x="571500" y="2466380"/>
            <a:ext cx="889090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6" name="Text 12"/>
          <p:cNvSpPr/>
          <p:nvPr/>
        </p:nvSpPr>
        <p:spPr>
          <a:xfrm>
            <a:off x="571500" y="2466380"/>
            <a:ext cx="889090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Parameter</a:t>
            </a:r>
            <a:endParaRPr lang="en-US" sz="683" dirty="0"/>
          </a:p>
        </p:txBody>
      </p:sp>
      <p:sp>
        <p:nvSpPr>
          <p:cNvPr id="17" name="Shape 13"/>
          <p:cNvSpPr/>
          <p:nvPr/>
        </p:nvSpPr>
        <p:spPr>
          <a:xfrm>
            <a:off x="1460590" y="2466380"/>
            <a:ext cx="743815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8" name="Text 14"/>
          <p:cNvSpPr/>
          <p:nvPr/>
        </p:nvSpPr>
        <p:spPr>
          <a:xfrm>
            <a:off x="1460590" y="2466380"/>
            <a:ext cx="743815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Required</a:t>
            </a:r>
            <a:endParaRPr lang="en-US" sz="683" dirty="0"/>
          </a:p>
        </p:txBody>
      </p:sp>
      <p:sp>
        <p:nvSpPr>
          <p:cNvPr id="19" name="Shape 15"/>
          <p:cNvSpPr/>
          <p:nvPr/>
        </p:nvSpPr>
        <p:spPr>
          <a:xfrm>
            <a:off x="2204405" y="2466380"/>
            <a:ext cx="1790681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0" name="Text 16"/>
          <p:cNvSpPr/>
          <p:nvPr/>
        </p:nvSpPr>
        <p:spPr>
          <a:xfrm>
            <a:off x="2204405" y="2466380"/>
            <a:ext cx="1790681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Description</a:t>
            </a:r>
            <a:endParaRPr lang="en-US" sz="683" dirty="0"/>
          </a:p>
        </p:txBody>
      </p:sp>
      <p:sp>
        <p:nvSpPr>
          <p:cNvPr id="21" name="Shape 17"/>
          <p:cNvSpPr/>
          <p:nvPr/>
        </p:nvSpPr>
        <p:spPr>
          <a:xfrm>
            <a:off x="3995086" y="2466380"/>
            <a:ext cx="1205564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2" name="Text 18"/>
          <p:cNvSpPr/>
          <p:nvPr/>
        </p:nvSpPr>
        <p:spPr>
          <a:xfrm>
            <a:off x="3995086" y="2466380"/>
            <a:ext cx="1205564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Example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571500" y="2773561"/>
            <a:ext cx="889090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path</a:t>
            </a:r>
            <a:endParaRPr lang="en-US" sz="683" dirty="0"/>
          </a:p>
        </p:txBody>
      </p:sp>
      <p:sp>
        <p:nvSpPr>
          <p:cNvPr id="24" name="Text 20"/>
          <p:cNvSpPr/>
          <p:nvPr/>
        </p:nvSpPr>
        <p:spPr>
          <a:xfrm>
            <a:off x="1460590" y="2773561"/>
            <a:ext cx="743815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Yes (URL)</a:t>
            </a:r>
            <a:endParaRPr lang="en-US" sz="727" dirty="0"/>
          </a:p>
        </p:txBody>
      </p:sp>
      <p:sp>
        <p:nvSpPr>
          <p:cNvPr id="25" name="Text 21"/>
          <p:cNvSpPr/>
          <p:nvPr/>
        </p:nvSpPr>
        <p:spPr>
          <a:xfrm>
            <a:off x="2204405" y="2773561"/>
            <a:ext cx="1790681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Name of the distribution path</a:t>
            </a:r>
            <a:endParaRPr lang="en-US" sz="727" dirty="0"/>
          </a:p>
        </p:txBody>
      </p:sp>
      <p:sp>
        <p:nvSpPr>
          <p:cNvPr id="26" name="Text 22"/>
          <p:cNvSpPr/>
          <p:nvPr/>
        </p:nvSpPr>
        <p:spPr>
          <a:xfrm>
            <a:off x="3995086" y="2773561"/>
            <a:ext cx="1205564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DIST_KAFKA</a:t>
            </a:r>
            <a:endParaRPr lang="en-US" sz="727" dirty="0"/>
          </a:p>
        </p:txBody>
      </p:sp>
      <p:sp>
        <p:nvSpPr>
          <p:cNvPr id="27" name="Shape 23"/>
          <p:cNvSpPr/>
          <p:nvPr/>
        </p:nvSpPr>
        <p:spPr>
          <a:xfrm>
            <a:off x="571500" y="3084314"/>
            <a:ext cx="4629150" cy="31432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8" name="Text 24"/>
          <p:cNvSpPr/>
          <p:nvPr/>
        </p:nvSpPr>
        <p:spPr>
          <a:xfrm>
            <a:off x="571500" y="3084314"/>
            <a:ext cx="88909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name</a:t>
            </a:r>
            <a:endParaRPr lang="en-US" sz="683" dirty="0"/>
          </a:p>
        </p:txBody>
      </p:sp>
      <p:sp>
        <p:nvSpPr>
          <p:cNvPr id="29" name="Text 25"/>
          <p:cNvSpPr/>
          <p:nvPr/>
        </p:nvSpPr>
        <p:spPr>
          <a:xfrm>
            <a:off x="1460590" y="3084314"/>
            <a:ext cx="74381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Yes (Body)</a:t>
            </a:r>
            <a:endParaRPr lang="en-US" sz="727" dirty="0"/>
          </a:p>
        </p:txBody>
      </p:sp>
      <p:sp>
        <p:nvSpPr>
          <p:cNvPr id="30" name="Text 26"/>
          <p:cNvSpPr/>
          <p:nvPr/>
        </p:nvSpPr>
        <p:spPr>
          <a:xfrm>
            <a:off x="2204405" y="3084314"/>
            <a:ext cx="1790681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Path name (must match URL)</a:t>
            </a:r>
            <a:endParaRPr lang="en-US" sz="727" dirty="0"/>
          </a:p>
        </p:txBody>
      </p:sp>
      <p:sp>
        <p:nvSpPr>
          <p:cNvPr id="31" name="Text 27"/>
          <p:cNvSpPr/>
          <p:nvPr/>
        </p:nvSpPr>
        <p:spPr>
          <a:xfrm>
            <a:off x="3995086" y="3084314"/>
            <a:ext cx="1205564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DIST_KAFKA</a:t>
            </a:r>
            <a:endParaRPr lang="en-US" sz="727" dirty="0"/>
          </a:p>
        </p:txBody>
      </p:sp>
      <p:sp>
        <p:nvSpPr>
          <p:cNvPr id="32" name="Text 28"/>
          <p:cNvSpPr/>
          <p:nvPr/>
        </p:nvSpPr>
        <p:spPr>
          <a:xfrm>
            <a:off x="571500" y="3398639"/>
            <a:ext cx="88909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source.uri</a:t>
            </a:r>
            <a:endParaRPr lang="en-US" sz="683" dirty="0"/>
          </a:p>
        </p:txBody>
      </p:sp>
      <p:sp>
        <p:nvSpPr>
          <p:cNvPr id="33" name="Text 29"/>
          <p:cNvSpPr/>
          <p:nvPr/>
        </p:nvSpPr>
        <p:spPr>
          <a:xfrm>
            <a:off x="1460590" y="3398639"/>
            <a:ext cx="74381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Yes</a:t>
            </a:r>
            <a:endParaRPr lang="en-US" sz="727" dirty="0"/>
          </a:p>
        </p:txBody>
      </p:sp>
      <p:sp>
        <p:nvSpPr>
          <p:cNvPr id="34" name="Text 30"/>
          <p:cNvSpPr/>
          <p:nvPr/>
        </p:nvSpPr>
        <p:spPr>
          <a:xfrm>
            <a:off x="2204405" y="3398639"/>
            <a:ext cx="1790681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Source trail URI protocol</a:t>
            </a:r>
            <a:endParaRPr lang="en-US" sz="727" dirty="0"/>
          </a:p>
        </p:txBody>
      </p:sp>
      <p:sp>
        <p:nvSpPr>
          <p:cNvPr id="35" name="Text 31"/>
          <p:cNvSpPr/>
          <p:nvPr/>
        </p:nvSpPr>
        <p:spPr>
          <a:xfrm>
            <a:off x="3995086" y="3398639"/>
            <a:ext cx="1205564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trail://host:10101...</a:t>
            </a:r>
            <a:endParaRPr lang="en-US" sz="727" dirty="0"/>
          </a:p>
        </p:txBody>
      </p:sp>
      <p:sp>
        <p:nvSpPr>
          <p:cNvPr id="36" name="Shape 32"/>
          <p:cNvSpPr/>
          <p:nvPr/>
        </p:nvSpPr>
        <p:spPr>
          <a:xfrm>
            <a:off x="571500" y="3712964"/>
            <a:ext cx="4629150" cy="31432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7" name="Text 33"/>
          <p:cNvSpPr/>
          <p:nvPr/>
        </p:nvSpPr>
        <p:spPr>
          <a:xfrm>
            <a:off x="571500" y="3712964"/>
            <a:ext cx="88909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target.uri</a:t>
            </a:r>
            <a:endParaRPr lang="en-US" sz="683" dirty="0"/>
          </a:p>
        </p:txBody>
      </p:sp>
      <p:sp>
        <p:nvSpPr>
          <p:cNvPr id="38" name="Text 34"/>
          <p:cNvSpPr/>
          <p:nvPr/>
        </p:nvSpPr>
        <p:spPr>
          <a:xfrm>
            <a:off x="1460590" y="3712964"/>
            <a:ext cx="74381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Yes</a:t>
            </a:r>
            <a:endParaRPr lang="en-US" sz="727" dirty="0"/>
          </a:p>
        </p:txBody>
      </p:sp>
      <p:sp>
        <p:nvSpPr>
          <p:cNvPr id="39" name="Text 35"/>
          <p:cNvSpPr/>
          <p:nvPr/>
        </p:nvSpPr>
        <p:spPr>
          <a:xfrm>
            <a:off x="2204405" y="3712964"/>
            <a:ext cx="1790681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Target receiver URI protocol</a:t>
            </a:r>
            <a:endParaRPr lang="en-US" sz="727" dirty="0"/>
          </a:p>
        </p:txBody>
      </p:sp>
      <p:sp>
        <p:nvSpPr>
          <p:cNvPr id="40" name="Text 36"/>
          <p:cNvSpPr/>
          <p:nvPr/>
        </p:nvSpPr>
        <p:spPr>
          <a:xfrm>
            <a:off x="3995086" y="3712964"/>
            <a:ext cx="1205564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ogg://host:10202...</a:t>
            </a:r>
            <a:endParaRPr lang="en-US" sz="727" dirty="0"/>
          </a:p>
        </p:txBody>
      </p:sp>
      <p:sp>
        <p:nvSpPr>
          <p:cNvPr id="41" name="Shape 37"/>
          <p:cNvSpPr/>
          <p:nvPr/>
        </p:nvSpPr>
        <p:spPr>
          <a:xfrm>
            <a:off x="5486400" y="2284214"/>
            <a:ext cx="3086100" cy="27860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2" name="Text 38"/>
          <p:cNvSpPr/>
          <p:nvPr/>
        </p:nvSpPr>
        <p:spPr>
          <a:xfrm>
            <a:off x="5486400" y="2284214"/>
            <a:ext cx="3086100" cy="27860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Sample Request Body</a:t>
            </a:r>
            <a:endParaRPr lang="en-US" sz="683" dirty="0"/>
          </a:p>
        </p:txBody>
      </p:sp>
      <p:sp>
        <p:nvSpPr>
          <p:cNvPr id="43" name="Shape 39"/>
          <p:cNvSpPr/>
          <p:nvPr/>
        </p:nvSpPr>
        <p:spPr>
          <a:xfrm>
            <a:off x="5486400" y="2562820"/>
            <a:ext cx="3086100" cy="215205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4" name="Text 40"/>
          <p:cNvSpPr/>
          <p:nvPr/>
        </p:nvSpPr>
        <p:spPr>
          <a:xfrm>
            <a:off x="5486400" y="2562820"/>
            <a:ext cx="3086100" cy="215205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{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"name"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"DIST_KAFKA"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"source"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{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"uri"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"trail://source-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host:10101/services/v2/sources?trail=ex"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},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"target"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{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"uri"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"ogg://bigdata-host:10202/services/v2/targets?trail=rt"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} }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43025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Step 6 - Create Kafka Producer Configuration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Define connection properties for the Kafka Cluster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557338"/>
            <a:ext cx="8001000" cy="480417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57338"/>
            <a:ext cx="42863" cy="480417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1664494"/>
            <a:ext cx="532795" cy="266105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1664494"/>
            <a:ext cx="532795" cy="266105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POST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354327" y="1700213"/>
            <a:ext cx="33952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/services/v2/config/files/kafka_producer.properties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56592" y="1719858"/>
            <a:ext cx="16730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Big Data Admin Service (10200)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71500" y="2252067"/>
            <a:ext cx="3914775" cy="1000125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213" y="2323505"/>
            <a:ext cx="1535348" cy="85722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71500" y="3337917"/>
            <a:ext cx="3914775" cy="1059061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Shape 12"/>
          <p:cNvSpPr/>
          <p:nvPr/>
        </p:nvSpPr>
        <p:spPr>
          <a:xfrm>
            <a:off x="571500" y="3337917"/>
            <a:ext cx="3914775" cy="28575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17" name="Text 13"/>
          <p:cNvSpPr/>
          <p:nvPr/>
        </p:nvSpPr>
        <p:spPr>
          <a:xfrm>
            <a:off x="657225" y="3423642"/>
            <a:ext cx="37433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2F5D"/>
                </a:solidFill>
              </a:rPr>
              <a:t>Key Configuration Properties</a:t>
            </a:r>
            <a:endParaRPr lang="en-US" sz="683" dirty="0"/>
          </a:p>
        </p:txBody>
      </p:sp>
      <p:sp>
        <p:nvSpPr>
          <p:cNvPr id="18" name="Text 14"/>
          <p:cNvSpPr/>
          <p:nvPr/>
        </p:nvSpPr>
        <p:spPr>
          <a:xfrm>
            <a:off x="657225" y="3645098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32F2F"/>
                </a:solidFill>
              </a:rPr>
              <a:t>bootstrap.servers</a:t>
            </a:r>
            <a:endParaRPr lang="en-US" sz="784" dirty="0"/>
          </a:p>
        </p:txBody>
      </p:sp>
      <p:sp>
        <p:nvSpPr>
          <p:cNvPr id="19" name="Text 15"/>
          <p:cNvSpPr/>
          <p:nvPr/>
        </p:nvSpPr>
        <p:spPr>
          <a:xfrm>
            <a:off x="1800225" y="3661172"/>
            <a:ext cx="25233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Comma-separated list of Kafka broker host:port pairs.</a:t>
            </a:r>
            <a:endParaRPr lang="en-US" sz="727" dirty="0"/>
          </a:p>
        </p:txBody>
      </p:sp>
      <p:sp>
        <p:nvSpPr>
          <p:cNvPr id="20" name="Text 16"/>
          <p:cNvSpPr/>
          <p:nvPr/>
        </p:nvSpPr>
        <p:spPr>
          <a:xfrm>
            <a:off x="657225" y="3857625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32F2F"/>
                </a:solidFill>
              </a:rPr>
              <a:t>acks</a:t>
            </a:r>
            <a:endParaRPr lang="en-US" sz="784" dirty="0"/>
          </a:p>
        </p:txBody>
      </p:sp>
      <p:sp>
        <p:nvSpPr>
          <p:cNvPr id="21" name="Text 17"/>
          <p:cNvSpPr/>
          <p:nvPr/>
        </p:nvSpPr>
        <p:spPr>
          <a:xfrm>
            <a:off x="1800225" y="3873698"/>
            <a:ext cx="24897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Acknowledgment level (0, 1, or all) for data durability.</a:t>
            </a:r>
            <a:endParaRPr lang="en-US" sz="727" dirty="0"/>
          </a:p>
        </p:txBody>
      </p:sp>
      <p:sp>
        <p:nvSpPr>
          <p:cNvPr id="22" name="Text 18"/>
          <p:cNvSpPr/>
          <p:nvPr/>
        </p:nvSpPr>
        <p:spPr>
          <a:xfrm>
            <a:off x="657225" y="4070152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32F2F"/>
                </a:solidFill>
              </a:rPr>
              <a:t>key.serializer</a:t>
            </a:r>
            <a:endParaRPr lang="en-US" sz="784" dirty="0"/>
          </a:p>
        </p:txBody>
      </p:sp>
      <p:sp>
        <p:nvSpPr>
          <p:cNvPr id="23" name="Text 19"/>
          <p:cNvSpPr/>
          <p:nvPr/>
        </p:nvSpPr>
        <p:spPr>
          <a:xfrm>
            <a:off x="1800225" y="4086225"/>
            <a:ext cx="245251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Serializer class for message keys (usually ByteArray).</a:t>
            </a:r>
            <a:endParaRPr lang="en-US" sz="727" dirty="0"/>
          </a:p>
        </p:txBody>
      </p:sp>
      <p:sp>
        <p:nvSpPr>
          <p:cNvPr id="24" name="Shape 20"/>
          <p:cNvSpPr/>
          <p:nvPr/>
        </p:nvSpPr>
        <p:spPr>
          <a:xfrm>
            <a:off x="4657725" y="2252067"/>
            <a:ext cx="3914775" cy="27860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1"/>
          <p:cNvSpPr/>
          <p:nvPr/>
        </p:nvSpPr>
        <p:spPr>
          <a:xfrm>
            <a:off x="4657725" y="2252067"/>
            <a:ext cx="3914775" cy="27860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Sample Request Payload</a:t>
            </a:r>
            <a:endParaRPr lang="en-US" sz="683" dirty="0"/>
          </a:p>
        </p:txBody>
      </p:sp>
      <p:sp>
        <p:nvSpPr>
          <p:cNvPr id="26" name="Shape 22"/>
          <p:cNvSpPr/>
          <p:nvPr/>
        </p:nvSpPr>
        <p:spPr>
          <a:xfrm>
            <a:off x="4657725" y="2530673"/>
            <a:ext cx="3914775" cy="92154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7" name="Text 23"/>
          <p:cNvSpPr/>
          <p:nvPr/>
        </p:nvSpPr>
        <p:spPr>
          <a:xfrm>
            <a:off x="4657725" y="2530673"/>
            <a:ext cx="3914775" cy="9215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{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CDCFE"/>
                </a:solidFill>
              </a:rPr>
              <a:t>"lines"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[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"bootstrap.servers=kafka-broker1:9092,kafka-broker2:9092"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"acks=1"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"key.serializer=org.apache.kafka.common.serialization.ByteArraySerializer"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"value.serializer=org.apache.kafka.common.serialization.ByteArraySerializer"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"batch.size=102400"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] }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257300"/>
            <a:ext cx="828675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Step 7 - Configure Kafka Handler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966192"/>
            <a:ext cx="8286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Define Custom JSON Format and Topic Mapping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328738"/>
            <a:ext cx="8286750" cy="326827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328738"/>
            <a:ext cx="42863" cy="326827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9" name="Shape 6"/>
          <p:cNvSpPr/>
          <p:nvPr/>
        </p:nvSpPr>
        <p:spPr>
          <a:xfrm>
            <a:off x="514350" y="1385888"/>
            <a:ext cx="431946" cy="212527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10" name="Text 7"/>
          <p:cNvSpPr/>
          <p:nvPr/>
        </p:nvSpPr>
        <p:spPr>
          <a:xfrm>
            <a:off x="514350" y="1385888"/>
            <a:ext cx="431946" cy="212527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POST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1032021" y="1394817"/>
            <a:ext cx="59076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/services/v2/config/files/{filename}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707" y="1435001"/>
            <a:ext cx="114300" cy="114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11157" y="1414463"/>
            <a:ext cx="15184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Big Data Admin (Port 10200)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428625" y="1798439"/>
            <a:ext cx="2690822" cy="244673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2F5D"/>
                </a:solidFill>
              </a:rPr>
              <a:t>Request Parameters</a:t>
            </a:r>
            <a:endParaRPr lang="en-US" sz="987" dirty="0"/>
          </a:p>
        </p:txBody>
      </p:sp>
      <p:sp>
        <p:nvSpPr>
          <p:cNvPr id="15" name="Shape 11"/>
          <p:cNvSpPr/>
          <p:nvPr/>
        </p:nvSpPr>
        <p:spPr>
          <a:xfrm>
            <a:off x="428625" y="2114550"/>
            <a:ext cx="620976" cy="221456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6" name="Text 12"/>
          <p:cNvSpPr/>
          <p:nvPr/>
        </p:nvSpPr>
        <p:spPr>
          <a:xfrm>
            <a:off x="428625" y="2114550"/>
            <a:ext cx="620976" cy="22145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Parameter</a:t>
            </a:r>
            <a:endParaRPr lang="en-US" sz="683" dirty="0"/>
          </a:p>
        </p:txBody>
      </p:sp>
      <p:sp>
        <p:nvSpPr>
          <p:cNvPr id="17" name="Shape 13"/>
          <p:cNvSpPr/>
          <p:nvPr/>
        </p:nvSpPr>
        <p:spPr>
          <a:xfrm>
            <a:off x="1049601" y="2114550"/>
            <a:ext cx="2069846" cy="221456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8" name="Text 14"/>
          <p:cNvSpPr/>
          <p:nvPr/>
        </p:nvSpPr>
        <p:spPr>
          <a:xfrm>
            <a:off x="1049601" y="2114550"/>
            <a:ext cx="2069846" cy="22145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Description</a:t>
            </a:r>
            <a:endParaRPr lang="en-US" sz="683" dirty="0"/>
          </a:p>
        </p:txBody>
      </p:sp>
      <p:sp>
        <p:nvSpPr>
          <p:cNvPr id="19" name="Text 15"/>
          <p:cNvSpPr/>
          <p:nvPr/>
        </p:nvSpPr>
        <p:spPr>
          <a:xfrm>
            <a:off x="428625" y="2336006"/>
            <a:ext cx="620976" cy="360759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filename</a:t>
            </a:r>
            <a:endParaRPr lang="en-US" sz="683" dirty="0"/>
          </a:p>
        </p:txBody>
      </p:sp>
      <p:sp>
        <p:nvSpPr>
          <p:cNvPr id="20" name="Text 16"/>
          <p:cNvSpPr/>
          <p:nvPr/>
        </p:nvSpPr>
        <p:spPr>
          <a:xfrm>
            <a:off x="1049601" y="2336006"/>
            <a:ext cx="2069846" cy="360759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Config file name (e.g., REP_KAFKA.properties)</a:t>
            </a:r>
            <a:endParaRPr lang="en-US" sz="727" dirty="0"/>
          </a:p>
        </p:txBody>
      </p:sp>
      <p:sp>
        <p:nvSpPr>
          <p:cNvPr id="21" name="Shape 17"/>
          <p:cNvSpPr/>
          <p:nvPr/>
        </p:nvSpPr>
        <p:spPr>
          <a:xfrm>
            <a:off x="428625" y="2696766"/>
            <a:ext cx="2690822" cy="22860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2" name="Text 18"/>
          <p:cNvSpPr/>
          <p:nvPr/>
        </p:nvSpPr>
        <p:spPr>
          <a:xfrm>
            <a:off x="428625" y="2696766"/>
            <a:ext cx="620976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lines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1049601" y="2696766"/>
            <a:ext cx="2069846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Array of configuration property strings</a:t>
            </a:r>
            <a:endParaRPr lang="en-US" sz="727" dirty="0"/>
          </a:p>
        </p:txBody>
      </p:sp>
      <p:sp>
        <p:nvSpPr>
          <p:cNvPr id="24" name="Text 20"/>
          <p:cNvSpPr/>
          <p:nvPr/>
        </p:nvSpPr>
        <p:spPr>
          <a:xfrm>
            <a:off x="3333759" y="1798439"/>
            <a:ext cx="5381616" cy="244673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2F5D"/>
                </a:solidFill>
              </a:rPr>
              <a:t>Key Handler Properties (in 'lines' array)</a:t>
            </a:r>
            <a:endParaRPr lang="en-US" sz="987" dirty="0"/>
          </a:p>
        </p:txBody>
      </p:sp>
      <p:sp>
        <p:nvSpPr>
          <p:cNvPr id="25" name="Shape 21"/>
          <p:cNvSpPr/>
          <p:nvPr/>
        </p:nvSpPr>
        <p:spPr>
          <a:xfrm>
            <a:off x="3333759" y="2114550"/>
            <a:ext cx="2882503" cy="221456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6" name="Text 22"/>
          <p:cNvSpPr/>
          <p:nvPr/>
        </p:nvSpPr>
        <p:spPr>
          <a:xfrm>
            <a:off x="3333759" y="2114550"/>
            <a:ext cx="2882503" cy="22145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Property</a:t>
            </a:r>
            <a:endParaRPr lang="en-US" sz="683" dirty="0"/>
          </a:p>
        </p:txBody>
      </p:sp>
      <p:sp>
        <p:nvSpPr>
          <p:cNvPr id="27" name="Shape 23"/>
          <p:cNvSpPr/>
          <p:nvPr/>
        </p:nvSpPr>
        <p:spPr>
          <a:xfrm>
            <a:off x="6216262" y="2114550"/>
            <a:ext cx="828452" cy="221456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8" name="Text 24"/>
          <p:cNvSpPr/>
          <p:nvPr/>
        </p:nvSpPr>
        <p:spPr>
          <a:xfrm>
            <a:off x="6216262" y="2114550"/>
            <a:ext cx="828452" cy="22145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Purpose</a:t>
            </a:r>
            <a:endParaRPr lang="en-US" sz="683" dirty="0"/>
          </a:p>
        </p:txBody>
      </p:sp>
      <p:sp>
        <p:nvSpPr>
          <p:cNvPr id="29" name="Shape 25"/>
          <p:cNvSpPr/>
          <p:nvPr/>
        </p:nvSpPr>
        <p:spPr>
          <a:xfrm>
            <a:off x="7044714" y="2114550"/>
            <a:ext cx="1670661" cy="221456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30" name="Text 26"/>
          <p:cNvSpPr/>
          <p:nvPr/>
        </p:nvSpPr>
        <p:spPr>
          <a:xfrm>
            <a:off x="7044714" y="2114550"/>
            <a:ext cx="1670661" cy="221456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Example Value</a:t>
            </a:r>
            <a:endParaRPr lang="en-US" sz="683" dirty="0"/>
          </a:p>
        </p:txBody>
      </p:sp>
      <p:sp>
        <p:nvSpPr>
          <p:cNvPr id="31" name="Text 27"/>
          <p:cNvSpPr/>
          <p:nvPr/>
        </p:nvSpPr>
        <p:spPr>
          <a:xfrm>
            <a:off x="3333759" y="2336006"/>
            <a:ext cx="2882503" cy="22502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72C6"/>
                </a:solidFill>
              </a:rPr>
              <a:t>gg.handlerlist</a:t>
            </a:r>
            <a:endParaRPr lang="en-US" sz="634" dirty="0"/>
          </a:p>
        </p:txBody>
      </p:sp>
      <p:sp>
        <p:nvSpPr>
          <p:cNvPr id="32" name="Text 28"/>
          <p:cNvSpPr/>
          <p:nvPr/>
        </p:nvSpPr>
        <p:spPr>
          <a:xfrm>
            <a:off x="6216262" y="2336006"/>
            <a:ext cx="828452" cy="22502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Handler Name</a:t>
            </a:r>
            <a:endParaRPr lang="en-US" sz="727" dirty="0"/>
          </a:p>
        </p:txBody>
      </p:sp>
      <p:sp>
        <p:nvSpPr>
          <p:cNvPr id="33" name="Text 29"/>
          <p:cNvSpPr/>
          <p:nvPr/>
        </p:nvSpPr>
        <p:spPr>
          <a:xfrm>
            <a:off x="7044714" y="2336006"/>
            <a:ext cx="1670661" cy="225028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kafkahandler</a:t>
            </a:r>
            <a:endParaRPr lang="en-US" sz="674" dirty="0"/>
          </a:p>
        </p:txBody>
      </p:sp>
      <p:sp>
        <p:nvSpPr>
          <p:cNvPr id="34" name="Shape 30"/>
          <p:cNvSpPr/>
          <p:nvPr/>
        </p:nvSpPr>
        <p:spPr>
          <a:xfrm>
            <a:off x="3333759" y="2561034"/>
            <a:ext cx="5381616" cy="22860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5" name="Text 31"/>
          <p:cNvSpPr/>
          <p:nvPr/>
        </p:nvSpPr>
        <p:spPr>
          <a:xfrm>
            <a:off x="3333759" y="2561034"/>
            <a:ext cx="2882503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72C6"/>
                </a:solidFill>
              </a:rPr>
              <a:t>gg.handler.kafkahandler.type</a:t>
            </a:r>
            <a:endParaRPr lang="en-US" sz="634" dirty="0"/>
          </a:p>
        </p:txBody>
      </p:sp>
      <p:sp>
        <p:nvSpPr>
          <p:cNvPr id="36" name="Text 32"/>
          <p:cNvSpPr/>
          <p:nvPr/>
        </p:nvSpPr>
        <p:spPr>
          <a:xfrm>
            <a:off x="6216262" y="2561034"/>
            <a:ext cx="828452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Handler Type</a:t>
            </a:r>
            <a:endParaRPr lang="en-US" sz="727" dirty="0"/>
          </a:p>
        </p:txBody>
      </p:sp>
      <p:sp>
        <p:nvSpPr>
          <p:cNvPr id="37" name="Text 33"/>
          <p:cNvSpPr/>
          <p:nvPr/>
        </p:nvSpPr>
        <p:spPr>
          <a:xfrm>
            <a:off x="7044714" y="2561034"/>
            <a:ext cx="1670661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kafka</a:t>
            </a:r>
            <a:endParaRPr lang="en-US" sz="674" dirty="0"/>
          </a:p>
        </p:txBody>
      </p:sp>
      <p:sp>
        <p:nvSpPr>
          <p:cNvPr id="38" name="Text 34"/>
          <p:cNvSpPr/>
          <p:nvPr/>
        </p:nvSpPr>
        <p:spPr>
          <a:xfrm>
            <a:off x="3333759" y="2789634"/>
            <a:ext cx="2882503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72C6"/>
                </a:solidFill>
              </a:rPr>
              <a:t>gg.handler.kafkahandler.topicMappingTemplate</a:t>
            </a:r>
            <a:endParaRPr lang="en-US" sz="634" dirty="0"/>
          </a:p>
        </p:txBody>
      </p:sp>
      <p:sp>
        <p:nvSpPr>
          <p:cNvPr id="39" name="Text 35"/>
          <p:cNvSpPr/>
          <p:nvPr/>
        </p:nvSpPr>
        <p:spPr>
          <a:xfrm>
            <a:off x="6216262" y="2789634"/>
            <a:ext cx="828452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Topic Naming</a:t>
            </a:r>
            <a:endParaRPr lang="en-US" sz="727" dirty="0"/>
          </a:p>
        </p:txBody>
      </p:sp>
      <p:sp>
        <p:nvSpPr>
          <p:cNvPr id="40" name="Text 36"/>
          <p:cNvSpPr/>
          <p:nvPr/>
        </p:nvSpPr>
        <p:spPr>
          <a:xfrm>
            <a:off x="7044714" y="2789634"/>
            <a:ext cx="1670661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${tableName}</a:t>
            </a:r>
            <a:endParaRPr lang="en-US" sz="674" dirty="0"/>
          </a:p>
        </p:txBody>
      </p:sp>
      <p:sp>
        <p:nvSpPr>
          <p:cNvPr id="41" name="Shape 37"/>
          <p:cNvSpPr/>
          <p:nvPr/>
        </p:nvSpPr>
        <p:spPr>
          <a:xfrm>
            <a:off x="3333759" y="3018234"/>
            <a:ext cx="5381616" cy="22860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42" name="Text 38"/>
          <p:cNvSpPr/>
          <p:nvPr/>
        </p:nvSpPr>
        <p:spPr>
          <a:xfrm>
            <a:off x="3333759" y="3018234"/>
            <a:ext cx="2882503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72C6"/>
                </a:solidFill>
              </a:rPr>
              <a:t>gg.handler.kafkahandler.keyMappingTemplate</a:t>
            </a:r>
            <a:endParaRPr lang="en-US" sz="634" dirty="0"/>
          </a:p>
        </p:txBody>
      </p:sp>
      <p:sp>
        <p:nvSpPr>
          <p:cNvPr id="43" name="Text 39"/>
          <p:cNvSpPr/>
          <p:nvPr/>
        </p:nvSpPr>
        <p:spPr>
          <a:xfrm>
            <a:off x="6216262" y="3018234"/>
            <a:ext cx="828452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Message Key</a:t>
            </a:r>
            <a:endParaRPr lang="en-US" sz="727" dirty="0"/>
          </a:p>
        </p:txBody>
      </p:sp>
      <p:sp>
        <p:nvSpPr>
          <p:cNvPr id="44" name="Text 40"/>
          <p:cNvSpPr/>
          <p:nvPr/>
        </p:nvSpPr>
        <p:spPr>
          <a:xfrm>
            <a:off x="7044714" y="3018234"/>
            <a:ext cx="1670661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${primaryKeys}</a:t>
            </a:r>
            <a:endParaRPr lang="en-US" sz="674" dirty="0"/>
          </a:p>
        </p:txBody>
      </p:sp>
      <p:sp>
        <p:nvSpPr>
          <p:cNvPr id="45" name="Text 41"/>
          <p:cNvSpPr/>
          <p:nvPr/>
        </p:nvSpPr>
        <p:spPr>
          <a:xfrm>
            <a:off x="3333759" y="3246834"/>
            <a:ext cx="2882503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72C6"/>
                </a:solidFill>
              </a:rPr>
              <a:t>gg.handler.kafkahandler.mode</a:t>
            </a:r>
            <a:endParaRPr lang="en-US" sz="634" dirty="0"/>
          </a:p>
        </p:txBody>
      </p:sp>
      <p:sp>
        <p:nvSpPr>
          <p:cNvPr id="46" name="Text 42"/>
          <p:cNvSpPr/>
          <p:nvPr/>
        </p:nvSpPr>
        <p:spPr>
          <a:xfrm>
            <a:off x="6216262" y="3246834"/>
            <a:ext cx="828452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Op Mode</a:t>
            </a:r>
            <a:endParaRPr lang="en-US" sz="727" dirty="0"/>
          </a:p>
        </p:txBody>
      </p:sp>
      <p:sp>
        <p:nvSpPr>
          <p:cNvPr id="47" name="Text 43"/>
          <p:cNvSpPr/>
          <p:nvPr/>
        </p:nvSpPr>
        <p:spPr>
          <a:xfrm>
            <a:off x="7044714" y="3246834"/>
            <a:ext cx="1670661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op</a:t>
            </a:r>
            <a:endParaRPr lang="en-US" sz="674" dirty="0"/>
          </a:p>
        </p:txBody>
      </p:sp>
      <p:sp>
        <p:nvSpPr>
          <p:cNvPr id="48" name="Shape 44"/>
          <p:cNvSpPr/>
          <p:nvPr/>
        </p:nvSpPr>
        <p:spPr>
          <a:xfrm>
            <a:off x="3333759" y="3475434"/>
            <a:ext cx="5381616" cy="22860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49" name="Text 45"/>
          <p:cNvSpPr/>
          <p:nvPr/>
        </p:nvSpPr>
        <p:spPr>
          <a:xfrm>
            <a:off x="3333759" y="3475434"/>
            <a:ext cx="2882503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72C6"/>
                </a:solidFill>
              </a:rPr>
              <a:t>gg.handler.kafkahandler.format</a:t>
            </a:r>
            <a:endParaRPr lang="en-US" sz="634" dirty="0"/>
          </a:p>
        </p:txBody>
      </p:sp>
      <p:sp>
        <p:nvSpPr>
          <p:cNvPr id="50" name="Text 46"/>
          <p:cNvSpPr/>
          <p:nvPr/>
        </p:nvSpPr>
        <p:spPr>
          <a:xfrm>
            <a:off x="6216262" y="3475434"/>
            <a:ext cx="828452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Output Format</a:t>
            </a:r>
            <a:endParaRPr lang="en-US" sz="727" dirty="0"/>
          </a:p>
        </p:txBody>
      </p:sp>
      <p:sp>
        <p:nvSpPr>
          <p:cNvPr id="51" name="Text 47"/>
          <p:cNvSpPr/>
          <p:nvPr/>
        </p:nvSpPr>
        <p:spPr>
          <a:xfrm>
            <a:off x="7044714" y="3475434"/>
            <a:ext cx="1670661" cy="22860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json</a:t>
            </a:r>
            <a:endParaRPr lang="en-US" sz="674" dirty="0"/>
          </a:p>
        </p:txBody>
      </p:sp>
      <p:sp>
        <p:nvSpPr>
          <p:cNvPr id="52" name="Text 48"/>
          <p:cNvSpPr/>
          <p:nvPr/>
        </p:nvSpPr>
        <p:spPr>
          <a:xfrm>
            <a:off x="3333759" y="3704034"/>
            <a:ext cx="2882503" cy="36433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72C6"/>
                </a:solidFill>
              </a:rPr>
              <a:t>gg.handler.kafkahandler.format.metaColumnsTemplate</a:t>
            </a:r>
            <a:endParaRPr lang="en-US" sz="634" dirty="0"/>
          </a:p>
        </p:txBody>
      </p:sp>
      <p:sp>
        <p:nvSpPr>
          <p:cNvPr id="53" name="Text 49"/>
          <p:cNvSpPr/>
          <p:nvPr/>
        </p:nvSpPr>
        <p:spPr>
          <a:xfrm>
            <a:off x="6216262" y="3704034"/>
            <a:ext cx="828452" cy="36433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Custom Metadata</a:t>
            </a:r>
            <a:endParaRPr lang="en-US" sz="727" dirty="0"/>
          </a:p>
        </p:txBody>
      </p:sp>
      <p:sp>
        <p:nvSpPr>
          <p:cNvPr id="54" name="Text 50"/>
          <p:cNvSpPr/>
          <p:nvPr/>
        </p:nvSpPr>
        <p:spPr>
          <a:xfrm>
            <a:off x="7044714" y="3704034"/>
            <a:ext cx="1670661" cy="36433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${objectname[table]},...</a:t>
            </a:r>
            <a:endParaRPr lang="en-US" sz="67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43025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Customizing JSON Output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Using the metaColumnsTemplate Property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557338"/>
            <a:ext cx="8001000" cy="605433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57338"/>
            <a:ext cx="42863" cy="605433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1792188"/>
            <a:ext cx="9149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</a:rPr>
              <a:t>Template Syntax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1772180" y="1700213"/>
            <a:ext cx="1616329" cy="319683"/>
          </a:xfrm>
          <a:prstGeom prst="rect">
            <a:avLst/>
          </a:prstGeom>
          <a:solidFill>
            <a:srgbClr val="FFFFFF"/>
          </a:solidFill>
          <a:ln w="9144">
            <a:solidFill>
              <a:srgbClr val="BBDE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72180" y="1700213"/>
            <a:ext cx="1616329" cy="319683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${keyword[alias]}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3517097" y="1775222"/>
            <a:ext cx="29320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Defines metadata fields to inject into the JSON payload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71500" y="2362795"/>
            <a:ext cx="1770478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362795"/>
            <a:ext cx="1770478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Keyword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2341978" y="2362795"/>
            <a:ext cx="1321119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6" name="Text 13"/>
          <p:cNvSpPr/>
          <p:nvPr/>
        </p:nvSpPr>
        <p:spPr>
          <a:xfrm>
            <a:off x="2341978" y="2362795"/>
            <a:ext cx="1321119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Description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3663097" y="2362795"/>
            <a:ext cx="1537553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8" name="Text 15"/>
          <p:cNvSpPr/>
          <p:nvPr/>
        </p:nvSpPr>
        <p:spPr>
          <a:xfrm>
            <a:off x="3663097" y="2362795"/>
            <a:ext cx="1537553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Example Output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571500" y="2669977"/>
            <a:ext cx="1770478" cy="28217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${objectname[table]}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2341978" y="2669977"/>
            <a:ext cx="1321119" cy="28217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Source table name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3663097" y="2669977"/>
            <a:ext cx="1537553" cy="28217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2" name="Shape 19"/>
          <p:cNvSpPr/>
          <p:nvPr/>
        </p:nvSpPr>
        <p:spPr>
          <a:xfrm>
            <a:off x="3663097" y="2945011"/>
            <a:ext cx="153755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0"/>
          <p:cNvSpPr/>
          <p:nvPr/>
        </p:nvSpPr>
        <p:spPr>
          <a:xfrm>
            <a:off x="3663097" y="2669977"/>
            <a:ext cx="1537553" cy="282178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"table": "EMPLOYEES"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571500" y="2952155"/>
            <a:ext cx="4629150" cy="28575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5" name="Text 22"/>
          <p:cNvSpPr/>
          <p:nvPr/>
        </p:nvSpPr>
        <p:spPr>
          <a:xfrm>
            <a:off x="571500" y="2952155"/>
            <a:ext cx="1770478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${optype[op_type]}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2341978" y="2952155"/>
            <a:ext cx="1321119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Operation (I/U/D/T)</a:t>
            </a:r>
            <a:endParaRPr lang="en-US" sz="727" dirty="0"/>
          </a:p>
        </p:txBody>
      </p:sp>
      <p:sp>
        <p:nvSpPr>
          <p:cNvPr id="27" name="Shape 24"/>
          <p:cNvSpPr/>
          <p:nvPr/>
        </p:nvSpPr>
        <p:spPr>
          <a:xfrm>
            <a:off x="3663097" y="2952155"/>
            <a:ext cx="1537553" cy="28575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8" name="Shape 25"/>
          <p:cNvSpPr/>
          <p:nvPr/>
        </p:nvSpPr>
        <p:spPr>
          <a:xfrm>
            <a:off x="3663097" y="3230761"/>
            <a:ext cx="153755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Text 26"/>
          <p:cNvSpPr/>
          <p:nvPr/>
        </p:nvSpPr>
        <p:spPr>
          <a:xfrm>
            <a:off x="3663097" y="2952155"/>
            <a:ext cx="1537553" cy="285750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"op_type": "I"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571500" y="3237905"/>
            <a:ext cx="1770478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${timestamp[op_ts]}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2341978" y="3237905"/>
            <a:ext cx="1321119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Commit timestamp</a:t>
            </a:r>
            <a:endParaRPr lang="en-US" sz="727" dirty="0"/>
          </a:p>
        </p:txBody>
      </p:sp>
      <p:sp>
        <p:nvSpPr>
          <p:cNvPr id="32" name="Shape 29"/>
          <p:cNvSpPr/>
          <p:nvPr/>
        </p:nvSpPr>
        <p:spPr>
          <a:xfrm>
            <a:off x="3663097" y="3237905"/>
            <a:ext cx="1537553" cy="28575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33" name="Shape 30"/>
          <p:cNvSpPr/>
          <p:nvPr/>
        </p:nvSpPr>
        <p:spPr>
          <a:xfrm>
            <a:off x="3663097" y="3516511"/>
            <a:ext cx="153755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1"/>
          <p:cNvSpPr/>
          <p:nvPr/>
        </p:nvSpPr>
        <p:spPr>
          <a:xfrm>
            <a:off x="3663097" y="3237905"/>
            <a:ext cx="1537553" cy="285750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"op_ts": "2026-02-04..."</a:t>
            </a:r>
            <a:endParaRPr lang="en-US" sz="674" dirty="0"/>
          </a:p>
        </p:txBody>
      </p:sp>
      <p:sp>
        <p:nvSpPr>
          <p:cNvPr id="35" name="Shape 32"/>
          <p:cNvSpPr/>
          <p:nvPr/>
        </p:nvSpPr>
        <p:spPr>
          <a:xfrm>
            <a:off x="571500" y="3523655"/>
            <a:ext cx="4629150" cy="28575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6" name="Text 33"/>
          <p:cNvSpPr/>
          <p:nvPr/>
        </p:nvSpPr>
        <p:spPr>
          <a:xfrm>
            <a:off x="571500" y="3523655"/>
            <a:ext cx="1770478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${position[pos]}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2341978" y="3523655"/>
            <a:ext cx="1321119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Trail file position</a:t>
            </a:r>
            <a:endParaRPr lang="en-US" sz="727" dirty="0"/>
          </a:p>
        </p:txBody>
      </p:sp>
      <p:sp>
        <p:nvSpPr>
          <p:cNvPr id="38" name="Shape 35"/>
          <p:cNvSpPr/>
          <p:nvPr/>
        </p:nvSpPr>
        <p:spPr>
          <a:xfrm>
            <a:off x="3663097" y="3523655"/>
            <a:ext cx="1537553" cy="28575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39" name="Shape 36"/>
          <p:cNvSpPr/>
          <p:nvPr/>
        </p:nvSpPr>
        <p:spPr>
          <a:xfrm>
            <a:off x="3663097" y="3802261"/>
            <a:ext cx="153755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7"/>
          <p:cNvSpPr/>
          <p:nvPr/>
        </p:nvSpPr>
        <p:spPr>
          <a:xfrm>
            <a:off x="3663097" y="3523655"/>
            <a:ext cx="1537553" cy="285750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"pos": "0000001234"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571500" y="3809405"/>
            <a:ext cx="1770478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${primarykeycolumns[pk]}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2341978" y="3809405"/>
            <a:ext cx="1321119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Primary Key columns</a:t>
            </a:r>
            <a:endParaRPr lang="en-US" sz="727" dirty="0"/>
          </a:p>
        </p:txBody>
      </p:sp>
      <p:sp>
        <p:nvSpPr>
          <p:cNvPr id="43" name="Shape 40"/>
          <p:cNvSpPr/>
          <p:nvPr/>
        </p:nvSpPr>
        <p:spPr>
          <a:xfrm>
            <a:off x="3663097" y="3809405"/>
            <a:ext cx="1537553" cy="28575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4" name="Shape 41"/>
          <p:cNvSpPr/>
          <p:nvPr/>
        </p:nvSpPr>
        <p:spPr>
          <a:xfrm>
            <a:off x="3663097" y="4088011"/>
            <a:ext cx="153755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Text 42"/>
          <p:cNvSpPr/>
          <p:nvPr/>
        </p:nvSpPr>
        <p:spPr>
          <a:xfrm>
            <a:off x="3663097" y="3809405"/>
            <a:ext cx="1537553" cy="285750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"pk": ["ID"]</a:t>
            </a:r>
            <a:endParaRPr lang="en-US" sz="674" dirty="0"/>
          </a:p>
        </p:txBody>
      </p:sp>
      <p:sp>
        <p:nvSpPr>
          <p:cNvPr id="46" name="Shape 43"/>
          <p:cNvSpPr/>
          <p:nvPr/>
        </p:nvSpPr>
        <p:spPr>
          <a:xfrm>
            <a:off x="571500" y="4095155"/>
            <a:ext cx="4629150" cy="28575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47" name="Text 44"/>
          <p:cNvSpPr/>
          <p:nvPr/>
        </p:nvSpPr>
        <p:spPr>
          <a:xfrm>
            <a:off x="571500" y="4095155"/>
            <a:ext cx="1770478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${alltokens[tokens]}</a:t>
            </a:r>
            <a:endParaRPr lang="en-US" sz="683" dirty="0"/>
          </a:p>
        </p:txBody>
      </p:sp>
      <p:sp>
        <p:nvSpPr>
          <p:cNvPr id="48" name="Text 45"/>
          <p:cNvSpPr/>
          <p:nvPr/>
        </p:nvSpPr>
        <p:spPr>
          <a:xfrm>
            <a:off x="2341978" y="4095155"/>
            <a:ext cx="1321119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All GoldenGate tokens</a:t>
            </a:r>
            <a:endParaRPr lang="en-US" sz="727" dirty="0"/>
          </a:p>
        </p:txBody>
      </p:sp>
      <p:sp>
        <p:nvSpPr>
          <p:cNvPr id="49" name="Shape 46"/>
          <p:cNvSpPr/>
          <p:nvPr/>
        </p:nvSpPr>
        <p:spPr>
          <a:xfrm>
            <a:off x="3663097" y="4095155"/>
            <a:ext cx="1537553" cy="28575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50" name="Shape 47"/>
          <p:cNvSpPr/>
          <p:nvPr/>
        </p:nvSpPr>
        <p:spPr>
          <a:xfrm>
            <a:off x="3663097" y="4373761"/>
            <a:ext cx="153755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1" name="Text 48"/>
          <p:cNvSpPr/>
          <p:nvPr/>
        </p:nvSpPr>
        <p:spPr>
          <a:xfrm>
            <a:off x="3663097" y="4095155"/>
            <a:ext cx="1537553" cy="285750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E7D32"/>
                </a:solidFill>
              </a:rPr>
              <a:t>"tokens": {...}</a:t>
            </a:r>
            <a:endParaRPr lang="en-US" sz="674" dirty="0"/>
          </a:p>
        </p:txBody>
      </p:sp>
      <p:sp>
        <p:nvSpPr>
          <p:cNvPr id="52" name="Text 49"/>
          <p:cNvSpPr/>
          <p:nvPr/>
        </p:nvSpPr>
        <p:spPr>
          <a:xfrm>
            <a:off x="5486400" y="2362795"/>
            <a:ext cx="3086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2F5D"/>
                </a:solidFill>
              </a:rPr>
              <a:t>Example Configuration</a:t>
            </a:r>
            <a:endParaRPr lang="en-US" sz="784" dirty="0"/>
          </a:p>
        </p:txBody>
      </p:sp>
      <p:sp>
        <p:nvSpPr>
          <p:cNvPr id="53" name="Shape 50"/>
          <p:cNvSpPr/>
          <p:nvPr/>
        </p:nvSpPr>
        <p:spPr>
          <a:xfrm>
            <a:off x="5486400" y="2589609"/>
            <a:ext cx="3086100" cy="149661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4" name="Shape 51"/>
          <p:cNvSpPr/>
          <p:nvPr/>
        </p:nvSpPr>
        <p:spPr>
          <a:xfrm>
            <a:off x="5486400" y="2589609"/>
            <a:ext cx="28575" cy="1496616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55" name="Text 52"/>
          <p:cNvSpPr/>
          <p:nvPr/>
        </p:nvSpPr>
        <p:spPr>
          <a:xfrm>
            <a:off x="5486400" y="2589609"/>
            <a:ext cx="3086100" cy="149661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# In Kafka Handler Properties File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gg.handler.kafkahandler.format.metaColumnsTemplate=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${objectname[table]}, ${optype[op_type]},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${timestamp[op_ts]}, ${currenttimestamp[current_ts]},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${position[pos]}, ${primarykeycolumns[pk_cols]}</a:t>
            </a:r>
            <a:endParaRPr lang="en-US" sz="727" dirty="0"/>
          </a:p>
        </p:txBody>
      </p:sp>
      <p:sp>
        <p:nvSpPr>
          <p:cNvPr id="56" name="Shape 53"/>
          <p:cNvSpPr/>
          <p:nvPr/>
        </p:nvSpPr>
        <p:spPr>
          <a:xfrm>
            <a:off x="5486400" y="4229100"/>
            <a:ext cx="3086100" cy="485775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7" name="Shape 54"/>
          <p:cNvSpPr/>
          <p:nvPr/>
        </p:nvSpPr>
        <p:spPr>
          <a:xfrm>
            <a:off x="5486400" y="4229100"/>
            <a:ext cx="28575" cy="485775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58" name="Text 55"/>
          <p:cNvSpPr/>
          <p:nvPr/>
        </p:nvSpPr>
        <p:spPr>
          <a:xfrm>
            <a:off x="5486400" y="4229100"/>
            <a:ext cx="3086100" cy="4857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5100"/>
                </a:solidFill>
              </a:rPr>
              <a:t>Note: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65100"/>
                </a:solidFill>
              </a:rPr>
              <a:t> The alias inside the brackets [] becomes the key name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65100"/>
                </a:solidFill>
              </a:rPr>
              <a:t>in your final JSON output.</a:t>
            </a:r>
            <a:endParaRPr lang="en-US" sz="68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43025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Step 8 - Create Replicat Process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Configure Data Delivery to Kafka Topic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557338"/>
            <a:ext cx="8001000" cy="441127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57338"/>
            <a:ext cx="42863" cy="441127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1664494"/>
            <a:ext cx="460521" cy="226814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1664494"/>
            <a:ext cx="460521" cy="226814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POST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1282052" y="1680567"/>
            <a:ext cx="54433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/services/v2/replicats/{replicat}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394" y="1720751"/>
            <a:ext cx="114300" cy="114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11132" y="1700213"/>
            <a:ext cx="15184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Big Data Admin (Port 10200)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571500" y="2212777"/>
            <a:ext cx="46291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22" b="1" dirty="0">
                <a:solidFill>
                  <a:srgbClr val="333333"/>
                </a:solidFill>
              </a:rPr>
              <a:t>Request Parameters</a:t>
            </a:r>
            <a:endParaRPr lang="en-US" sz="922" dirty="0"/>
          </a:p>
        </p:txBody>
      </p:sp>
      <p:sp>
        <p:nvSpPr>
          <p:cNvPr id="15" name="Shape 11"/>
          <p:cNvSpPr/>
          <p:nvPr/>
        </p:nvSpPr>
        <p:spPr>
          <a:xfrm>
            <a:off x="571500" y="2466380"/>
            <a:ext cx="1047062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6" name="Text 12"/>
          <p:cNvSpPr/>
          <p:nvPr/>
        </p:nvSpPr>
        <p:spPr>
          <a:xfrm>
            <a:off x="571500" y="2466380"/>
            <a:ext cx="1047062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Parameter</a:t>
            </a:r>
            <a:endParaRPr lang="en-US" sz="683" dirty="0"/>
          </a:p>
        </p:txBody>
      </p:sp>
      <p:sp>
        <p:nvSpPr>
          <p:cNvPr id="17" name="Shape 13"/>
          <p:cNvSpPr/>
          <p:nvPr/>
        </p:nvSpPr>
        <p:spPr>
          <a:xfrm>
            <a:off x="1618562" y="2466380"/>
            <a:ext cx="702515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8" name="Text 14"/>
          <p:cNvSpPr/>
          <p:nvPr/>
        </p:nvSpPr>
        <p:spPr>
          <a:xfrm>
            <a:off x="1618562" y="2466380"/>
            <a:ext cx="702515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Required</a:t>
            </a:r>
            <a:endParaRPr lang="en-US" sz="683" dirty="0"/>
          </a:p>
        </p:txBody>
      </p:sp>
      <p:sp>
        <p:nvSpPr>
          <p:cNvPr id="19" name="Shape 15"/>
          <p:cNvSpPr/>
          <p:nvPr/>
        </p:nvSpPr>
        <p:spPr>
          <a:xfrm>
            <a:off x="2321077" y="2466380"/>
            <a:ext cx="1424760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0" name="Text 16"/>
          <p:cNvSpPr/>
          <p:nvPr/>
        </p:nvSpPr>
        <p:spPr>
          <a:xfrm>
            <a:off x="2321077" y="2466380"/>
            <a:ext cx="1424760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Description</a:t>
            </a:r>
            <a:endParaRPr lang="en-US" sz="683" dirty="0"/>
          </a:p>
        </p:txBody>
      </p:sp>
      <p:sp>
        <p:nvSpPr>
          <p:cNvPr id="21" name="Shape 17"/>
          <p:cNvSpPr/>
          <p:nvPr/>
        </p:nvSpPr>
        <p:spPr>
          <a:xfrm>
            <a:off x="3745836" y="2466380"/>
            <a:ext cx="1454814" cy="30718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2" name="Text 18"/>
          <p:cNvSpPr/>
          <p:nvPr/>
        </p:nvSpPr>
        <p:spPr>
          <a:xfrm>
            <a:off x="3745836" y="2466380"/>
            <a:ext cx="1454814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Example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571500" y="2773561"/>
            <a:ext cx="1047062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replicat</a:t>
            </a:r>
            <a:endParaRPr lang="en-US" sz="683" dirty="0"/>
          </a:p>
        </p:txBody>
      </p:sp>
      <p:sp>
        <p:nvSpPr>
          <p:cNvPr id="24" name="Text 20"/>
          <p:cNvSpPr/>
          <p:nvPr/>
        </p:nvSpPr>
        <p:spPr>
          <a:xfrm>
            <a:off x="1618562" y="2773561"/>
            <a:ext cx="702515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Yes (URL)</a:t>
            </a:r>
            <a:endParaRPr lang="en-US" sz="727" dirty="0"/>
          </a:p>
        </p:txBody>
      </p:sp>
      <p:sp>
        <p:nvSpPr>
          <p:cNvPr id="25" name="Text 21"/>
          <p:cNvSpPr/>
          <p:nvPr/>
        </p:nvSpPr>
        <p:spPr>
          <a:xfrm>
            <a:off x="2321077" y="2773561"/>
            <a:ext cx="1424760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Replicat process name</a:t>
            </a:r>
            <a:endParaRPr lang="en-US" sz="727" dirty="0"/>
          </a:p>
        </p:txBody>
      </p:sp>
      <p:sp>
        <p:nvSpPr>
          <p:cNvPr id="26" name="Text 22"/>
          <p:cNvSpPr/>
          <p:nvPr/>
        </p:nvSpPr>
        <p:spPr>
          <a:xfrm>
            <a:off x="3745836" y="2773561"/>
            <a:ext cx="1454814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REP_KAFKA</a:t>
            </a:r>
            <a:endParaRPr lang="en-US" sz="727" dirty="0"/>
          </a:p>
        </p:txBody>
      </p:sp>
      <p:sp>
        <p:nvSpPr>
          <p:cNvPr id="27" name="Shape 23"/>
          <p:cNvSpPr/>
          <p:nvPr/>
        </p:nvSpPr>
        <p:spPr>
          <a:xfrm>
            <a:off x="571500" y="3084314"/>
            <a:ext cx="4629150" cy="31432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8" name="Text 24"/>
          <p:cNvSpPr/>
          <p:nvPr/>
        </p:nvSpPr>
        <p:spPr>
          <a:xfrm>
            <a:off x="571500" y="3084314"/>
            <a:ext cx="1047062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config</a:t>
            </a:r>
            <a:endParaRPr lang="en-US" sz="683" dirty="0"/>
          </a:p>
        </p:txBody>
      </p:sp>
      <p:sp>
        <p:nvSpPr>
          <p:cNvPr id="29" name="Text 25"/>
          <p:cNvSpPr/>
          <p:nvPr/>
        </p:nvSpPr>
        <p:spPr>
          <a:xfrm>
            <a:off x="1618562" y="3084314"/>
            <a:ext cx="70251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Yes</a:t>
            </a:r>
            <a:endParaRPr lang="en-US" sz="727" dirty="0"/>
          </a:p>
        </p:txBody>
      </p:sp>
      <p:sp>
        <p:nvSpPr>
          <p:cNvPr id="30" name="Text 26"/>
          <p:cNvSpPr/>
          <p:nvPr/>
        </p:nvSpPr>
        <p:spPr>
          <a:xfrm>
            <a:off x="2321077" y="3084314"/>
            <a:ext cx="142476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Parameter file content</a:t>
            </a:r>
            <a:endParaRPr lang="en-US" sz="727" dirty="0"/>
          </a:p>
        </p:txBody>
      </p:sp>
      <p:sp>
        <p:nvSpPr>
          <p:cNvPr id="31" name="Text 27"/>
          <p:cNvSpPr/>
          <p:nvPr/>
        </p:nvSpPr>
        <p:spPr>
          <a:xfrm>
            <a:off x="3745836" y="3084314"/>
            <a:ext cx="1454814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["REPLICAT...", "MAP..."]</a:t>
            </a:r>
            <a:endParaRPr lang="en-US" sz="727" dirty="0"/>
          </a:p>
        </p:txBody>
      </p:sp>
      <p:sp>
        <p:nvSpPr>
          <p:cNvPr id="32" name="Text 28"/>
          <p:cNvSpPr/>
          <p:nvPr/>
        </p:nvSpPr>
        <p:spPr>
          <a:xfrm>
            <a:off x="571500" y="3398639"/>
            <a:ext cx="1047062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source.name</a:t>
            </a:r>
            <a:endParaRPr lang="en-US" sz="683" dirty="0"/>
          </a:p>
        </p:txBody>
      </p:sp>
      <p:sp>
        <p:nvSpPr>
          <p:cNvPr id="33" name="Text 29"/>
          <p:cNvSpPr/>
          <p:nvPr/>
        </p:nvSpPr>
        <p:spPr>
          <a:xfrm>
            <a:off x="1618562" y="3398639"/>
            <a:ext cx="70251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Yes</a:t>
            </a:r>
            <a:endParaRPr lang="en-US" sz="727" dirty="0"/>
          </a:p>
        </p:txBody>
      </p:sp>
      <p:sp>
        <p:nvSpPr>
          <p:cNvPr id="34" name="Text 30"/>
          <p:cNvSpPr/>
          <p:nvPr/>
        </p:nvSpPr>
        <p:spPr>
          <a:xfrm>
            <a:off x="2321077" y="3398639"/>
            <a:ext cx="142476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Source trail file prefix</a:t>
            </a:r>
            <a:endParaRPr lang="en-US" sz="727" dirty="0"/>
          </a:p>
        </p:txBody>
      </p:sp>
      <p:sp>
        <p:nvSpPr>
          <p:cNvPr id="35" name="Text 31"/>
          <p:cNvSpPr/>
          <p:nvPr/>
        </p:nvSpPr>
        <p:spPr>
          <a:xfrm>
            <a:off x="3745836" y="3398639"/>
            <a:ext cx="1454814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rt</a:t>
            </a:r>
            <a:endParaRPr lang="en-US" sz="727" dirty="0"/>
          </a:p>
        </p:txBody>
      </p:sp>
      <p:sp>
        <p:nvSpPr>
          <p:cNvPr id="36" name="Shape 32"/>
          <p:cNvSpPr/>
          <p:nvPr/>
        </p:nvSpPr>
        <p:spPr>
          <a:xfrm>
            <a:off x="571500" y="3712964"/>
            <a:ext cx="4629150" cy="31432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7" name="Text 33"/>
          <p:cNvSpPr/>
          <p:nvPr/>
        </p:nvSpPr>
        <p:spPr>
          <a:xfrm>
            <a:off x="571500" y="3712964"/>
            <a:ext cx="1047062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mode.type</a:t>
            </a:r>
            <a:endParaRPr lang="en-US" sz="683" dirty="0"/>
          </a:p>
        </p:txBody>
      </p:sp>
      <p:sp>
        <p:nvSpPr>
          <p:cNvPr id="38" name="Text 34"/>
          <p:cNvSpPr/>
          <p:nvPr/>
        </p:nvSpPr>
        <p:spPr>
          <a:xfrm>
            <a:off x="1618562" y="3712964"/>
            <a:ext cx="70251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Yes</a:t>
            </a:r>
            <a:endParaRPr lang="en-US" sz="727" dirty="0"/>
          </a:p>
        </p:txBody>
      </p:sp>
      <p:sp>
        <p:nvSpPr>
          <p:cNvPr id="39" name="Text 35"/>
          <p:cNvSpPr/>
          <p:nvPr/>
        </p:nvSpPr>
        <p:spPr>
          <a:xfrm>
            <a:off x="2321077" y="3712964"/>
            <a:ext cx="142476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Process mode</a:t>
            </a:r>
            <a:endParaRPr lang="en-US" sz="727" dirty="0"/>
          </a:p>
        </p:txBody>
      </p:sp>
      <p:sp>
        <p:nvSpPr>
          <p:cNvPr id="40" name="Text 36"/>
          <p:cNvSpPr/>
          <p:nvPr/>
        </p:nvSpPr>
        <p:spPr>
          <a:xfrm>
            <a:off x="3745836" y="3712964"/>
            <a:ext cx="1454814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nonintegrated</a:t>
            </a:r>
            <a:endParaRPr lang="en-US" sz="727" dirty="0"/>
          </a:p>
        </p:txBody>
      </p:sp>
      <p:sp>
        <p:nvSpPr>
          <p:cNvPr id="41" name="Text 37"/>
          <p:cNvSpPr/>
          <p:nvPr/>
        </p:nvSpPr>
        <p:spPr>
          <a:xfrm>
            <a:off x="571500" y="4027289"/>
            <a:ext cx="1047062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registration</a:t>
            </a:r>
            <a:endParaRPr lang="en-US" sz="683" dirty="0"/>
          </a:p>
        </p:txBody>
      </p:sp>
      <p:sp>
        <p:nvSpPr>
          <p:cNvPr id="42" name="Text 38"/>
          <p:cNvSpPr/>
          <p:nvPr/>
        </p:nvSpPr>
        <p:spPr>
          <a:xfrm>
            <a:off x="1618562" y="4027289"/>
            <a:ext cx="70251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Yes</a:t>
            </a:r>
            <a:endParaRPr lang="en-US" sz="727" dirty="0"/>
          </a:p>
        </p:txBody>
      </p:sp>
      <p:sp>
        <p:nvSpPr>
          <p:cNvPr id="43" name="Text 39"/>
          <p:cNvSpPr/>
          <p:nvPr/>
        </p:nvSpPr>
        <p:spPr>
          <a:xfrm>
            <a:off x="2321077" y="4027289"/>
            <a:ext cx="142476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DB registration type</a:t>
            </a:r>
            <a:endParaRPr lang="en-US" sz="727" dirty="0"/>
          </a:p>
        </p:txBody>
      </p:sp>
      <p:sp>
        <p:nvSpPr>
          <p:cNvPr id="44" name="Text 40"/>
          <p:cNvSpPr/>
          <p:nvPr/>
        </p:nvSpPr>
        <p:spPr>
          <a:xfrm>
            <a:off x="3745836" y="4027289"/>
            <a:ext cx="1454814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none</a:t>
            </a:r>
            <a:endParaRPr lang="en-US" sz="727" dirty="0"/>
          </a:p>
        </p:txBody>
      </p:sp>
      <p:sp>
        <p:nvSpPr>
          <p:cNvPr id="45" name="Shape 41"/>
          <p:cNvSpPr/>
          <p:nvPr/>
        </p:nvSpPr>
        <p:spPr>
          <a:xfrm>
            <a:off x="5486400" y="2284214"/>
            <a:ext cx="3086100" cy="27860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6" name="Text 42"/>
          <p:cNvSpPr/>
          <p:nvPr/>
        </p:nvSpPr>
        <p:spPr>
          <a:xfrm>
            <a:off x="5486400" y="2284214"/>
            <a:ext cx="3086100" cy="27860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Sample Request Body</a:t>
            </a:r>
            <a:endParaRPr lang="en-US" sz="683" dirty="0"/>
          </a:p>
        </p:txBody>
      </p:sp>
      <p:sp>
        <p:nvSpPr>
          <p:cNvPr id="47" name="Shape 43"/>
          <p:cNvSpPr/>
          <p:nvPr/>
        </p:nvSpPr>
        <p:spPr>
          <a:xfrm>
            <a:off x="5486400" y="2562820"/>
            <a:ext cx="3086100" cy="215205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8" name="Text 44"/>
          <p:cNvSpPr/>
          <p:nvPr/>
        </p:nvSpPr>
        <p:spPr>
          <a:xfrm>
            <a:off x="5486400" y="2562820"/>
            <a:ext cx="3086100" cy="215205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{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CDCFE"/>
                </a:solidFill>
              </a:rPr>
              <a:t>"config"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 [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"REPLICAT REP_KAFKA"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"TARGETDB LIBFILE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libggjava.so SET property=dirprm/REP_KAFKA.properties"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"MAP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HR.*, TARGET HR.*;"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],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CDCFE"/>
                </a:solidFill>
              </a:rPr>
              <a:t>"source"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 {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CDCFE"/>
                </a:solidFill>
              </a:rPr>
              <a:t>"name"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"rt"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},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CDCFE"/>
                </a:solidFill>
              </a:rPr>
              <a:t>"mode"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 {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CDCFE"/>
                </a:solidFill>
              </a:rPr>
              <a:t>"type"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"nonintegrated"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},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CDCFE"/>
                </a:solidFill>
              </a:rPr>
              <a:t>"registration"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"none"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}</a:t>
            </a:r>
            <a:endParaRPr lang="en-US" sz="67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43025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Step 9 - Start All Processes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Execute startup sequence to begin replication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628775"/>
            <a:ext cx="2524116" cy="3086100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628775"/>
            <a:ext cx="2524116" cy="44291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1735931"/>
            <a:ext cx="228600" cy="228600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173593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1050131" y="1762720"/>
            <a:ext cx="8094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Start Extract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14375" y="2214563"/>
            <a:ext cx="2238366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Admin Service (Source)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714375" y="2536031"/>
            <a:ext cx="2238366" cy="24110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2536031"/>
            <a:ext cx="2238366" cy="2411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72C6"/>
                </a:solidFill>
              </a:rPr>
              <a:t>POST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 /services/v2/commands/execute</a:t>
            </a:r>
            <a:endParaRPr lang="en-US" sz="634" dirty="0"/>
          </a:p>
        </p:txBody>
      </p:sp>
      <p:sp>
        <p:nvSpPr>
          <p:cNvPr id="15" name="Shape 12"/>
          <p:cNvSpPr/>
          <p:nvPr/>
        </p:nvSpPr>
        <p:spPr>
          <a:xfrm>
            <a:off x="714375" y="2884289"/>
            <a:ext cx="2238366" cy="168771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3"/>
          <p:cNvSpPr/>
          <p:nvPr/>
        </p:nvSpPr>
        <p:spPr>
          <a:xfrm>
            <a:off x="714375" y="2884289"/>
            <a:ext cx="2238366" cy="168771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{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CDCFE"/>
                </a:solidFill>
              </a:rPr>
              <a:t>"name"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"start"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CDCFE"/>
                </a:solidFill>
              </a:rPr>
              <a:t>"processName"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"EXT_ORA"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}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3309928" y="1628775"/>
            <a:ext cx="2524116" cy="3086100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09928" y="1628775"/>
            <a:ext cx="2524116" cy="44291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9" name="Shape 16"/>
          <p:cNvSpPr/>
          <p:nvPr/>
        </p:nvSpPr>
        <p:spPr>
          <a:xfrm>
            <a:off x="3452803" y="1735931"/>
            <a:ext cx="228600" cy="228600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20" name="Text 17"/>
          <p:cNvSpPr/>
          <p:nvPr/>
        </p:nvSpPr>
        <p:spPr>
          <a:xfrm>
            <a:off x="3452803" y="173593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3788559" y="1762720"/>
            <a:ext cx="11286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Start Distribution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3452803" y="2214563"/>
            <a:ext cx="2238366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Distribution Service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3452803" y="2536031"/>
            <a:ext cx="2238366" cy="24110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4" name="Text 21"/>
          <p:cNvSpPr/>
          <p:nvPr/>
        </p:nvSpPr>
        <p:spPr>
          <a:xfrm>
            <a:off x="3452803" y="2536031"/>
            <a:ext cx="2238366" cy="2411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72C6"/>
                </a:solidFill>
              </a:rPr>
              <a:t>PATCH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 /services/v2/sources/DIST_KAFKA</a:t>
            </a:r>
            <a:endParaRPr lang="en-US" sz="634" dirty="0"/>
          </a:p>
        </p:txBody>
      </p:sp>
      <p:sp>
        <p:nvSpPr>
          <p:cNvPr id="25" name="Shape 22"/>
          <p:cNvSpPr/>
          <p:nvPr/>
        </p:nvSpPr>
        <p:spPr>
          <a:xfrm>
            <a:off x="3452803" y="2884289"/>
            <a:ext cx="2238366" cy="168771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6" name="Text 23"/>
          <p:cNvSpPr/>
          <p:nvPr/>
        </p:nvSpPr>
        <p:spPr>
          <a:xfrm>
            <a:off x="3452803" y="2884289"/>
            <a:ext cx="2238366" cy="168771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{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CDCFE"/>
                </a:solidFill>
              </a:rPr>
              <a:t>"status"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"running"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}</a:t>
            </a:r>
            <a:endParaRPr lang="en-US" sz="674" dirty="0"/>
          </a:p>
        </p:txBody>
      </p:sp>
      <p:sp>
        <p:nvSpPr>
          <p:cNvPr id="27" name="Shape 24"/>
          <p:cNvSpPr/>
          <p:nvPr/>
        </p:nvSpPr>
        <p:spPr>
          <a:xfrm>
            <a:off x="6048356" y="1628775"/>
            <a:ext cx="2524144" cy="3086100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48356" y="1628775"/>
            <a:ext cx="2524144" cy="44291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9" name="Shape 26"/>
          <p:cNvSpPr/>
          <p:nvPr/>
        </p:nvSpPr>
        <p:spPr>
          <a:xfrm>
            <a:off x="6191231" y="1735931"/>
            <a:ext cx="228600" cy="228600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30" name="Text 27"/>
          <p:cNvSpPr/>
          <p:nvPr/>
        </p:nvSpPr>
        <p:spPr>
          <a:xfrm>
            <a:off x="6191231" y="173593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6526988" y="1762720"/>
            <a:ext cx="8722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Start Replicat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6191231" y="2214563"/>
            <a:ext cx="2238394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Admin Service (Big Data)</a:t>
            </a:r>
            <a:endParaRPr lang="en-US" sz="727" dirty="0"/>
          </a:p>
        </p:txBody>
      </p:sp>
      <p:sp>
        <p:nvSpPr>
          <p:cNvPr id="33" name="Shape 30"/>
          <p:cNvSpPr/>
          <p:nvPr/>
        </p:nvSpPr>
        <p:spPr>
          <a:xfrm>
            <a:off x="6191231" y="2536031"/>
            <a:ext cx="2238394" cy="24110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4" name="Text 31"/>
          <p:cNvSpPr/>
          <p:nvPr/>
        </p:nvSpPr>
        <p:spPr>
          <a:xfrm>
            <a:off x="6191231" y="2536031"/>
            <a:ext cx="2238394" cy="2411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72C6"/>
                </a:solidFill>
              </a:rPr>
              <a:t>POST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 /services/v2/commands/execute</a:t>
            </a:r>
            <a:endParaRPr lang="en-US" sz="634" dirty="0"/>
          </a:p>
        </p:txBody>
      </p:sp>
      <p:sp>
        <p:nvSpPr>
          <p:cNvPr id="35" name="Shape 32"/>
          <p:cNvSpPr/>
          <p:nvPr/>
        </p:nvSpPr>
        <p:spPr>
          <a:xfrm>
            <a:off x="6191231" y="2884289"/>
            <a:ext cx="2238394" cy="168771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6" name="Text 33"/>
          <p:cNvSpPr/>
          <p:nvPr/>
        </p:nvSpPr>
        <p:spPr>
          <a:xfrm>
            <a:off x="6191231" y="2884289"/>
            <a:ext cx="2238394" cy="168771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{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CDCFE"/>
                </a:solidFill>
              </a:rPr>
              <a:t>"name"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"start"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CDCFE"/>
                </a:solidFill>
              </a:rPr>
              <a:t>"processName"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"REP_KAFKA"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}</a:t>
            </a:r>
            <a:endParaRPr lang="en-US" sz="67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43025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Sample JSON Output in Kafka Topic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Structured Data Payloads for Database Operations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557338"/>
            <a:ext cx="577444" cy="24110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557338"/>
            <a:ext cx="577444" cy="241102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INSERT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1256100" y="1580555"/>
            <a:ext cx="13920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New Record Created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571500" y="1905595"/>
            <a:ext cx="3857625" cy="2809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1905595"/>
            <a:ext cx="28575" cy="2809280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12" name="Shape 9"/>
          <p:cNvSpPr/>
          <p:nvPr/>
        </p:nvSpPr>
        <p:spPr>
          <a:xfrm>
            <a:off x="3225264" y="2369939"/>
            <a:ext cx="1060986" cy="201811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25264" y="2369939"/>
            <a:ext cx="1060986" cy="20181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</a:rPr>
              <a:t>Operation Type: Insert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3611724" y="3048595"/>
            <a:ext cx="674526" cy="201811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724" y="3048595"/>
            <a:ext cx="674526" cy="20181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</a:rPr>
              <a:t>Full row data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750094" y="2084189"/>
            <a:ext cx="3500438" cy="2300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{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"table"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E9178"/>
                </a:solidFill>
              </a:rPr>
              <a:t>"EMPLOYEES"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"op_type"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E9178"/>
                </a:solidFill>
              </a:rPr>
              <a:t>"I"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"op_ts"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E9178"/>
                </a:solidFill>
              </a:rPr>
              <a:t>"2026-02-04T12:30:45.123"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"pos"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E9178"/>
                </a:solidFill>
              </a:rPr>
              <a:t>"00000000000000001234"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"before"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69CD6"/>
                </a:solidFill>
              </a:rPr>
              <a:t>null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"after"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{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"EMPLOYEE_ID"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5CEA8"/>
                </a:solidFill>
              </a:rPr>
              <a:t>100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"FIRST_NAME"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E9178"/>
                </a:solidFill>
              </a:rPr>
              <a:t>"John"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"LAST_NAME"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E9178"/>
                </a:solidFill>
              </a:rPr>
              <a:t>"Smith"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"SALARY"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5CEA8"/>
                </a:solidFill>
              </a:rPr>
              <a:t>75000.00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"DEPT_ID"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5CEA8"/>
                </a:solidFill>
              </a:rPr>
              <a:t>10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}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}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4714875" y="1557338"/>
            <a:ext cx="612995" cy="24110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8" name="Text 15"/>
          <p:cNvSpPr/>
          <p:nvPr/>
        </p:nvSpPr>
        <p:spPr>
          <a:xfrm>
            <a:off x="4714875" y="1557338"/>
            <a:ext cx="612995" cy="241102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UPDATE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435026" y="1580555"/>
            <a:ext cx="16930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Existing Record Modified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4714875" y="1905595"/>
            <a:ext cx="3857625" cy="2809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Shape 18"/>
          <p:cNvSpPr/>
          <p:nvPr/>
        </p:nvSpPr>
        <p:spPr>
          <a:xfrm>
            <a:off x="4714875" y="1905595"/>
            <a:ext cx="28575" cy="2809280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0958" y="2369939"/>
            <a:ext cx="1118667" cy="201811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0958" y="2369939"/>
            <a:ext cx="1118667" cy="20181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</a:rPr>
              <a:t>Operation Type: Update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>
            <a:off x="7546702" y="2870002"/>
            <a:ext cx="882923" cy="201811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46702" y="2870002"/>
            <a:ext cx="882923" cy="20181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</a:rPr>
              <a:t>Pre-update values</a:t>
            </a:r>
            <a:endParaRPr lang="en-US" sz="621" dirty="0"/>
          </a:p>
        </p:txBody>
      </p:sp>
      <p:sp>
        <p:nvSpPr>
          <p:cNvPr id="26" name="Shape 23"/>
          <p:cNvSpPr/>
          <p:nvPr/>
        </p:nvSpPr>
        <p:spPr>
          <a:xfrm>
            <a:off x="7504872" y="3227189"/>
            <a:ext cx="924753" cy="201811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04872" y="3227189"/>
            <a:ext cx="924753" cy="20181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</a:rPr>
              <a:t>Post-update values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4893469" y="2084189"/>
            <a:ext cx="3500438" cy="1971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{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"table"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E9178"/>
                </a:solidFill>
              </a:rPr>
              <a:t>"EMPLOYEES"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"op_type"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E9178"/>
                </a:solidFill>
              </a:rPr>
              <a:t>"U"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"op_ts"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E9178"/>
                </a:solidFill>
              </a:rPr>
              <a:t>"2026-02-04T12:35:22.456"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"pos"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CE9178"/>
                </a:solidFill>
              </a:rPr>
              <a:t>"00000000000000001456"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"before"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{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"SALARY"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5CEA8"/>
                </a:solidFill>
              </a:rPr>
              <a:t>75000.00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},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"after"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{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 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CDCFE"/>
                </a:solidFill>
              </a:rPr>
              <a:t>"SALARY"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B5CEA8"/>
                </a:solidFill>
              </a:rPr>
              <a:t>80000.00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 }
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}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43025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Complete Automation Script Flow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Orchestrating the 9-Step Pipeline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485900"/>
            <a:ext cx="3857625" cy="250031"/>
          </a:xfrm>
          <a:prstGeom prst="roundRect">
            <a:avLst/>
          </a:prstGeom>
          <a:solidFill>
            <a:srgbClr val="002F5D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485900"/>
            <a:ext cx="3857625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INPUT: Table Name &amp; Schema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571500" y="1821656"/>
            <a:ext cx="1857375" cy="264319"/>
          </a:xfrm>
          <a:prstGeom prst="rect">
            <a:avLst/>
          </a:prstGeom>
          <a:solidFill>
            <a:srgbClr val="F0F4F8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" y="1821656"/>
            <a:ext cx="1857375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</a:rPr>
              <a:t>1. Create / Verify Credential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571500" y="2128838"/>
            <a:ext cx="1857375" cy="264319"/>
          </a:xfrm>
          <a:prstGeom prst="rect">
            <a:avLst/>
          </a:prstGeom>
          <a:solidFill>
            <a:srgbClr val="F0F4F8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" y="2128838"/>
            <a:ext cx="1857375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</a:rPr>
              <a:t>2. Enable Supplemental Logging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571500" y="2436019"/>
            <a:ext cx="1857375" cy="264319"/>
          </a:xfrm>
          <a:prstGeom prst="rect">
            <a:avLst/>
          </a:prstGeom>
          <a:solidFill>
            <a:srgbClr val="F0F4F8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" y="2436019"/>
            <a:ext cx="1857375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</a:rPr>
              <a:t>3. Create Extract Process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571500" y="2743200"/>
            <a:ext cx="1857375" cy="264319"/>
          </a:xfrm>
          <a:prstGeom prst="rect">
            <a:avLst/>
          </a:prstGeom>
          <a:solidFill>
            <a:srgbClr val="F0F4F8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" y="2743200"/>
            <a:ext cx="1857375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</a:rPr>
              <a:t>4. Configure Distribution Path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2571750" y="1821656"/>
            <a:ext cx="1857375" cy="264319"/>
          </a:xfrm>
          <a:prstGeom prst="rect">
            <a:avLst/>
          </a:prstGeom>
          <a:solidFill>
            <a:srgbClr val="F0F4F8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71750" y="1821656"/>
            <a:ext cx="1857375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</a:rPr>
              <a:t>5. Create Kafka Producer Config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2571750" y="2128838"/>
            <a:ext cx="1857375" cy="264319"/>
          </a:xfrm>
          <a:prstGeom prst="rect">
            <a:avLst/>
          </a:prstGeom>
          <a:solidFill>
            <a:srgbClr val="F0F4F8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71750" y="2128838"/>
            <a:ext cx="1857375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</a:rPr>
              <a:t>6. Create Kafka Handler Config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2571750" y="2436019"/>
            <a:ext cx="1857375" cy="264319"/>
          </a:xfrm>
          <a:prstGeom prst="rect">
            <a:avLst/>
          </a:prstGeom>
          <a:solidFill>
            <a:srgbClr val="F0F4F8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71750" y="2436019"/>
            <a:ext cx="1857375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</a:rPr>
              <a:t>7. Create Replicat Process</a:t>
            </a:r>
            <a:endParaRPr lang="en-US" sz="683" dirty="0"/>
          </a:p>
        </p:txBody>
      </p:sp>
      <p:sp>
        <p:nvSpPr>
          <p:cNvPr id="23" name="Shape 20"/>
          <p:cNvSpPr/>
          <p:nvPr/>
        </p:nvSpPr>
        <p:spPr>
          <a:xfrm>
            <a:off x="2571750" y="2743200"/>
            <a:ext cx="1857375" cy="264319"/>
          </a:xfrm>
          <a:prstGeom prst="rect">
            <a:avLst/>
          </a:prstGeom>
          <a:solidFill>
            <a:srgbClr val="F0F4F8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71750" y="2743200"/>
            <a:ext cx="1857375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</a:rPr>
              <a:t>8. Start All Processes</a:t>
            </a:r>
            <a:endParaRPr lang="en-US" sz="683" dirty="0"/>
          </a:p>
        </p:txBody>
      </p:sp>
      <p:sp>
        <p:nvSpPr>
          <p:cNvPr id="25" name="Shape 22"/>
          <p:cNvSpPr/>
          <p:nvPr/>
        </p:nvSpPr>
        <p:spPr>
          <a:xfrm>
            <a:off x="571500" y="3193256"/>
            <a:ext cx="3857625" cy="250031"/>
          </a:xfrm>
          <a:prstGeom prst="roundRect">
            <a:avLst/>
          </a:prstGeom>
          <a:solidFill>
            <a:srgbClr val="2E7D32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3193256"/>
            <a:ext cx="3857625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OUTPUT: Data Streaming to Kafka</a:t>
            </a:r>
            <a:endParaRPr lang="en-US" sz="683" dirty="0"/>
          </a:p>
        </p:txBody>
      </p:sp>
      <p:sp>
        <p:nvSpPr>
          <p:cNvPr id="27" name="Shape 24"/>
          <p:cNvSpPr/>
          <p:nvPr/>
        </p:nvSpPr>
        <p:spPr>
          <a:xfrm>
            <a:off x="4714875" y="1485900"/>
            <a:ext cx="3857625" cy="169128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714875" y="1485900"/>
            <a:ext cx="42863" cy="169128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9" name="Text 26"/>
          <p:cNvSpPr/>
          <p:nvPr/>
        </p:nvSpPr>
        <p:spPr>
          <a:xfrm>
            <a:off x="4843463" y="1614488"/>
            <a:ext cx="36004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2F5D"/>
                </a:solidFill>
              </a:rPr>
              <a:t>Automation Benefits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4843463" y="1934170"/>
            <a:ext cx="3600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Reduces onboarding time from hours to minutes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4843463" y="2212777"/>
            <a:ext cx="3600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Eliminates manual configuration errors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4843463" y="2491383"/>
            <a:ext cx="3600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Enables self-service for application teams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4843463" y="2769989"/>
            <a:ext cx="3600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Seamless integration with CI/CD pipelines</a:t>
            </a:r>
            <a:endParaRPr lang="en-US" sz="942" dirty="0"/>
          </a:p>
        </p:txBody>
      </p:sp>
      <p:sp>
        <p:nvSpPr>
          <p:cNvPr id="34" name="Shape 31"/>
          <p:cNvSpPr/>
          <p:nvPr/>
        </p:nvSpPr>
        <p:spPr>
          <a:xfrm>
            <a:off x="4714875" y="3320058"/>
            <a:ext cx="3857625" cy="119401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5" name="Shape 32"/>
          <p:cNvSpPr/>
          <p:nvPr/>
        </p:nvSpPr>
        <p:spPr>
          <a:xfrm>
            <a:off x="4714875" y="3320058"/>
            <a:ext cx="42863" cy="1194011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36" name="Text 33"/>
          <p:cNvSpPr/>
          <p:nvPr/>
        </p:nvSpPr>
        <p:spPr>
          <a:xfrm>
            <a:off x="4843463" y="3448645"/>
            <a:ext cx="36004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72C6"/>
                </a:solidFill>
              </a:rPr>
              <a:t>Implementation Strategy</a:t>
            </a:r>
            <a:endParaRPr lang="en-US" sz="1193" dirty="0"/>
          </a:p>
        </p:txBody>
      </p:sp>
      <p:sp>
        <p:nvSpPr>
          <p:cNvPr id="37" name="Text 34"/>
          <p:cNvSpPr/>
          <p:nvPr/>
        </p:nvSpPr>
        <p:spPr>
          <a:xfrm>
            <a:off x="4843463" y="3768328"/>
            <a:ext cx="36004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Wrap the REST calls in a short script that accepts the source table name and generates the JSON payloads for each step.</a:t>
            </a:r>
            <a:endParaRPr lang="en-US" sz="94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929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07306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API Quick Reference Summary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Complete Endpoint Checklist for Automation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450181"/>
            <a:ext cx="254301" cy="26967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450181"/>
            <a:ext cx="254301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#</a:t>
            </a:r>
            <a:endParaRPr lang="en-US" sz="634" dirty="0"/>
          </a:p>
        </p:txBody>
      </p:sp>
      <p:sp>
        <p:nvSpPr>
          <p:cNvPr id="9" name="Shape 6"/>
          <p:cNvSpPr/>
          <p:nvPr/>
        </p:nvSpPr>
        <p:spPr>
          <a:xfrm>
            <a:off x="825801" y="1450181"/>
            <a:ext cx="508629" cy="26967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0" name="Text 7"/>
          <p:cNvSpPr/>
          <p:nvPr/>
        </p:nvSpPr>
        <p:spPr>
          <a:xfrm>
            <a:off x="825801" y="1450181"/>
            <a:ext cx="508629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Method</a:t>
            </a:r>
            <a:endParaRPr lang="en-US" sz="634" dirty="0"/>
          </a:p>
        </p:txBody>
      </p:sp>
      <p:sp>
        <p:nvSpPr>
          <p:cNvPr id="11" name="Shape 8"/>
          <p:cNvSpPr/>
          <p:nvPr/>
        </p:nvSpPr>
        <p:spPr>
          <a:xfrm>
            <a:off x="1334430" y="1450181"/>
            <a:ext cx="2288846" cy="26967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2" name="Text 9"/>
          <p:cNvSpPr/>
          <p:nvPr/>
        </p:nvSpPr>
        <p:spPr>
          <a:xfrm>
            <a:off x="1334430" y="1450181"/>
            <a:ext cx="2288846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Endpoint URI</a:t>
            </a:r>
            <a:endParaRPr lang="en-US" sz="634" dirty="0"/>
          </a:p>
        </p:txBody>
      </p:sp>
      <p:sp>
        <p:nvSpPr>
          <p:cNvPr id="13" name="Shape 10"/>
          <p:cNvSpPr/>
          <p:nvPr/>
        </p:nvSpPr>
        <p:spPr>
          <a:xfrm>
            <a:off x="3623277" y="1450181"/>
            <a:ext cx="508629" cy="26967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4" name="Text 11"/>
          <p:cNvSpPr/>
          <p:nvPr/>
        </p:nvSpPr>
        <p:spPr>
          <a:xfrm>
            <a:off x="3623277" y="1450181"/>
            <a:ext cx="508629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Port</a:t>
            </a:r>
            <a:endParaRPr lang="en-US" sz="634" dirty="0"/>
          </a:p>
        </p:txBody>
      </p:sp>
      <p:sp>
        <p:nvSpPr>
          <p:cNvPr id="15" name="Shape 12"/>
          <p:cNvSpPr/>
          <p:nvPr/>
        </p:nvSpPr>
        <p:spPr>
          <a:xfrm>
            <a:off x="4131906" y="1450181"/>
            <a:ext cx="1525944" cy="26967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6" name="Text 13"/>
          <p:cNvSpPr/>
          <p:nvPr/>
        </p:nvSpPr>
        <p:spPr>
          <a:xfrm>
            <a:off x="4131906" y="1450181"/>
            <a:ext cx="1525944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Purpose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571500" y="1719858"/>
            <a:ext cx="254301" cy="26789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2F5D"/>
                </a:solidFill>
              </a:rPr>
              <a:t>1</a:t>
            </a:r>
            <a:endParaRPr lang="en-US" sz="634" dirty="0"/>
          </a:p>
        </p:txBody>
      </p:sp>
      <p:sp>
        <p:nvSpPr>
          <p:cNvPr id="18" name="Shape 15"/>
          <p:cNvSpPr/>
          <p:nvPr/>
        </p:nvSpPr>
        <p:spPr>
          <a:xfrm>
            <a:off x="897238" y="1777008"/>
            <a:ext cx="357188" cy="150019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19" name="Text 16"/>
          <p:cNvSpPr/>
          <p:nvPr/>
        </p:nvSpPr>
        <p:spPr>
          <a:xfrm>
            <a:off x="897238" y="1777008"/>
            <a:ext cx="357188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POST</a:t>
            </a:r>
            <a:endParaRPr lang="en-US" sz="534" dirty="0"/>
          </a:p>
        </p:txBody>
      </p:sp>
      <p:sp>
        <p:nvSpPr>
          <p:cNvPr id="20" name="Text 17"/>
          <p:cNvSpPr/>
          <p:nvPr/>
        </p:nvSpPr>
        <p:spPr>
          <a:xfrm>
            <a:off x="1334430" y="1719858"/>
            <a:ext cx="2288846" cy="26789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/services/v2/credentials/{domain}/{alias}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3623277" y="1719858"/>
            <a:ext cx="508629" cy="26789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10100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4131906" y="1719858"/>
            <a:ext cx="1525944" cy="26789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DB Credential</a:t>
            </a:r>
            <a:endParaRPr lang="en-US" sz="674" dirty="0"/>
          </a:p>
        </p:txBody>
      </p:sp>
      <p:sp>
        <p:nvSpPr>
          <p:cNvPr id="23" name="Shape 20"/>
          <p:cNvSpPr/>
          <p:nvPr/>
        </p:nvSpPr>
        <p:spPr>
          <a:xfrm>
            <a:off x="571500" y="1987748"/>
            <a:ext cx="5086350" cy="2714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" y="1987748"/>
            <a:ext cx="254301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2F5D"/>
                </a:solidFill>
              </a:rPr>
              <a:t>2</a:t>
            </a:r>
            <a:endParaRPr lang="en-US" sz="634" dirty="0"/>
          </a:p>
        </p:txBody>
      </p:sp>
      <p:sp>
        <p:nvSpPr>
          <p:cNvPr id="25" name="Shape 22"/>
          <p:cNvSpPr/>
          <p:nvPr/>
        </p:nvSpPr>
        <p:spPr>
          <a:xfrm>
            <a:off x="897238" y="2048470"/>
            <a:ext cx="357188" cy="150019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3"/>
          <p:cNvSpPr/>
          <p:nvPr/>
        </p:nvSpPr>
        <p:spPr>
          <a:xfrm>
            <a:off x="897238" y="2048470"/>
            <a:ext cx="357188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GET</a:t>
            </a:r>
            <a:endParaRPr lang="en-US" sz="534" dirty="0"/>
          </a:p>
        </p:txBody>
      </p:sp>
      <p:sp>
        <p:nvSpPr>
          <p:cNvPr id="27" name="Text 24"/>
          <p:cNvSpPr/>
          <p:nvPr/>
        </p:nvSpPr>
        <p:spPr>
          <a:xfrm>
            <a:off x="1334430" y="1987748"/>
            <a:ext cx="2288846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/services/v2/credentials/.../valid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3623277" y="1987748"/>
            <a:ext cx="508629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10100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4131906" y="1987748"/>
            <a:ext cx="1525944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Validate Connection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571500" y="2259211"/>
            <a:ext cx="254301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2F5D"/>
                </a:solidFill>
              </a:rPr>
              <a:t>3</a:t>
            </a:r>
            <a:endParaRPr lang="en-US" sz="634" dirty="0"/>
          </a:p>
        </p:txBody>
      </p:sp>
      <p:sp>
        <p:nvSpPr>
          <p:cNvPr id="31" name="Shape 28"/>
          <p:cNvSpPr/>
          <p:nvPr/>
        </p:nvSpPr>
        <p:spPr>
          <a:xfrm>
            <a:off x="897238" y="2319933"/>
            <a:ext cx="357188" cy="150019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32" name="Text 29"/>
          <p:cNvSpPr/>
          <p:nvPr/>
        </p:nvSpPr>
        <p:spPr>
          <a:xfrm>
            <a:off x="897238" y="2319933"/>
            <a:ext cx="357188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POST</a:t>
            </a:r>
            <a:endParaRPr lang="en-US" sz="534" dirty="0"/>
          </a:p>
        </p:txBody>
      </p:sp>
      <p:sp>
        <p:nvSpPr>
          <p:cNvPr id="33" name="Text 30"/>
          <p:cNvSpPr/>
          <p:nvPr/>
        </p:nvSpPr>
        <p:spPr>
          <a:xfrm>
            <a:off x="1334430" y="2259211"/>
            <a:ext cx="2288846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/services/v2/connections/.../trandata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3623277" y="2259211"/>
            <a:ext cx="508629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10100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4131906" y="2259211"/>
            <a:ext cx="1525944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Enable Logging</a:t>
            </a:r>
            <a:endParaRPr lang="en-US" sz="674" dirty="0"/>
          </a:p>
        </p:txBody>
      </p:sp>
      <p:sp>
        <p:nvSpPr>
          <p:cNvPr id="36" name="Shape 33"/>
          <p:cNvSpPr/>
          <p:nvPr/>
        </p:nvSpPr>
        <p:spPr>
          <a:xfrm>
            <a:off x="571500" y="2530673"/>
            <a:ext cx="5086350" cy="2714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7" name="Text 34"/>
          <p:cNvSpPr/>
          <p:nvPr/>
        </p:nvSpPr>
        <p:spPr>
          <a:xfrm>
            <a:off x="571500" y="2530673"/>
            <a:ext cx="254301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2F5D"/>
                </a:solidFill>
              </a:rPr>
              <a:t>4</a:t>
            </a:r>
            <a:endParaRPr lang="en-US" sz="634" dirty="0"/>
          </a:p>
        </p:txBody>
      </p:sp>
      <p:sp>
        <p:nvSpPr>
          <p:cNvPr id="38" name="Shape 35"/>
          <p:cNvSpPr/>
          <p:nvPr/>
        </p:nvSpPr>
        <p:spPr>
          <a:xfrm>
            <a:off x="897238" y="2591395"/>
            <a:ext cx="357188" cy="150019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39" name="Text 36"/>
          <p:cNvSpPr/>
          <p:nvPr/>
        </p:nvSpPr>
        <p:spPr>
          <a:xfrm>
            <a:off x="897238" y="2591395"/>
            <a:ext cx="357188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POST</a:t>
            </a:r>
            <a:endParaRPr lang="en-US" sz="534" dirty="0"/>
          </a:p>
        </p:txBody>
      </p:sp>
      <p:sp>
        <p:nvSpPr>
          <p:cNvPr id="40" name="Text 37"/>
          <p:cNvSpPr/>
          <p:nvPr/>
        </p:nvSpPr>
        <p:spPr>
          <a:xfrm>
            <a:off x="1334430" y="2530673"/>
            <a:ext cx="2288846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/services/v2/extracts/{name}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3623277" y="2530673"/>
            <a:ext cx="508629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10100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4131906" y="2530673"/>
            <a:ext cx="1525944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Extract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571500" y="2802136"/>
            <a:ext cx="254301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2F5D"/>
                </a:solidFill>
              </a:rPr>
              <a:t>5</a:t>
            </a:r>
            <a:endParaRPr lang="en-US" sz="634" dirty="0"/>
          </a:p>
        </p:txBody>
      </p:sp>
      <p:sp>
        <p:nvSpPr>
          <p:cNvPr id="44" name="Shape 41"/>
          <p:cNvSpPr/>
          <p:nvPr/>
        </p:nvSpPr>
        <p:spPr>
          <a:xfrm>
            <a:off x="897238" y="2862858"/>
            <a:ext cx="357188" cy="150019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45" name="Text 42"/>
          <p:cNvSpPr/>
          <p:nvPr/>
        </p:nvSpPr>
        <p:spPr>
          <a:xfrm>
            <a:off x="897238" y="2862858"/>
            <a:ext cx="357188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POST</a:t>
            </a:r>
            <a:endParaRPr lang="en-US" sz="534" dirty="0"/>
          </a:p>
        </p:txBody>
      </p:sp>
      <p:sp>
        <p:nvSpPr>
          <p:cNvPr id="46" name="Text 43"/>
          <p:cNvSpPr/>
          <p:nvPr/>
        </p:nvSpPr>
        <p:spPr>
          <a:xfrm>
            <a:off x="1334430" y="2802136"/>
            <a:ext cx="2288846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/services/v2/sources/{path}</a:t>
            </a: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3623277" y="2802136"/>
            <a:ext cx="508629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10101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4131906" y="2802136"/>
            <a:ext cx="1525944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Distribution</a:t>
            </a:r>
            <a:endParaRPr lang="en-US" sz="674" dirty="0"/>
          </a:p>
        </p:txBody>
      </p:sp>
      <p:sp>
        <p:nvSpPr>
          <p:cNvPr id="49" name="Shape 46"/>
          <p:cNvSpPr/>
          <p:nvPr/>
        </p:nvSpPr>
        <p:spPr>
          <a:xfrm>
            <a:off x="571500" y="3073598"/>
            <a:ext cx="5086350" cy="2714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50" name="Text 47"/>
          <p:cNvSpPr/>
          <p:nvPr/>
        </p:nvSpPr>
        <p:spPr>
          <a:xfrm>
            <a:off x="571500" y="3073598"/>
            <a:ext cx="254301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2F5D"/>
                </a:solidFill>
              </a:rPr>
              <a:t>6</a:t>
            </a:r>
            <a:endParaRPr lang="en-US" sz="634" dirty="0"/>
          </a:p>
        </p:txBody>
      </p:sp>
      <p:sp>
        <p:nvSpPr>
          <p:cNvPr id="51" name="Shape 48"/>
          <p:cNvSpPr/>
          <p:nvPr/>
        </p:nvSpPr>
        <p:spPr>
          <a:xfrm>
            <a:off x="897238" y="3134320"/>
            <a:ext cx="357188" cy="150019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52" name="Text 49"/>
          <p:cNvSpPr/>
          <p:nvPr/>
        </p:nvSpPr>
        <p:spPr>
          <a:xfrm>
            <a:off x="897238" y="3134320"/>
            <a:ext cx="357188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POST</a:t>
            </a:r>
            <a:endParaRPr lang="en-US" sz="534" dirty="0"/>
          </a:p>
        </p:txBody>
      </p:sp>
      <p:sp>
        <p:nvSpPr>
          <p:cNvPr id="53" name="Text 50"/>
          <p:cNvSpPr/>
          <p:nvPr/>
        </p:nvSpPr>
        <p:spPr>
          <a:xfrm>
            <a:off x="1334430" y="3073598"/>
            <a:ext cx="2288846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/services/v2/config/files/{file}</a:t>
            </a:r>
            <a:endParaRPr lang="en-US" sz="621" dirty="0"/>
          </a:p>
        </p:txBody>
      </p:sp>
      <p:sp>
        <p:nvSpPr>
          <p:cNvPr id="54" name="Text 51"/>
          <p:cNvSpPr/>
          <p:nvPr/>
        </p:nvSpPr>
        <p:spPr>
          <a:xfrm>
            <a:off x="3623277" y="3073598"/>
            <a:ext cx="508629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10200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4131906" y="3073598"/>
            <a:ext cx="1525944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Kafka Producer Config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571500" y="3345061"/>
            <a:ext cx="254301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2F5D"/>
                </a:solidFill>
              </a:rPr>
              <a:t>7</a:t>
            </a:r>
            <a:endParaRPr lang="en-US" sz="634" dirty="0"/>
          </a:p>
        </p:txBody>
      </p:sp>
      <p:sp>
        <p:nvSpPr>
          <p:cNvPr id="57" name="Shape 54"/>
          <p:cNvSpPr/>
          <p:nvPr/>
        </p:nvSpPr>
        <p:spPr>
          <a:xfrm>
            <a:off x="897238" y="3405783"/>
            <a:ext cx="357188" cy="150019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58" name="Text 55"/>
          <p:cNvSpPr/>
          <p:nvPr/>
        </p:nvSpPr>
        <p:spPr>
          <a:xfrm>
            <a:off x="897238" y="3405783"/>
            <a:ext cx="357188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POST</a:t>
            </a:r>
            <a:endParaRPr lang="en-US" sz="534" dirty="0"/>
          </a:p>
        </p:txBody>
      </p:sp>
      <p:sp>
        <p:nvSpPr>
          <p:cNvPr id="59" name="Text 56"/>
          <p:cNvSpPr/>
          <p:nvPr/>
        </p:nvSpPr>
        <p:spPr>
          <a:xfrm>
            <a:off x="1334430" y="3345061"/>
            <a:ext cx="2288846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/services/v2/config/files/{file}</a:t>
            </a:r>
            <a:endParaRPr lang="en-US" sz="621" dirty="0"/>
          </a:p>
        </p:txBody>
      </p:sp>
      <p:sp>
        <p:nvSpPr>
          <p:cNvPr id="60" name="Text 57"/>
          <p:cNvSpPr/>
          <p:nvPr/>
        </p:nvSpPr>
        <p:spPr>
          <a:xfrm>
            <a:off x="3623277" y="3345061"/>
            <a:ext cx="508629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10200</a:t>
            </a:r>
            <a:endParaRPr lang="en-US" sz="674" dirty="0"/>
          </a:p>
        </p:txBody>
      </p:sp>
      <p:sp>
        <p:nvSpPr>
          <p:cNvPr id="61" name="Text 58"/>
          <p:cNvSpPr/>
          <p:nvPr/>
        </p:nvSpPr>
        <p:spPr>
          <a:xfrm>
            <a:off x="4131906" y="3345061"/>
            <a:ext cx="1525944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Kafka Handler Config</a:t>
            </a:r>
            <a:endParaRPr lang="en-US" sz="674" dirty="0"/>
          </a:p>
        </p:txBody>
      </p:sp>
      <p:sp>
        <p:nvSpPr>
          <p:cNvPr id="62" name="Shape 59"/>
          <p:cNvSpPr/>
          <p:nvPr/>
        </p:nvSpPr>
        <p:spPr>
          <a:xfrm>
            <a:off x="571500" y="3616523"/>
            <a:ext cx="5086350" cy="2714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63" name="Text 60"/>
          <p:cNvSpPr/>
          <p:nvPr/>
        </p:nvSpPr>
        <p:spPr>
          <a:xfrm>
            <a:off x="571500" y="3616523"/>
            <a:ext cx="254301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2F5D"/>
                </a:solidFill>
              </a:rPr>
              <a:t>8</a:t>
            </a:r>
            <a:endParaRPr lang="en-US" sz="634" dirty="0"/>
          </a:p>
        </p:txBody>
      </p:sp>
      <p:sp>
        <p:nvSpPr>
          <p:cNvPr id="64" name="Shape 61"/>
          <p:cNvSpPr/>
          <p:nvPr/>
        </p:nvSpPr>
        <p:spPr>
          <a:xfrm>
            <a:off x="897238" y="3677245"/>
            <a:ext cx="357188" cy="150019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65" name="Text 62"/>
          <p:cNvSpPr/>
          <p:nvPr/>
        </p:nvSpPr>
        <p:spPr>
          <a:xfrm>
            <a:off x="897238" y="3677245"/>
            <a:ext cx="357188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POST</a:t>
            </a:r>
            <a:endParaRPr lang="en-US" sz="534" dirty="0"/>
          </a:p>
        </p:txBody>
      </p:sp>
      <p:sp>
        <p:nvSpPr>
          <p:cNvPr id="66" name="Text 63"/>
          <p:cNvSpPr/>
          <p:nvPr/>
        </p:nvSpPr>
        <p:spPr>
          <a:xfrm>
            <a:off x="1334430" y="3616523"/>
            <a:ext cx="2288846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/services/v2/replicats/{name}</a:t>
            </a:r>
            <a:endParaRPr lang="en-US" sz="621" dirty="0"/>
          </a:p>
        </p:txBody>
      </p:sp>
      <p:sp>
        <p:nvSpPr>
          <p:cNvPr id="67" name="Text 64"/>
          <p:cNvSpPr/>
          <p:nvPr/>
        </p:nvSpPr>
        <p:spPr>
          <a:xfrm>
            <a:off x="3623277" y="3616523"/>
            <a:ext cx="508629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10200</a:t>
            </a:r>
            <a:endParaRPr lang="en-US" sz="674" dirty="0"/>
          </a:p>
        </p:txBody>
      </p:sp>
      <p:sp>
        <p:nvSpPr>
          <p:cNvPr id="68" name="Text 65"/>
          <p:cNvSpPr/>
          <p:nvPr/>
        </p:nvSpPr>
        <p:spPr>
          <a:xfrm>
            <a:off x="4131906" y="3616523"/>
            <a:ext cx="1525944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Create Replicat</a:t>
            </a:r>
            <a:endParaRPr lang="en-US" sz="674" dirty="0"/>
          </a:p>
        </p:txBody>
      </p:sp>
      <p:sp>
        <p:nvSpPr>
          <p:cNvPr id="69" name="Text 66"/>
          <p:cNvSpPr/>
          <p:nvPr/>
        </p:nvSpPr>
        <p:spPr>
          <a:xfrm>
            <a:off x="571500" y="3887986"/>
            <a:ext cx="254301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2F5D"/>
                </a:solidFill>
              </a:rPr>
              <a:t>9</a:t>
            </a:r>
            <a:endParaRPr lang="en-US" sz="634" dirty="0"/>
          </a:p>
        </p:txBody>
      </p:sp>
      <p:sp>
        <p:nvSpPr>
          <p:cNvPr id="70" name="Shape 67"/>
          <p:cNvSpPr/>
          <p:nvPr/>
        </p:nvSpPr>
        <p:spPr>
          <a:xfrm>
            <a:off x="897238" y="3948708"/>
            <a:ext cx="357188" cy="150019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71" name="Text 68"/>
          <p:cNvSpPr/>
          <p:nvPr/>
        </p:nvSpPr>
        <p:spPr>
          <a:xfrm>
            <a:off x="897238" y="3948708"/>
            <a:ext cx="357188" cy="15001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POST</a:t>
            </a:r>
            <a:endParaRPr lang="en-US" sz="534" dirty="0"/>
          </a:p>
        </p:txBody>
      </p:sp>
      <p:sp>
        <p:nvSpPr>
          <p:cNvPr id="72" name="Text 69"/>
          <p:cNvSpPr/>
          <p:nvPr/>
        </p:nvSpPr>
        <p:spPr>
          <a:xfrm>
            <a:off x="1334430" y="3887986"/>
            <a:ext cx="2288846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/services/v2/commands/execute</a:t>
            </a:r>
            <a:endParaRPr lang="en-US" sz="621" dirty="0"/>
          </a:p>
        </p:txBody>
      </p:sp>
      <p:sp>
        <p:nvSpPr>
          <p:cNvPr id="73" name="Text 70"/>
          <p:cNvSpPr/>
          <p:nvPr/>
        </p:nvSpPr>
        <p:spPr>
          <a:xfrm>
            <a:off x="3623277" y="3887986"/>
            <a:ext cx="508629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All</a:t>
            </a:r>
            <a:endParaRPr lang="en-US" sz="674" dirty="0"/>
          </a:p>
        </p:txBody>
      </p:sp>
      <p:sp>
        <p:nvSpPr>
          <p:cNvPr id="74" name="Text 71"/>
          <p:cNvSpPr/>
          <p:nvPr/>
        </p:nvSpPr>
        <p:spPr>
          <a:xfrm>
            <a:off x="4131906" y="3887986"/>
            <a:ext cx="1525944" cy="27146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Start Processes</a:t>
            </a:r>
            <a:endParaRPr lang="en-US" sz="674" dirty="0"/>
          </a:p>
        </p:txBody>
      </p:sp>
      <p:sp>
        <p:nvSpPr>
          <p:cNvPr id="75" name="Shape 72"/>
          <p:cNvSpPr/>
          <p:nvPr/>
        </p:nvSpPr>
        <p:spPr>
          <a:xfrm>
            <a:off x="5872163" y="1450181"/>
            <a:ext cx="2700338" cy="3264694"/>
          </a:xfrm>
          <a:prstGeom prst="rect">
            <a:avLst/>
          </a:prstGeom>
          <a:solidFill>
            <a:srgbClr val="F0F4F8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7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44" y="2267638"/>
            <a:ext cx="2547891" cy="1422583"/>
          </a:xfrm>
          <a:prstGeom prst="rect">
            <a:avLst/>
          </a:prstGeom>
        </p:spPr>
      </p:pic>
      <p:sp>
        <p:nvSpPr>
          <p:cNvPr id="77" name="Text 73"/>
          <p:cNvSpPr/>
          <p:nvPr/>
        </p:nvSpPr>
        <p:spPr>
          <a:xfrm>
            <a:off x="6626107" y="3761659"/>
            <a:ext cx="12019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</a:rPr>
              <a:t>Full Automation Pipeline</a:t>
            </a:r>
            <a:endParaRPr lang="en-US" sz="68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85875"/>
            <a:ext cx="80010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2F5D"/>
                </a:solidFill>
              </a:rPr>
              <a:t>Key Takeaways for Implementation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66192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72C6"/>
                </a:solidFill>
              </a:rPr>
              <a:t>Summary and Strategic Next Steps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88579"/>
            <a:ext cx="200025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2963" y="1457325"/>
            <a:ext cx="197055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2F5D"/>
                </a:solidFill>
              </a:rPr>
              <a:t>Executive Summary</a:t>
            </a:r>
            <a:endParaRPr lang="en-US" sz="1193" dirty="0"/>
          </a:p>
        </p:txBody>
      </p:sp>
      <p:sp>
        <p:nvSpPr>
          <p:cNvPr id="9" name="Shape 5"/>
          <p:cNvSpPr/>
          <p:nvPr/>
        </p:nvSpPr>
        <p:spPr>
          <a:xfrm>
            <a:off x="571500" y="1777008"/>
            <a:ext cx="285750" cy="28575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08" y="1855589"/>
            <a:ext cx="160734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0125" y="1777008"/>
            <a:ext cx="39090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2F5D"/>
                </a:solidFill>
              </a:rPr>
              <a:t>Full API Coverage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1000125" y="2007394"/>
            <a:ext cx="390905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GoldenGate Microservices exposes 100% of configuration capabilities via REST, eliminating manual console work.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571500" y="2455999"/>
            <a:ext cx="285750" cy="28575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45" y="2534580"/>
            <a:ext cx="144661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0125" y="2455999"/>
            <a:ext cx="39090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2F5D"/>
                </a:solidFill>
              </a:rPr>
              <a:t>9-Step Sequential Workflow</a:t>
            </a:r>
            <a:endParaRPr lang="en-US" sz="987" dirty="0"/>
          </a:p>
        </p:txBody>
      </p:sp>
      <p:sp>
        <p:nvSpPr>
          <p:cNvPr id="16" name="Text 10"/>
          <p:cNvSpPr/>
          <p:nvPr/>
        </p:nvSpPr>
        <p:spPr>
          <a:xfrm>
            <a:off x="1000125" y="2686385"/>
            <a:ext cx="390905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A defined, repeatable process from credential creation to process startup ensures consistency.</a:t>
            </a:r>
            <a:endParaRPr lang="en-US" sz="834" dirty="0"/>
          </a:p>
        </p:txBody>
      </p:sp>
      <p:sp>
        <p:nvSpPr>
          <p:cNvPr id="17" name="Shape 11"/>
          <p:cNvSpPr/>
          <p:nvPr/>
        </p:nvSpPr>
        <p:spPr>
          <a:xfrm>
            <a:off x="571500" y="3134990"/>
            <a:ext cx="285750" cy="28575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08" y="3213571"/>
            <a:ext cx="160734" cy="1285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0125" y="3134990"/>
            <a:ext cx="39090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2F5D"/>
                </a:solidFill>
              </a:rPr>
              <a:t>Custom JSON Formatting</a:t>
            </a:r>
            <a:endParaRPr lang="en-US" sz="987" dirty="0"/>
          </a:p>
        </p:txBody>
      </p:sp>
      <p:sp>
        <p:nvSpPr>
          <p:cNvPr id="20" name="Text 13"/>
          <p:cNvSpPr/>
          <p:nvPr/>
        </p:nvSpPr>
        <p:spPr>
          <a:xfrm>
            <a:off x="1000125" y="3365376"/>
            <a:ext cx="390905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The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metaColumnsTemplate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 property provides granular control over the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JSON output structure.</a:t>
            </a:r>
            <a:endParaRPr lang="en-US" sz="834" dirty="0"/>
          </a:p>
        </p:txBody>
      </p:sp>
      <p:sp>
        <p:nvSpPr>
          <p:cNvPr id="21" name="Shape 14"/>
          <p:cNvSpPr/>
          <p:nvPr/>
        </p:nvSpPr>
        <p:spPr>
          <a:xfrm>
            <a:off x="571500" y="3813981"/>
            <a:ext cx="285750" cy="28575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08" y="3892562"/>
            <a:ext cx="160734" cy="1285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00125" y="3813981"/>
            <a:ext cx="39090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2F5D"/>
                </a:solidFill>
              </a:rPr>
              <a:t>Automation Ready</a:t>
            </a:r>
            <a:endParaRPr lang="en-US" sz="987" dirty="0"/>
          </a:p>
        </p:txBody>
      </p:sp>
      <p:sp>
        <p:nvSpPr>
          <p:cNvPr id="24" name="Text 16"/>
          <p:cNvSpPr/>
          <p:nvPr/>
        </p:nvSpPr>
        <p:spPr>
          <a:xfrm>
            <a:off x="1000125" y="4044367"/>
            <a:ext cx="390905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The stateless nature of the REST API makes it ideal for integration into CI/CD pipelines and self-service portals.</a:t>
            </a:r>
            <a:endParaRPr lang="en-US" sz="834" dirty="0"/>
          </a:p>
        </p:txBody>
      </p:sp>
      <p:sp>
        <p:nvSpPr>
          <p:cNvPr id="25" name="Shape 17"/>
          <p:cNvSpPr/>
          <p:nvPr/>
        </p:nvSpPr>
        <p:spPr>
          <a:xfrm>
            <a:off x="5337804" y="1457325"/>
            <a:ext cx="3234696" cy="3257550"/>
          </a:xfrm>
          <a:prstGeom prst="rect">
            <a:avLst/>
          </a:prstGeom>
          <a:solidFill>
            <a:srgbClr val="002F5D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9254" y="1660029"/>
            <a:ext cx="178594" cy="1714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759286" y="1628775"/>
            <a:ext cx="12513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</a:rPr>
              <a:t>Action Plan</a:t>
            </a:r>
            <a:endParaRPr lang="en-US" sz="1193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9254" y="2057400"/>
            <a:ext cx="89297" cy="14287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705708" y="2041327"/>
            <a:ext cx="15717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Script the 9-step workflow</a:t>
            </a:r>
            <a:endParaRPr lang="en-US" sz="942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9254" y="2346722"/>
            <a:ext cx="89297" cy="14287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705708" y="2330648"/>
            <a:ext cx="22293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Integrate with CI/CD (Jenkins/GitLab)</a:t>
            </a:r>
            <a:endParaRPr lang="en-US" sz="942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9254" y="2636044"/>
            <a:ext cx="89297" cy="14287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705708" y="2619970"/>
            <a:ext cx="18696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Define JSON schema standards</a:t>
            </a:r>
            <a:endParaRPr lang="en-US" sz="942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09254" y="2925366"/>
            <a:ext cx="89297" cy="142875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705708" y="2909292"/>
            <a:ext cx="20566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Configure monitoring dashboards</a:t>
            </a:r>
            <a:endParaRPr lang="en-US" sz="942" dirty="0"/>
          </a:p>
        </p:txBody>
      </p:sp>
      <p:sp>
        <p:nvSpPr>
          <p:cNvPr id="36" name="Text 23"/>
          <p:cNvSpPr/>
          <p:nvPr/>
        </p:nvSpPr>
        <p:spPr>
          <a:xfrm>
            <a:off x="5509254" y="4179094"/>
            <a:ext cx="2891796" cy="36433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FFFFFF">
                    <a:alpha val="80000"/>
                  </a:srgbClr>
                </a:solidFill>
              </a:rPr>
              <a:t>"Automation is not just about speed; it's about reliability and scale."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2026-02-04T23:48:31Z</dcterms:created>
  <dcterms:modified xsi:type="dcterms:W3CDTF">2026-02-04T23:48:31Z</dcterms:modified>
</cp:coreProperties>
</file>