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857500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4" name="Text 1"/>
          <p:cNvSpPr/>
          <p:nvPr/>
        </p:nvSpPr>
        <p:spPr>
          <a:xfrm>
            <a:off x="2561927" y="982991"/>
            <a:ext cx="4020145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Architecture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&amp; Future State</a:t>
            </a:r>
            <a:endParaRPr lang="en-US" sz="2649" dirty="0"/>
          </a:p>
        </p:txBody>
      </p:sp>
      <p:sp>
        <p:nvSpPr>
          <p:cNvPr id="5" name="Shape 2"/>
          <p:cNvSpPr/>
          <p:nvPr/>
        </p:nvSpPr>
        <p:spPr>
          <a:xfrm>
            <a:off x="0" y="2500313"/>
            <a:ext cx="9144000" cy="714375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6" name="Text 3"/>
          <p:cNvSpPr/>
          <p:nvPr/>
        </p:nvSpPr>
        <p:spPr>
          <a:xfrm>
            <a:off x="1790402" y="3600450"/>
            <a:ext cx="5563195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77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Bucket, Scope &amp; Collection Strategy with Downstream Consumption</a:t>
            </a:r>
            <a:endParaRPr lang="en-US" sz="1377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155" y="4038005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33327" y="4033540"/>
            <a:ext cx="101084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Buckets (Today)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24" y="4030861"/>
            <a:ext cx="157163" cy="15716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643" y="4038005"/>
            <a:ext cx="125016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47815" y="4033540"/>
            <a:ext cx="103048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Buckets (Future)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457" y="4030861"/>
            <a:ext cx="157163" cy="157163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776" y="4038005"/>
            <a:ext cx="178594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635526" y="4033540"/>
            <a:ext cx="140731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Downstream Consumers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188" y="214313"/>
            <a:ext cx="8429625" cy="4232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7188" y="623292"/>
            <a:ext cx="8429625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357188" y="214313"/>
            <a:ext cx="4707731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– Current Data Flow (Overall)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7892058" y="362545"/>
            <a:ext cx="894755" cy="18930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4"/>
          <p:cNvSpPr/>
          <p:nvPr/>
        </p:nvSpPr>
        <p:spPr>
          <a:xfrm>
            <a:off x="7892058" y="362545"/>
            <a:ext cx="894755" cy="18930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AS-IS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357188" y="1495723"/>
            <a:ext cx="3571875" cy="2703909"/>
          </a:xfrm>
          <a:prstGeom prst="rect">
            <a:avLst/>
          </a:prstGeom>
          <a:solidFill>
            <a:srgbClr val="FFEBEE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0063" y="1417141"/>
            <a:ext cx="1223367" cy="175022"/>
          </a:xfrm>
          <a:prstGeom prst="roundRect">
            <a:avLst/>
          </a:prstGeom>
          <a:solidFill>
            <a:srgbClr val="D32F2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454646"/>
            <a:ext cx="100013" cy="1000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381" y="1445716"/>
            <a:ext cx="85189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Cluster</a:t>
            </a:r>
            <a:endParaRPr lang="en-US" sz="683" dirty="0"/>
          </a:p>
        </p:txBody>
      </p:sp>
      <p:sp>
        <p:nvSpPr>
          <p:cNvPr id="12" name="Shape 8"/>
          <p:cNvSpPr/>
          <p:nvPr/>
        </p:nvSpPr>
        <p:spPr>
          <a:xfrm>
            <a:off x="464344" y="1767185"/>
            <a:ext cx="3357563" cy="696516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5781" y="1710035"/>
            <a:ext cx="934045" cy="121444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729680"/>
            <a:ext cx="69652" cy="785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870" y="1724323"/>
            <a:ext cx="72151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LIQUIDITY</a:t>
            </a:r>
            <a:endParaRPr lang="en-US" sz="534" dirty="0"/>
          </a:p>
        </p:txBody>
      </p:sp>
      <p:sp>
        <p:nvSpPr>
          <p:cNvPr id="16" name="Shape 11"/>
          <p:cNvSpPr/>
          <p:nvPr/>
        </p:nvSpPr>
        <p:spPr>
          <a:xfrm>
            <a:off x="535781" y="1960066"/>
            <a:ext cx="3214688" cy="417909"/>
          </a:xfrm>
          <a:prstGeom prst="rect">
            <a:avLst/>
          </a:prstGeom>
          <a:solidFill>
            <a:srgbClr val="FFF3E0"/>
          </a:solidFill>
          <a:ln w="18288">
            <a:solidFill>
              <a:srgbClr val="F57C00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607219" y="1910060"/>
            <a:ext cx="771525" cy="117872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07219" y="1910060"/>
            <a:ext cx="771525" cy="117872"/>
          </a:xfrm>
          <a:prstGeom prst="rect">
            <a:avLst/>
          </a:prstGeom>
          <a:noFill/>
          <a:ln/>
        </p:spPr>
        <p:txBody>
          <a:bodyPr wrap="none" lIns="68072" tIns="8509" rIns="68072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LIQ_CORE</a:t>
            </a:r>
            <a:endParaRPr lang="en-US" sz="485" dirty="0"/>
          </a:p>
        </p:txBody>
      </p:sp>
      <p:sp>
        <p:nvSpPr>
          <p:cNvPr id="19" name="Shape 14"/>
          <p:cNvSpPr/>
          <p:nvPr/>
        </p:nvSpPr>
        <p:spPr>
          <a:xfrm>
            <a:off x="592931" y="2117229"/>
            <a:ext cx="1521619" cy="189309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92931" y="2117229"/>
            <a:ext cx="1521619" cy="189309"/>
          </a:xfrm>
          <a:prstGeom prst="rect">
            <a:avLst/>
          </a:prstGeom>
          <a:noFill/>
          <a:ln/>
        </p:spPr>
        <p:txBody>
          <a:bodyPr wrap="square" lIns="34036" tIns="51054" rIns="34036" bIns="51054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Liquidity Balances</a:t>
            </a:r>
            <a:endParaRPr lang="en-US" sz="516" dirty="0"/>
          </a:p>
        </p:txBody>
      </p:sp>
      <p:sp>
        <p:nvSpPr>
          <p:cNvPr id="21" name="Shape 16"/>
          <p:cNvSpPr/>
          <p:nvPr/>
        </p:nvSpPr>
        <p:spPr>
          <a:xfrm>
            <a:off x="2164556" y="2117229"/>
            <a:ext cx="1528763" cy="189309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164556" y="2117229"/>
            <a:ext cx="1528763" cy="189309"/>
          </a:xfrm>
          <a:prstGeom prst="rect">
            <a:avLst/>
          </a:prstGeom>
          <a:noFill/>
          <a:ln/>
        </p:spPr>
        <p:txBody>
          <a:bodyPr wrap="square" lIns="34036" tIns="51054" rIns="34036" bIns="51054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Intra and EOD</a:t>
            </a:r>
            <a:endParaRPr lang="en-US" sz="516" dirty="0"/>
          </a:p>
        </p:txBody>
      </p:sp>
      <p:sp>
        <p:nvSpPr>
          <p:cNvPr id="23" name="Shape 18"/>
          <p:cNvSpPr/>
          <p:nvPr/>
        </p:nvSpPr>
        <p:spPr>
          <a:xfrm>
            <a:off x="464344" y="2535138"/>
            <a:ext cx="3357563" cy="696516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5781" y="2477988"/>
            <a:ext cx="996553" cy="121444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497634"/>
            <a:ext cx="69652" cy="7858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870" y="2492276"/>
            <a:ext cx="78402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REPORTING</a:t>
            </a:r>
            <a:endParaRPr lang="en-US" sz="534" dirty="0"/>
          </a:p>
        </p:txBody>
      </p:sp>
      <p:sp>
        <p:nvSpPr>
          <p:cNvPr id="27" name="Shape 21"/>
          <p:cNvSpPr/>
          <p:nvPr/>
        </p:nvSpPr>
        <p:spPr>
          <a:xfrm>
            <a:off x="535781" y="2728020"/>
            <a:ext cx="3214688" cy="417909"/>
          </a:xfrm>
          <a:prstGeom prst="rect">
            <a:avLst/>
          </a:prstGeom>
          <a:solidFill>
            <a:srgbClr val="FFF3E0"/>
          </a:solidFill>
          <a:ln w="18288">
            <a:solidFill>
              <a:srgbClr val="F57C00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607219" y="2678013"/>
            <a:ext cx="771525" cy="117872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7219" y="2678013"/>
            <a:ext cx="771525" cy="117872"/>
          </a:xfrm>
          <a:prstGeom prst="rect">
            <a:avLst/>
          </a:prstGeom>
          <a:noFill/>
          <a:ln/>
        </p:spPr>
        <p:txBody>
          <a:bodyPr wrap="none" lIns="68072" tIns="8509" rIns="68072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$default</a:t>
            </a:r>
            <a:endParaRPr lang="en-US" sz="485" dirty="0"/>
          </a:p>
        </p:txBody>
      </p:sp>
      <p:sp>
        <p:nvSpPr>
          <p:cNvPr id="30" name="Shape 24"/>
          <p:cNvSpPr/>
          <p:nvPr/>
        </p:nvSpPr>
        <p:spPr>
          <a:xfrm>
            <a:off x="592931" y="2885182"/>
            <a:ext cx="995353" cy="189309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92931" y="2885182"/>
            <a:ext cx="995353" cy="189309"/>
          </a:xfrm>
          <a:prstGeom prst="rect">
            <a:avLst/>
          </a:prstGeom>
          <a:noFill/>
          <a:ln/>
        </p:spPr>
        <p:txBody>
          <a:bodyPr wrap="square" lIns="34036" tIns="51054" rIns="34036" bIns="51054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Default Pending</a:t>
            </a:r>
            <a:endParaRPr lang="en-US" sz="516" dirty="0"/>
          </a:p>
        </p:txBody>
      </p:sp>
      <p:sp>
        <p:nvSpPr>
          <p:cNvPr id="32" name="Shape 26"/>
          <p:cNvSpPr/>
          <p:nvPr/>
        </p:nvSpPr>
        <p:spPr>
          <a:xfrm>
            <a:off x="1635919" y="2885182"/>
            <a:ext cx="1000125" cy="189309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635919" y="2885182"/>
            <a:ext cx="1000125" cy="189309"/>
          </a:xfrm>
          <a:prstGeom prst="rect">
            <a:avLst/>
          </a:prstGeom>
          <a:noFill/>
          <a:ln/>
        </p:spPr>
        <p:txBody>
          <a:bodyPr wrap="square" lIns="34036" tIns="51054" rIns="34036" bIns="51054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Stat_pref</a:t>
            </a:r>
            <a:endParaRPr lang="en-US" sz="516" dirty="0"/>
          </a:p>
        </p:txBody>
      </p:sp>
      <p:sp>
        <p:nvSpPr>
          <p:cNvPr id="34" name="Shape 28"/>
          <p:cNvSpPr/>
          <p:nvPr/>
        </p:nvSpPr>
        <p:spPr>
          <a:xfrm>
            <a:off x="2688450" y="2885182"/>
            <a:ext cx="1004897" cy="189309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688450" y="2885182"/>
            <a:ext cx="1004897" cy="189309"/>
          </a:xfrm>
          <a:prstGeom prst="rect">
            <a:avLst/>
          </a:prstGeom>
          <a:noFill/>
          <a:ln/>
        </p:spPr>
        <p:txBody>
          <a:bodyPr wrap="square" lIns="34036" tIns="51054" rIns="34036" bIns="51054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GPR</a:t>
            </a:r>
            <a:endParaRPr lang="en-US" sz="516" dirty="0"/>
          </a:p>
        </p:txBody>
      </p:sp>
      <p:sp>
        <p:nvSpPr>
          <p:cNvPr id="36" name="Shape 30"/>
          <p:cNvSpPr/>
          <p:nvPr/>
        </p:nvSpPr>
        <p:spPr>
          <a:xfrm>
            <a:off x="464344" y="3303091"/>
            <a:ext cx="3357563" cy="696516"/>
          </a:xfrm>
          <a:prstGeom prst="rect">
            <a:avLst/>
          </a:prstGeom>
          <a:solidFill>
            <a:srgbClr val="E3F2FD"/>
          </a:solidFill>
          <a:ln w="18288">
            <a:solidFill>
              <a:srgbClr val="1976D2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35781" y="3245941"/>
            <a:ext cx="816173" cy="121444"/>
          </a:xfrm>
          <a:prstGeom prst="rect">
            <a:avLst/>
          </a:prstGeom>
          <a:solidFill>
            <a:srgbClr val="1976D2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3265587"/>
            <a:ext cx="69652" cy="78581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76870" y="3260229"/>
            <a:ext cx="60364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BUCKET: TRADE</a:t>
            </a:r>
            <a:endParaRPr lang="en-US" sz="534" dirty="0"/>
          </a:p>
        </p:txBody>
      </p:sp>
      <p:sp>
        <p:nvSpPr>
          <p:cNvPr id="40" name="Shape 33"/>
          <p:cNvSpPr/>
          <p:nvPr/>
        </p:nvSpPr>
        <p:spPr>
          <a:xfrm>
            <a:off x="535781" y="3495973"/>
            <a:ext cx="3214688" cy="417909"/>
          </a:xfrm>
          <a:prstGeom prst="rect">
            <a:avLst/>
          </a:prstGeom>
          <a:solidFill>
            <a:srgbClr val="FFF3E0"/>
          </a:solidFill>
          <a:ln w="18288">
            <a:solidFill>
              <a:srgbClr val="F57C00"/>
            </a:solidFill>
            <a:prstDash val="dash"/>
          </a:ln>
        </p:spPr>
      </p:sp>
      <p:sp>
        <p:nvSpPr>
          <p:cNvPr id="41" name="Shape 34"/>
          <p:cNvSpPr/>
          <p:nvPr/>
        </p:nvSpPr>
        <p:spPr>
          <a:xfrm>
            <a:off x="607219" y="3445966"/>
            <a:ext cx="814388" cy="117872"/>
          </a:xfrm>
          <a:prstGeom prst="rect">
            <a:avLst/>
          </a:prstGeom>
          <a:solidFill>
            <a:srgbClr val="FFFFFF"/>
          </a:solidFill>
          <a:ln w="9144">
            <a:solidFill>
              <a:srgbClr val="F57C0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07219" y="3445966"/>
            <a:ext cx="814388" cy="117872"/>
          </a:xfrm>
          <a:prstGeom prst="rect">
            <a:avLst/>
          </a:prstGeom>
          <a:noFill/>
          <a:ln/>
        </p:spPr>
        <p:txBody>
          <a:bodyPr wrap="none" lIns="68072" tIns="8509" rIns="68072" bIns="8509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E651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Scope: TRADE_OPS</a:t>
            </a:r>
            <a:endParaRPr lang="en-US" sz="485" dirty="0"/>
          </a:p>
        </p:txBody>
      </p:sp>
      <p:sp>
        <p:nvSpPr>
          <p:cNvPr id="43" name="Shape 36"/>
          <p:cNvSpPr/>
          <p:nvPr/>
        </p:nvSpPr>
        <p:spPr>
          <a:xfrm>
            <a:off x="592931" y="3653135"/>
            <a:ext cx="1521619" cy="189309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592931" y="3653135"/>
            <a:ext cx="1521619" cy="189309"/>
          </a:xfrm>
          <a:prstGeom prst="rect">
            <a:avLst/>
          </a:prstGeom>
          <a:noFill/>
          <a:ln/>
        </p:spPr>
        <p:txBody>
          <a:bodyPr wrap="square" lIns="34036" tIns="51054" rIns="34036" bIns="51054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Advisor</a:t>
            </a:r>
            <a:endParaRPr lang="en-US" sz="516" dirty="0"/>
          </a:p>
        </p:txBody>
      </p:sp>
      <p:sp>
        <p:nvSpPr>
          <p:cNvPr id="45" name="Shape 38"/>
          <p:cNvSpPr/>
          <p:nvPr/>
        </p:nvSpPr>
        <p:spPr>
          <a:xfrm>
            <a:off x="2164556" y="3653135"/>
            <a:ext cx="1528763" cy="189309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2164556" y="3653135"/>
            <a:ext cx="1528763" cy="189309"/>
          </a:xfrm>
          <a:prstGeom prst="rect">
            <a:avLst/>
          </a:prstGeom>
          <a:noFill/>
          <a:ln/>
        </p:spPr>
        <p:txBody>
          <a:bodyPr wrap="square" lIns="34036" tIns="51054" rIns="34036" bIns="51054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Settlements</a:t>
            </a:r>
            <a:endParaRPr lang="en-US" sz="516" dirty="0"/>
          </a:p>
        </p:txBody>
      </p:sp>
      <p:sp>
        <p:nvSpPr>
          <p:cNvPr id="47" name="Shape 40"/>
          <p:cNvSpPr/>
          <p:nvPr/>
        </p:nvSpPr>
        <p:spPr>
          <a:xfrm>
            <a:off x="4214813" y="2372618"/>
            <a:ext cx="750094" cy="21431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48" name="Text 41"/>
          <p:cNvSpPr/>
          <p:nvPr/>
        </p:nvSpPr>
        <p:spPr>
          <a:xfrm>
            <a:off x="4350544" y="2244030"/>
            <a:ext cx="478631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558B2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CB Connection</a:t>
            </a:r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558B2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558B2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N1QL Query</a:t>
            </a:r>
            <a:endParaRPr lang="en-US" sz="485" dirty="0"/>
          </a:p>
        </p:txBody>
      </p:sp>
      <p:sp>
        <p:nvSpPr>
          <p:cNvPr id="49" name="Shape 42"/>
          <p:cNvSpPr/>
          <p:nvPr/>
        </p:nvSpPr>
        <p:spPr>
          <a:xfrm>
            <a:off x="5036344" y="2061865"/>
            <a:ext cx="642938" cy="6429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7CB342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088" y="2151162"/>
            <a:ext cx="171450" cy="17145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164038" y="2358330"/>
            <a:ext cx="3875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CB3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OPENSHIFT</a:t>
            </a:r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CB3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CB3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(REST)</a:t>
            </a:r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CB3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7CB3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APIGEE</a:t>
            </a:r>
            <a:endParaRPr lang="en-US" sz="485" dirty="0"/>
          </a:p>
        </p:txBody>
      </p:sp>
      <p:sp>
        <p:nvSpPr>
          <p:cNvPr id="52" name="Shape 44"/>
          <p:cNvSpPr/>
          <p:nvPr/>
        </p:nvSpPr>
        <p:spPr>
          <a:xfrm>
            <a:off x="5750719" y="2372618"/>
            <a:ext cx="750094" cy="21431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53" name="Text 45"/>
          <p:cNvSpPr/>
          <p:nvPr/>
        </p:nvSpPr>
        <p:spPr>
          <a:xfrm>
            <a:off x="5852517" y="2244030"/>
            <a:ext cx="546497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558B2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Subscription</a:t>
            </a:r>
            <a:endParaRPr lang="en-US" sz="485" dirty="0"/>
          </a:p>
        </p:txBody>
      </p:sp>
      <p:sp>
        <p:nvSpPr>
          <p:cNvPr id="54" name="Shape 46"/>
          <p:cNvSpPr/>
          <p:nvPr/>
        </p:nvSpPr>
        <p:spPr>
          <a:xfrm>
            <a:off x="4214813" y="3301305"/>
            <a:ext cx="750094" cy="21431"/>
          </a:xfrm>
          <a:prstGeom prst="rect">
            <a:avLst/>
          </a:prstGeom>
          <a:solidFill>
            <a:srgbClr val="039BE5"/>
          </a:solidFill>
          <a:ln/>
        </p:spPr>
      </p:sp>
      <p:sp>
        <p:nvSpPr>
          <p:cNvPr id="55" name="Text 47"/>
          <p:cNvSpPr/>
          <p:nvPr/>
        </p:nvSpPr>
        <p:spPr>
          <a:xfrm>
            <a:off x="4395192" y="3172718"/>
            <a:ext cx="389334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Scheduled</a:t>
            </a:r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N1QL Query</a:t>
            </a:r>
            <a:endParaRPr lang="en-US" sz="485" dirty="0"/>
          </a:p>
        </p:txBody>
      </p:sp>
      <p:sp>
        <p:nvSpPr>
          <p:cNvPr id="56" name="Shape 48"/>
          <p:cNvSpPr/>
          <p:nvPr/>
        </p:nvSpPr>
        <p:spPr>
          <a:xfrm>
            <a:off x="5036344" y="2990552"/>
            <a:ext cx="642938" cy="6429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039BE5"/>
            </a:solidFill>
            <a:prstDash val="solid"/>
          </a:ln>
        </p:spPr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2088" y="3122712"/>
            <a:ext cx="171450" cy="17145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117604" y="3329880"/>
            <a:ext cx="4804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39B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Relay</a:t>
            </a:r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39B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39B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Direct</a:t>
            </a:r>
            <a:endParaRPr lang="en-US" sz="485" dirty="0"/>
          </a:p>
        </p:txBody>
      </p:sp>
      <p:sp>
        <p:nvSpPr>
          <p:cNvPr id="59" name="Shape 50"/>
          <p:cNvSpPr/>
          <p:nvPr/>
        </p:nvSpPr>
        <p:spPr>
          <a:xfrm>
            <a:off x="5750719" y="3301305"/>
            <a:ext cx="750094" cy="21431"/>
          </a:xfrm>
          <a:prstGeom prst="rect">
            <a:avLst/>
          </a:prstGeom>
          <a:solidFill>
            <a:srgbClr val="039BE5"/>
          </a:solidFill>
          <a:ln/>
        </p:spPr>
      </p:sp>
      <p:sp>
        <p:nvSpPr>
          <p:cNvPr id="60" name="Text 51"/>
          <p:cNvSpPr/>
          <p:nvPr/>
        </p:nvSpPr>
        <p:spPr>
          <a:xfrm>
            <a:off x="5919490" y="3172718"/>
            <a:ext cx="412552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CB Connect</a:t>
            </a:r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277B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</a:t>
            </a:r>
            <a:endParaRPr lang="en-US" sz="485" dirty="0"/>
          </a:p>
        </p:txBody>
      </p:sp>
      <p:sp>
        <p:nvSpPr>
          <p:cNvPr id="61" name="Shape 52"/>
          <p:cNvSpPr/>
          <p:nvPr/>
        </p:nvSpPr>
        <p:spPr>
          <a:xfrm>
            <a:off x="6786563" y="2122587"/>
            <a:ext cx="2000250" cy="1450181"/>
          </a:xfrm>
          <a:prstGeom prst="rect">
            <a:avLst/>
          </a:prstGeom>
          <a:solidFill>
            <a:srgbClr val="FAFAFA"/>
          </a:solidFill>
          <a:ln w="18288">
            <a:solidFill>
              <a:srgbClr val="999999"/>
            </a:solidFill>
            <a:prstDash val="dash"/>
          </a:ln>
        </p:spPr>
      </p:sp>
      <p:sp>
        <p:nvSpPr>
          <p:cNvPr id="62" name="Shape 53"/>
          <p:cNvSpPr/>
          <p:nvPr/>
        </p:nvSpPr>
        <p:spPr>
          <a:xfrm>
            <a:off x="7483078" y="2065437"/>
            <a:ext cx="607219" cy="10179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3" name="Text 54"/>
          <p:cNvSpPr/>
          <p:nvPr/>
        </p:nvSpPr>
        <p:spPr>
          <a:xfrm>
            <a:off x="7483078" y="2065437"/>
            <a:ext cx="607219" cy="101798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CONSUMER</a:t>
            </a:r>
            <a:endParaRPr lang="en-US" sz="584" dirty="0"/>
          </a:p>
        </p:txBody>
      </p:sp>
      <p:sp>
        <p:nvSpPr>
          <p:cNvPr id="64" name="Shape 55"/>
          <p:cNvSpPr/>
          <p:nvPr/>
        </p:nvSpPr>
        <p:spPr>
          <a:xfrm>
            <a:off x="6858000" y="2279749"/>
            <a:ext cx="1857375" cy="37147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6929438" y="2358330"/>
            <a:ext cx="214313" cy="21431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66" name="Text 57"/>
          <p:cNvSpPr/>
          <p:nvPr/>
        </p:nvSpPr>
        <p:spPr>
          <a:xfrm>
            <a:off x="6929438" y="2358330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</a:t>
            </a:r>
            <a:endParaRPr lang="en-US" sz="485" dirty="0"/>
          </a:p>
        </p:txBody>
      </p:sp>
      <p:sp>
        <p:nvSpPr>
          <p:cNvPr id="67" name="Text 58"/>
          <p:cNvSpPr/>
          <p:nvPr/>
        </p:nvSpPr>
        <p:spPr>
          <a:xfrm>
            <a:off x="7215188" y="2372618"/>
            <a:ext cx="45005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CitiDirect V3</a:t>
            </a:r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(US Source)</a:t>
            </a:r>
            <a:endParaRPr lang="en-US" sz="534" dirty="0"/>
          </a:p>
        </p:txBody>
      </p:sp>
      <p:sp>
        <p:nvSpPr>
          <p:cNvPr id="68" name="Shape 59"/>
          <p:cNvSpPr/>
          <p:nvPr/>
        </p:nvSpPr>
        <p:spPr>
          <a:xfrm>
            <a:off x="6858000" y="2929830"/>
            <a:ext cx="1857375" cy="371475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>
            <a:off x="6929438" y="3008412"/>
            <a:ext cx="214313" cy="21431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70" name="Text 61"/>
          <p:cNvSpPr/>
          <p:nvPr/>
        </p:nvSpPr>
        <p:spPr>
          <a:xfrm>
            <a:off x="6929438" y="3008412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</a:t>
            </a:r>
            <a:endParaRPr lang="en-US" sz="485" dirty="0"/>
          </a:p>
        </p:txBody>
      </p:sp>
      <p:sp>
        <p:nvSpPr>
          <p:cNvPr id="71" name="Text 62"/>
          <p:cNvSpPr/>
          <p:nvPr/>
        </p:nvSpPr>
        <p:spPr>
          <a:xfrm>
            <a:off x="7215188" y="3022699"/>
            <a:ext cx="43755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 Connect</a:t>
            </a:r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</a:t>
            </a:r>
            <a:endParaRPr lang="en-US" sz="534" dirty="0"/>
          </a:p>
        </p:txBody>
      </p:sp>
      <p:pic>
        <p:nvPicPr>
          <p:cNvPr id="7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6116" y="2669084"/>
            <a:ext cx="228600" cy="228600"/>
          </a:xfrm>
          <a:prstGeom prst="rect">
            <a:avLst/>
          </a:prstGeom>
        </p:spPr>
      </p:pic>
      <p:sp>
        <p:nvSpPr>
          <p:cNvPr id="73" name="Text 63"/>
          <p:cNvSpPr/>
          <p:nvPr/>
        </p:nvSpPr>
        <p:spPr>
          <a:xfrm>
            <a:off x="8865394" y="2933402"/>
            <a:ext cx="35004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Citi Client</a:t>
            </a:r>
            <a:endParaRPr lang="en-US" sz="534" dirty="0"/>
          </a:p>
        </p:txBody>
      </p:sp>
      <p:sp>
        <p:nvSpPr>
          <p:cNvPr id="74" name="Text 64"/>
          <p:cNvSpPr/>
          <p:nvPr/>
        </p:nvSpPr>
        <p:spPr>
          <a:xfrm>
            <a:off x="8885039" y="2526209"/>
            <a:ext cx="33039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7CB3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Entitlement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7CB3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7CB3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Login</a:t>
            </a:r>
            <a:endParaRPr lang="en-US" sz="435" dirty="0"/>
          </a:p>
        </p:txBody>
      </p:sp>
      <p:sp>
        <p:nvSpPr>
          <p:cNvPr id="75" name="Text 65"/>
          <p:cNvSpPr/>
          <p:nvPr/>
        </p:nvSpPr>
        <p:spPr>
          <a:xfrm>
            <a:off x="8849320" y="3019127"/>
            <a:ext cx="36611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39B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Scheduled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39B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
</a:t>
            </a:r>
            <a:pPr algn="l" indent="0" marL="0">
              <a:lnSpc>
                <a:spcPts val="600"/>
              </a:lnSpc>
              <a:buNone/>
            </a:pPr>
            <a:r>
              <a:rPr lang="en-US" sz="435" b="1" dirty="0">
                <a:solidFill>
                  <a:srgbClr val="039BE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Subscription</a:t>
            </a:r>
            <a:endParaRPr lang="en-US" sz="43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6411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12614"/>
            <a:ext cx="8286750" cy="14288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3402211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State Architecture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428625" y="673298"/>
            <a:ext cx="340221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Expanded Hierarchy with New Transaction Bucket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686675" y="637580"/>
            <a:ext cx="1028700" cy="203597"/>
          </a:xfrm>
          <a:prstGeom prst="rect">
            <a:avLst/>
          </a:prstGeom>
          <a:solidFill>
            <a:srgbClr val="E8F5E9"/>
          </a:solidFill>
          <a:ln w="9144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6675" y="637580"/>
            <a:ext cx="1028700" cy="203597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STATUS: TARGET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28625" y="1055489"/>
            <a:ext cx="3929063" cy="3802261"/>
          </a:xfrm>
          <a:prstGeom prst="rect">
            <a:avLst/>
          </a:prstGeom>
          <a:solidFill>
            <a:srgbClr val="FFF5F5"/>
          </a:solidFill>
          <a:ln w="18288">
            <a:solidFill>
              <a:srgbClr val="D32F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" y="948333"/>
            <a:ext cx="1282303" cy="189309"/>
          </a:xfrm>
          <a:prstGeom prst="roundRect">
            <a:avLst/>
          </a:prstGeom>
          <a:solidFill>
            <a:srgbClr val="D32F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992981"/>
            <a:ext cx="87511" cy="1000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9036" y="984052"/>
            <a:ext cx="85189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Couchbase Cluster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535781" y="1269802"/>
            <a:ext cx="371475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002F5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rot="10800000">
            <a:off x="592931" y="1326952"/>
            <a:ext cx="214313" cy="36790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15" name="Text 11"/>
          <p:cNvSpPr/>
          <p:nvPr/>
        </p:nvSpPr>
        <p:spPr>
          <a:xfrm rot="10800000">
            <a:off x="592931" y="1326952"/>
            <a:ext cx="214312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LIQ</a:t>
            </a:r>
            <a:endParaRPr lang="en-US" sz="534" dirty="0"/>
          </a:p>
        </p:txBody>
      </p:sp>
      <p:sp>
        <p:nvSpPr>
          <p:cNvPr id="16" name="Shape 12"/>
          <p:cNvSpPr/>
          <p:nvPr/>
        </p:nvSpPr>
        <p:spPr>
          <a:xfrm>
            <a:off x="878681" y="1326952"/>
            <a:ext cx="3314700" cy="367903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914400" y="1362670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LIQ_CORE</a:t>
            </a:r>
            <a:endParaRPr lang="en-US" sz="485" dirty="0"/>
          </a:p>
        </p:txBody>
      </p:sp>
      <p:sp>
        <p:nvSpPr>
          <p:cNvPr id="18" name="Shape 14"/>
          <p:cNvSpPr/>
          <p:nvPr/>
        </p:nvSpPr>
        <p:spPr>
          <a:xfrm>
            <a:off x="914400" y="1475184"/>
            <a:ext cx="1603772" cy="16966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1475184"/>
            <a:ext cx="1603772" cy="16966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cash_pos</a:t>
            </a:r>
            <a:endParaRPr lang="en-US" sz="516" dirty="0"/>
          </a:p>
        </p:txBody>
      </p:sp>
      <p:sp>
        <p:nvSpPr>
          <p:cNvPr id="20" name="Shape 16"/>
          <p:cNvSpPr/>
          <p:nvPr/>
        </p:nvSpPr>
        <p:spPr>
          <a:xfrm>
            <a:off x="2546747" y="1475184"/>
            <a:ext cx="1610916" cy="16966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46747" y="1475184"/>
            <a:ext cx="1610916" cy="16966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forecasts</a:t>
            </a:r>
            <a:endParaRPr lang="en-US" sz="516" dirty="0"/>
          </a:p>
        </p:txBody>
      </p:sp>
      <p:sp>
        <p:nvSpPr>
          <p:cNvPr id="22" name="Shape 18"/>
          <p:cNvSpPr/>
          <p:nvPr/>
        </p:nvSpPr>
        <p:spPr>
          <a:xfrm>
            <a:off x="535781" y="1809155"/>
            <a:ext cx="371475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002F5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 rot="10800000">
            <a:off x="592931" y="1866305"/>
            <a:ext cx="214313" cy="36790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24" name="Text 20"/>
          <p:cNvSpPr/>
          <p:nvPr/>
        </p:nvSpPr>
        <p:spPr>
          <a:xfrm rot="10800000">
            <a:off x="592931" y="1866305"/>
            <a:ext cx="214312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</a:t>
            </a:r>
            <a:endParaRPr lang="en-US" sz="534" dirty="0"/>
          </a:p>
        </p:txBody>
      </p:sp>
      <p:sp>
        <p:nvSpPr>
          <p:cNvPr id="25" name="Shape 21"/>
          <p:cNvSpPr/>
          <p:nvPr/>
        </p:nvSpPr>
        <p:spPr>
          <a:xfrm>
            <a:off x="878681" y="1866305"/>
            <a:ext cx="3314700" cy="367903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26" name="Text 22"/>
          <p:cNvSpPr/>
          <p:nvPr/>
        </p:nvSpPr>
        <p:spPr>
          <a:xfrm>
            <a:off x="914400" y="1902023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REP_DAILY</a:t>
            </a:r>
            <a:endParaRPr lang="en-US" sz="485" dirty="0"/>
          </a:p>
        </p:txBody>
      </p:sp>
      <p:sp>
        <p:nvSpPr>
          <p:cNvPr id="27" name="Shape 23"/>
          <p:cNvSpPr/>
          <p:nvPr/>
        </p:nvSpPr>
        <p:spPr>
          <a:xfrm>
            <a:off x="914400" y="2014538"/>
            <a:ext cx="1603772" cy="16966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14400" y="2014538"/>
            <a:ext cx="1603772" cy="16966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agg_metrics</a:t>
            </a:r>
            <a:endParaRPr lang="en-US" sz="516" dirty="0"/>
          </a:p>
        </p:txBody>
      </p:sp>
      <p:sp>
        <p:nvSpPr>
          <p:cNvPr id="29" name="Shape 25"/>
          <p:cNvSpPr/>
          <p:nvPr/>
        </p:nvSpPr>
        <p:spPr>
          <a:xfrm>
            <a:off x="2546747" y="2014538"/>
            <a:ext cx="1610916" cy="16966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546747" y="2014538"/>
            <a:ext cx="1610916" cy="16966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eod_snap</a:t>
            </a:r>
            <a:endParaRPr lang="en-US" sz="516" dirty="0"/>
          </a:p>
        </p:txBody>
      </p:sp>
      <p:sp>
        <p:nvSpPr>
          <p:cNvPr id="31" name="Shape 27"/>
          <p:cNvSpPr/>
          <p:nvPr/>
        </p:nvSpPr>
        <p:spPr>
          <a:xfrm>
            <a:off x="535781" y="2348508"/>
            <a:ext cx="371475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002F5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rot="10800000">
            <a:off x="592931" y="2405658"/>
            <a:ext cx="214313" cy="367903"/>
          </a:xfrm>
          <a:prstGeom prst="rect">
            <a:avLst/>
          </a:prstGeom>
          <a:solidFill>
            <a:srgbClr val="002F5D"/>
          </a:solidFill>
          <a:ln/>
        </p:spPr>
      </p:sp>
      <p:sp>
        <p:nvSpPr>
          <p:cNvPr id="33" name="Text 29"/>
          <p:cNvSpPr/>
          <p:nvPr/>
        </p:nvSpPr>
        <p:spPr>
          <a:xfrm rot="10800000">
            <a:off x="592931" y="2405658"/>
            <a:ext cx="214312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TRD</a:t>
            </a:r>
            <a:endParaRPr lang="en-US" sz="534" dirty="0"/>
          </a:p>
        </p:txBody>
      </p:sp>
      <p:sp>
        <p:nvSpPr>
          <p:cNvPr id="34" name="Shape 30"/>
          <p:cNvSpPr/>
          <p:nvPr/>
        </p:nvSpPr>
        <p:spPr>
          <a:xfrm>
            <a:off x="878681" y="2405658"/>
            <a:ext cx="3314700" cy="367903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dash"/>
          </a:ln>
        </p:spPr>
      </p:sp>
      <p:sp>
        <p:nvSpPr>
          <p:cNvPr id="35" name="Text 31"/>
          <p:cNvSpPr/>
          <p:nvPr/>
        </p:nvSpPr>
        <p:spPr>
          <a:xfrm>
            <a:off x="914400" y="2441377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TRADE_OPS</a:t>
            </a:r>
            <a:endParaRPr lang="en-US" sz="485" dirty="0"/>
          </a:p>
        </p:txBody>
      </p:sp>
      <p:sp>
        <p:nvSpPr>
          <p:cNvPr id="36" name="Shape 32"/>
          <p:cNvSpPr/>
          <p:nvPr/>
        </p:nvSpPr>
        <p:spPr>
          <a:xfrm>
            <a:off x="914400" y="2553891"/>
            <a:ext cx="1603772" cy="16966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14400" y="2553891"/>
            <a:ext cx="1603772" cy="16966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deals</a:t>
            </a:r>
            <a:endParaRPr lang="en-US" sz="516" dirty="0"/>
          </a:p>
        </p:txBody>
      </p:sp>
      <p:sp>
        <p:nvSpPr>
          <p:cNvPr id="38" name="Shape 34"/>
          <p:cNvSpPr/>
          <p:nvPr/>
        </p:nvSpPr>
        <p:spPr>
          <a:xfrm>
            <a:off x="2546747" y="2553891"/>
            <a:ext cx="1610916" cy="169664"/>
          </a:xfrm>
          <a:prstGeom prst="rect">
            <a:avLst/>
          </a:prstGeom>
          <a:solidFill>
            <a:srgbClr val="FFFFFF"/>
          </a:solidFill>
          <a:ln w="9144">
            <a:solidFill>
              <a:srgbClr val="90CAF9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546747" y="2553891"/>
            <a:ext cx="1610916" cy="16966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settlements</a:t>
            </a:r>
            <a:endParaRPr lang="en-US" sz="516" dirty="0"/>
          </a:p>
        </p:txBody>
      </p:sp>
      <p:sp>
        <p:nvSpPr>
          <p:cNvPr id="40" name="Shape 36"/>
          <p:cNvSpPr/>
          <p:nvPr/>
        </p:nvSpPr>
        <p:spPr>
          <a:xfrm>
            <a:off x="535781" y="2887861"/>
            <a:ext cx="3714750" cy="510778"/>
          </a:xfrm>
          <a:prstGeom prst="rect">
            <a:avLst/>
          </a:prstGeom>
          <a:solidFill>
            <a:srgbClr val="F1F8E9"/>
          </a:solidFill>
          <a:ln w="18288">
            <a:solidFill>
              <a:srgbClr val="2E7D3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 rot="10800000">
            <a:off x="592931" y="2945011"/>
            <a:ext cx="214313" cy="367903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38"/>
          <p:cNvSpPr/>
          <p:nvPr/>
        </p:nvSpPr>
        <p:spPr>
          <a:xfrm rot="10800000">
            <a:off x="592931" y="2945011"/>
            <a:ext cx="214312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TXN</a:t>
            </a:r>
            <a:endParaRPr lang="en-US" sz="534" dirty="0"/>
          </a:p>
        </p:txBody>
      </p:sp>
      <p:sp>
        <p:nvSpPr>
          <p:cNvPr id="43" name="Shape 39"/>
          <p:cNvSpPr/>
          <p:nvPr/>
        </p:nvSpPr>
        <p:spPr>
          <a:xfrm>
            <a:off x="878681" y="2945011"/>
            <a:ext cx="3314700" cy="367903"/>
          </a:xfrm>
          <a:prstGeom prst="rect">
            <a:avLst/>
          </a:prstGeom>
          <a:solidFill>
            <a:srgbClr val="DCEDC8"/>
          </a:solidFill>
          <a:ln w="9144">
            <a:solidFill>
              <a:srgbClr val="2E7D32"/>
            </a:solidFill>
            <a:prstDash val="dash"/>
          </a:ln>
        </p:spPr>
      </p:sp>
      <p:sp>
        <p:nvSpPr>
          <p:cNvPr id="44" name="Text 40"/>
          <p:cNvSpPr/>
          <p:nvPr/>
        </p:nvSpPr>
        <p:spPr>
          <a:xfrm>
            <a:off x="914400" y="2980730"/>
            <a:ext cx="3243263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SCOPE: TRANS_LOG</a:t>
            </a:r>
            <a:endParaRPr lang="en-US" sz="485" dirty="0"/>
          </a:p>
        </p:txBody>
      </p:sp>
      <p:sp>
        <p:nvSpPr>
          <p:cNvPr id="45" name="Shape 41"/>
          <p:cNvSpPr/>
          <p:nvPr/>
        </p:nvSpPr>
        <p:spPr>
          <a:xfrm>
            <a:off x="914400" y="3093244"/>
            <a:ext cx="1057275" cy="169664"/>
          </a:xfrm>
          <a:prstGeom prst="rect">
            <a:avLst/>
          </a:prstGeom>
          <a:solidFill>
            <a:srgbClr val="FFFFFF"/>
          </a:solidFill>
          <a:ln w="9144">
            <a:solidFill>
              <a:srgbClr val="AED581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14400" y="3093244"/>
            <a:ext cx="1057275" cy="16966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audit_trail</a:t>
            </a:r>
            <a:endParaRPr lang="en-US" sz="516" dirty="0"/>
          </a:p>
        </p:txBody>
      </p:sp>
      <p:sp>
        <p:nvSpPr>
          <p:cNvPr id="47" name="Shape 43"/>
          <p:cNvSpPr/>
          <p:nvPr/>
        </p:nvSpPr>
        <p:spPr>
          <a:xfrm>
            <a:off x="1997878" y="3093244"/>
            <a:ext cx="1062047" cy="169664"/>
          </a:xfrm>
          <a:prstGeom prst="rect">
            <a:avLst/>
          </a:prstGeom>
          <a:solidFill>
            <a:srgbClr val="FFFFFF"/>
          </a:solidFill>
          <a:ln w="9144">
            <a:solidFill>
              <a:srgbClr val="AED581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997878" y="3093244"/>
            <a:ext cx="1062047" cy="16966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events</a:t>
            </a:r>
            <a:endParaRPr lang="en-US" sz="516" dirty="0"/>
          </a:p>
        </p:txBody>
      </p:sp>
      <p:sp>
        <p:nvSpPr>
          <p:cNvPr id="49" name="Shape 45"/>
          <p:cNvSpPr/>
          <p:nvPr/>
        </p:nvSpPr>
        <p:spPr>
          <a:xfrm>
            <a:off x="3090844" y="3093244"/>
            <a:ext cx="1066791" cy="169664"/>
          </a:xfrm>
          <a:prstGeom prst="rect">
            <a:avLst/>
          </a:prstGeom>
          <a:solidFill>
            <a:srgbClr val="FFFFFF"/>
          </a:solidFill>
          <a:ln w="9144">
            <a:solidFill>
              <a:srgbClr val="AED581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090844" y="3093244"/>
            <a:ext cx="1066791" cy="169664"/>
          </a:xfrm>
          <a:prstGeom prst="rect">
            <a:avLst/>
          </a:prstGeom>
          <a:noFill/>
          <a:ln/>
        </p:spPr>
        <p:txBody>
          <a:bodyPr wrap="square" lIns="51054" tIns="34036" rIns="51054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metadata</a:t>
            </a:r>
            <a:endParaRPr lang="en-US" sz="516" dirty="0"/>
          </a:p>
        </p:txBody>
      </p:sp>
      <p:sp>
        <p:nvSpPr>
          <p:cNvPr id="51" name="Text 47"/>
          <p:cNvSpPr/>
          <p:nvPr/>
        </p:nvSpPr>
        <p:spPr>
          <a:xfrm>
            <a:off x="4650581" y="2235101"/>
            <a:ext cx="170735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CONSUMPTION</a:t>
            </a:r>
            <a:endParaRPr lang="en-US" sz="534" dirty="0"/>
          </a:p>
        </p:txBody>
      </p:sp>
      <p:sp>
        <p:nvSpPr>
          <p:cNvPr id="52" name="Shape 48"/>
          <p:cNvSpPr/>
          <p:nvPr/>
        </p:nvSpPr>
        <p:spPr>
          <a:xfrm>
            <a:off x="4650581" y="2435126"/>
            <a:ext cx="1707356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722019" y="2513707"/>
            <a:ext cx="15644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Gateway</a:t>
            </a:r>
            <a:endParaRPr lang="en-US" sz="584" dirty="0"/>
          </a:p>
        </p:txBody>
      </p:sp>
      <p:sp>
        <p:nvSpPr>
          <p:cNvPr id="54" name="Text 50"/>
          <p:cNvSpPr/>
          <p:nvPr/>
        </p:nvSpPr>
        <p:spPr>
          <a:xfrm>
            <a:off x="4722019" y="2615505"/>
            <a:ext cx="156448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Microservices</a:t>
            </a:r>
            <a:endParaRPr lang="en-US" sz="516" dirty="0"/>
          </a:p>
        </p:txBody>
      </p:sp>
      <p:sp>
        <p:nvSpPr>
          <p:cNvPr id="55" name="Shape 51"/>
          <p:cNvSpPr/>
          <p:nvPr/>
        </p:nvSpPr>
        <p:spPr>
          <a:xfrm>
            <a:off x="4650581" y="2878038"/>
            <a:ext cx="1707356" cy="342900"/>
          </a:xfrm>
          <a:prstGeom prst="rect">
            <a:avLst/>
          </a:prstGeom>
          <a:solidFill>
            <a:srgbClr val="E8F5E9"/>
          </a:solidFill>
          <a:ln w="9144">
            <a:solidFill>
              <a:srgbClr val="2E7D32"/>
            </a:solidFill>
            <a:prstDash val="dash"/>
          </a:ln>
        </p:spPr>
      </p:sp>
      <p:sp>
        <p:nvSpPr>
          <p:cNvPr id="56" name="Text 52"/>
          <p:cNvSpPr/>
          <p:nvPr/>
        </p:nvSpPr>
        <p:spPr>
          <a:xfrm>
            <a:off x="4722019" y="2956620"/>
            <a:ext cx="15644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E7D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Kafka Stream </a:t>
            </a:r>
            <a:pPr algn="ctr" indent="0" marL="0">
              <a:lnSpc>
                <a:spcPts val="800"/>
              </a:lnSpc>
              <a:buNone/>
            </a:pPr>
            <a:r>
              <a:rPr lang="en-US" sz="43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</a:t>
            </a:r>
            <a:endParaRPr lang="en-US" sz="584" dirty="0"/>
          </a:p>
        </p:txBody>
      </p:sp>
      <p:sp>
        <p:nvSpPr>
          <p:cNvPr id="57" name="Text 53"/>
          <p:cNvSpPr/>
          <p:nvPr/>
        </p:nvSpPr>
        <p:spPr>
          <a:xfrm>
            <a:off x="4722019" y="3058418"/>
            <a:ext cx="156448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CDC from 'TXN'</a:t>
            </a:r>
            <a:endParaRPr lang="en-US" sz="516" dirty="0"/>
          </a:p>
        </p:txBody>
      </p:sp>
      <p:sp>
        <p:nvSpPr>
          <p:cNvPr id="58" name="Shape 54"/>
          <p:cNvSpPr/>
          <p:nvPr/>
        </p:nvSpPr>
        <p:spPr>
          <a:xfrm>
            <a:off x="4650581" y="3320951"/>
            <a:ext cx="1707356" cy="342900"/>
          </a:xfrm>
          <a:prstGeom prst="rect">
            <a:avLst/>
          </a:prstGeom>
          <a:solidFill>
            <a:srgbClr val="E3F2FD"/>
          </a:solidFill>
          <a:ln w="9144">
            <a:solidFill>
              <a:srgbClr val="0072C6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722019" y="3399532"/>
            <a:ext cx="156448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72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Analytics</a:t>
            </a:r>
            <a:endParaRPr lang="en-US" sz="584" dirty="0"/>
          </a:p>
        </p:txBody>
      </p:sp>
      <p:sp>
        <p:nvSpPr>
          <p:cNvPr id="60" name="Text 56"/>
          <p:cNvSpPr/>
          <p:nvPr/>
        </p:nvSpPr>
        <p:spPr>
          <a:xfrm>
            <a:off x="4722019" y="3501330"/>
            <a:ext cx="156448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Cross-Bucket Joins</a:t>
            </a:r>
            <a:endParaRPr lang="en-US" sz="516" dirty="0"/>
          </a:p>
        </p:txBody>
      </p:sp>
      <p:sp>
        <p:nvSpPr>
          <p:cNvPr id="61" name="Shape 57"/>
          <p:cNvSpPr/>
          <p:nvPr/>
        </p:nvSpPr>
        <p:spPr>
          <a:xfrm>
            <a:off x="6572250" y="1055489"/>
            <a:ext cx="2143125" cy="380226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2" name="Shape 58"/>
          <p:cNvSpPr/>
          <p:nvPr/>
        </p:nvSpPr>
        <p:spPr>
          <a:xfrm>
            <a:off x="6572250" y="1055489"/>
            <a:ext cx="28575" cy="3802261"/>
          </a:xfrm>
          <a:prstGeom prst="rect">
            <a:avLst/>
          </a:prstGeom>
          <a:solidFill>
            <a:srgbClr val="002F5D"/>
          </a:solidFill>
          <a:ln/>
        </p:spPr>
      </p:sp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06" y="1171575"/>
            <a:ext cx="87511" cy="100013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824067" y="1162645"/>
            <a:ext cx="43041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Roadmap</a:t>
            </a:r>
            <a:endParaRPr lang="en-US" sz="683" dirty="0"/>
          </a:p>
        </p:txBody>
      </p:sp>
      <p:sp>
        <p:nvSpPr>
          <p:cNvPr id="65" name="Shape 60"/>
          <p:cNvSpPr/>
          <p:nvPr/>
        </p:nvSpPr>
        <p:spPr>
          <a:xfrm>
            <a:off x="6679406" y="1373386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66" name="Text 61"/>
          <p:cNvSpPr/>
          <p:nvPr/>
        </p:nvSpPr>
        <p:spPr>
          <a:xfrm>
            <a:off x="6765131" y="1337667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Q3 '24:</a:t>
            </a:r>
            <a:endParaRPr lang="en-US" sz="534" dirty="0"/>
          </a:p>
        </p:txBody>
      </p:sp>
      <p:sp>
        <p:nvSpPr>
          <p:cNvPr id="67" name="Text 62"/>
          <p:cNvSpPr/>
          <p:nvPr/>
        </p:nvSpPr>
        <p:spPr>
          <a:xfrm>
            <a:off x="7006233" y="1337667"/>
            <a:ext cx="72687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Bucket/Scope Setup</a:t>
            </a:r>
            <a:endParaRPr lang="en-US" sz="568" dirty="0"/>
          </a:p>
        </p:txBody>
      </p:sp>
      <p:sp>
        <p:nvSpPr>
          <p:cNvPr id="68" name="Shape 63"/>
          <p:cNvSpPr/>
          <p:nvPr/>
        </p:nvSpPr>
        <p:spPr>
          <a:xfrm>
            <a:off x="6679406" y="1509117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69" name="Text 64"/>
          <p:cNvSpPr/>
          <p:nvPr/>
        </p:nvSpPr>
        <p:spPr>
          <a:xfrm>
            <a:off x="6765131" y="1473398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Q4 '24:</a:t>
            </a:r>
            <a:endParaRPr lang="en-US" sz="534" dirty="0"/>
          </a:p>
        </p:txBody>
      </p:sp>
      <p:sp>
        <p:nvSpPr>
          <p:cNvPr id="70" name="Text 65"/>
          <p:cNvSpPr/>
          <p:nvPr/>
        </p:nvSpPr>
        <p:spPr>
          <a:xfrm>
            <a:off x="7006233" y="1473398"/>
            <a:ext cx="75902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Migration (TXN)</a:t>
            </a:r>
            <a:endParaRPr lang="en-US" sz="568" dirty="0"/>
          </a:p>
        </p:txBody>
      </p:sp>
      <p:sp>
        <p:nvSpPr>
          <p:cNvPr id="71" name="Shape 66"/>
          <p:cNvSpPr/>
          <p:nvPr/>
        </p:nvSpPr>
        <p:spPr>
          <a:xfrm>
            <a:off x="6679406" y="1644848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72" name="Text 67"/>
          <p:cNvSpPr/>
          <p:nvPr/>
        </p:nvSpPr>
        <p:spPr>
          <a:xfrm>
            <a:off x="6765131" y="1609130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Q1 '25:</a:t>
            </a:r>
            <a:endParaRPr lang="en-US" sz="534" dirty="0"/>
          </a:p>
        </p:txBody>
      </p:sp>
      <p:sp>
        <p:nvSpPr>
          <p:cNvPr id="73" name="Text 68"/>
          <p:cNvSpPr/>
          <p:nvPr/>
        </p:nvSpPr>
        <p:spPr>
          <a:xfrm>
            <a:off x="7006233" y="1609130"/>
            <a:ext cx="55542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 Integration</a:t>
            </a:r>
            <a:endParaRPr lang="en-US" sz="568" dirty="0"/>
          </a:p>
        </p:txBody>
      </p:sp>
      <p:sp>
        <p:nvSpPr>
          <p:cNvPr id="74" name="Shape 69"/>
          <p:cNvSpPr/>
          <p:nvPr/>
        </p:nvSpPr>
        <p:spPr>
          <a:xfrm>
            <a:off x="6679406" y="1780580"/>
            <a:ext cx="35719" cy="35719"/>
          </a:xfrm>
          <a:prstGeom prst="ellipse">
            <a:avLst/>
          </a:prstGeom>
          <a:solidFill>
            <a:srgbClr val="0072C6"/>
          </a:solidFill>
          <a:ln/>
        </p:spPr>
      </p:sp>
      <p:sp>
        <p:nvSpPr>
          <p:cNvPr id="75" name="Text 70"/>
          <p:cNvSpPr/>
          <p:nvPr/>
        </p:nvSpPr>
        <p:spPr>
          <a:xfrm>
            <a:off x="6765131" y="1744861"/>
            <a:ext cx="24110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Q2 '25:</a:t>
            </a:r>
            <a:endParaRPr lang="en-US" sz="534" dirty="0"/>
          </a:p>
        </p:txBody>
      </p:sp>
      <p:sp>
        <p:nvSpPr>
          <p:cNvPr id="76" name="Text 71"/>
          <p:cNvSpPr/>
          <p:nvPr/>
        </p:nvSpPr>
        <p:spPr>
          <a:xfrm>
            <a:off x="7006233" y="1744861"/>
            <a:ext cx="54649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Decommission</a:t>
            </a:r>
            <a:endParaRPr lang="en-US" sz="568" dirty="0"/>
          </a:p>
        </p:txBody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406" y="2032397"/>
            <a:ext cx="75009" cy="100013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6811566" y="2023467"/>
            <a:ext cx="59650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2F5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Assumptions</a:t>
            </a:r>
            <a:endParaRPr lang="en-US" sz="683" dirty="0"/>
          </a:p>
        </p:txBody>
      </p:sp>
      <p:sp>
        <p:nvSpPr>
          <p:cNvPr id="79" name="Text 73"/>
          <p:cNvSpPr/>
          <p:nvPr/>
        </p:nvSpPr>
        <p:spPr>
          <a:xfrm>
            <a:off x="6679406" y="2198489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20% Bandwidth Growth</a:t>
            </a:r>
            <a:endParaRPr lang="en-US" sz="568" dirty="0"/>
          </a:p>
        </p:txBody>
      </p:sp>
      <p:sp>
        <p:nvSpPr>
          <p:cNvPr id="80" name="Text 74"/>
          <p:cNvSpPr/>
          <p:nvPr/>
        </p:nvSpPr>
        <p:spPr>
          <a:xfrm>
            <a:off x="6679406" y="2291358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SDK 3.0+ Upgrade</a:t>
            </a:r>
            <a:endParaRPr lang="en-US" sz="568" dirty="0"/>
          </a:p>
        </p:txBody>
      </p:sp>
      <p:sp>
        <p:nvSpPr>
          <p:cNvPr id="81" name="Text 75"/>
          <p:cNvSpPr/>
          <p:nvPr/>
        </p:nvSpPr>
        <p:spPr>
          <a:xfrm>
            <a:off x="6679406" y="2384227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Security Policies OK</a:t>
            </a:r>
            <a:endParaRPr lang="en-US" sz="568" dirty="0"/>
          </a:p>
        </p:txBody>
      </p:sp>
      <p:sp>
        <p:nvSpPr>
          <p:cNvPr id="82" name="Text 76"/>
          <p:cNvSpPr/>
          <p:nvPr/>
        </p:nvSpPr>
        <p:spPr>
          <a:xfrm>
            <a:off x="6679406" y="2477095"/>
            <a:ext cx="192881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44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No Schema Changes</a:t>
            </a:r>
            <a:endParaRPr lang="en-US" sz="56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2026-03-05T02:44:46Z</dcterms:created>
  <dcterms:modified xsi:type="dcterms:W3CDTF">2026-03-05T02:44:46Z</dcterms:modified>
</cp:coreProperties>
</file>